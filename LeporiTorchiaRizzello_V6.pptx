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24"/>
  </p:notesMasterIdLst>
  <p:sldIdLst>
    <p:sldId id="256" r:id="rId2"/>
    <p:sldId id="257" r:id="rId3"/>
    <p:sldId id="269" r:id="rId4"/>
    <p:sldId id="270" r:id="rId5"/>
    <p:sldId id="271" r:id="rId6"/>
    <p:sldId id="272" r:id="rId7"/>
    <p:sldId id="273" r:id="rId8"/>
    <p:sldId id="274" r:id="rId9"/>
    <p:sldId id="275" r:id="rId10"/>
    <p:sldId id="276" r:id="rId11"/>
    <p:sldId id="277" r:id="rId12"/>
    <p:sldId id="278" r:id="rId13"/>
    <p:sldId id="279" r:id="rId14"/>
    <p:sldId id="288" r:id="rId15"/>
    <p:sldId id="289" r:id="rId16"/>
    <p:sldId id="290" r:id="rId17"/>
    <p:sldId id="291" r:id="rId18"/>
    <p:sldId id="293" r:id="rId19"/>
    <p:sldId id="292" r:id="rId20"/>
    <p:sldId id="294" r:id="rId21"/>
    <p:sldId id="295" r:id="rId22"/>
    <p:sldId id="265" r:id="rId2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15:guide id="1" orient="horz" pos="1620">
          <p15:clr>
            <a:srgbClr val="747775"/>
          </p15:clr>
        </p15:guide>
        <p15:guide id="2" pos="2880">
          <p15:clr>
            <a:srgbClr val="747775"/>
          </p15:clr>
        </p15:guide>
      </p15:sldGuideLst>
    </p:ext>
    <p:ext uri="{2D200454-40CA-4A62-9FC3-DE9A4176ACB9}">
      <p15:notesGuideLst xmlns=""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Stile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Stile medio 2 - Colore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Stile medio 2 - Colore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Stile medio 2 - Colore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essuno stile, griglia tabel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598" autoAdjust="0"/>
    <p:restoredTop sz="99755" autoAdjust="0"/>
  </p:normalViewPr>
  <p:slideViewPr>
    <p:cSldViewPr snapToGrid="0">
      <p:cViewPr>
        <p:scale>
          <a:sx n="126" d="100"/>
          <a:sy n="126" d="100"/>
        </p:scale>
        <p:origin x="-298" y="211"/>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5" d="100"/>
          <a:sy n="65" d="100"/>
        </p:scale>
        <p:origin x="-850" y="-7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ssio Micheli" userId="c2525567-75f5-4635-9ccb-4cd94f466d64" providerId="ADAL" clId="{2B721E03-BF13-4CCE-84D7-C45D01601F22}"/>
    <pc:docChg chg="custSel modSld">
      <pc:chgData name="Alessio Micheli" userId="c2525567-75f5-4635-9ccb-4cd94f466d64" providerId="ADAL" clId="{2B721E03-BF13-4CCE-84D7-C45D01601F22}" dt="2024-11-08T17:43:45.814" v="255" actId="20577"/>
      <pc:docMkLst>
        <pc:docMk/>
      </pc:docMkLst>
      <pc:sldChg chg="modSp mod">
        <pc:chgData name="Alessio Micheli" userId="c2525567-75f5-4635-9ccb-4cd94f466d64" providerId="ADAL" clId="{2B721E03-BF13-4CCE-84D7-C45D01601F22}" dt="2024-11-08T11:52:20.642" v="0" actId="20577"/>
        <pc:sldMkLst>
          <pc:docMk/>
          <pc:sldMk cId="0" sldId="256"/>
        </pc:sldMkLst>
        <pc:spChg chg="mod">
          <ac:chgData name="Alessio Micheli" userId="c2525567-75f5-4635-9ccb-4cd94f466d64" providerId="ADAL" clId="{2B721E03-BF13-4CCE-84D7-C45D01601F22}" dt="2024-11-08T11:52:20.642" v="0" actId="20577"/>
          <ac:spMkLst>
            <pc:docMk/>
            <pc:sldMk cId="0" sldId="256"/>
            <ac:spMk id="54" creationId="{00000000-0000-0000-0000-000000000000}"/>
          </ac:spMkLst>
        </pc:spChg>
      </pc:sldChg>
      <pc:sldChg chg="modSp mod">
        <pc:chgData name="Alessio Micheli" userId="c2525567-75f5-4635-9ccb-4cd94f466d64" providerId="ADAL" clId="{2B721E03-BF13-4CCE-84D7-C45D01601F22}" dt="2024-11-08T11:52:51.758" v="12" actId="313"/>
        <pc:sldMkLst>
          <pc:docMk/>
          <pc:sldMk cId="0" sldId="257"/>
        </pc:sldMkLst>
        <pc:spChg chg="mod">
          <ac:chgData name="Alessio Micheli" userId="c2525567-75f5-4635-9ccb-4cd94f466d64" providerId="ADAL" clId="{2B721E03-BF13-4CCE-84D7-C45D01601F22}" dt="2024-11-08T11:52:51.758" v="12" actId="313"/>
          <ac:spMkLst>
            <pc:docMk/>
            <pc:sldMk cId="0" sldId="257"/>
            <ac:spMk id="62" creationId="{00000000-0000-0000-0000-000000000000}"/>
          </ac:spMkLst>
        </pc:spChg>
      </pc:sldChg>
      <pc:sldChg chg="modSp mod">
        <pc:chgData name="Alessio Micheli" userId="c2525567-75f5-4635-9ccb-4cd94f466d64" providerId="ADAL" clId="{2B721E03-BF13-4CCE-84D7-C45D01601F22}" dt="2024-11-08T11:52:46.893" v="6" actId="313"/>
        <pc:sldMkLst>
          <pc:docMk/>
          <pc:sldMk cId="0" sldId="258"/>
        </pc:sldMkLst>
        <pc:spChg chg="mod">
          <ac:chgData name="Alessio Micheli" userId="c2525567-75f5-4635-9ccb-4cd94f466d64" providerId="ADAL" clId="{2B721E03-BF13-4CCE-84D7-C45D01601F22}" dt="2024-11-08T11:52:46.893" v="6" actId="313"/>
          <ac:spMkLst>
            <pc:docMk/>
            <pc:sldMk cId="0" sldId="258"/>
            <ac:spMk id="69" creationId="{00000000-0000-0000-0000-000000000000}"/>
          </ac:spMkLst>
        </pc:spChg>
      </pc:sldChg>
      <pc:sldChg chg="modSp mod">
        <pc:chgData name="Alessio Micheli" userId="c2525567-75f5-4635-9ccb-4cd94f466d64" providerId="ADAL" clId="{2B721E03-BF13-4CCE-84D7-C45D01601F22}" dt="2024-11-08T11:54:25.301" v="95" actId="20577"/>
        <pc:sldMkLst>
          <pc:docMk/>
          <pc:sldMk cId="0" sldId="259"/>
        </pc:sldMkLst>
        <pc:spChg chg="mod">
          <ac:chgData name="Alessio Micheli" userId="c2525567-75f5-4635-9ccb-4cd94f466d64" providerId="ADAL" clId="{2B721E03-BF13-4CCE-84D7-C45D01601F22}" dt="2024-11-08T11:54:25.301" v="95" actId="20577"/>
          <ac:spMkLst>
            <pc:docMk/>
            <pc:sldMk cId="0" sldId="259"/>
            <ac:spMk id="79" creationId="{00000000-0000-0000-0000-000000000000}"/>
          </ac:spMkLst>
        </pc:spChg>
      </pc:sldChg>
      <pc:sldChg chg="modSp mod">
        <pc:chgData name="Alessio Micheli" userId="c2525567-75f5-4635-9ccb-4cd94f466d64" providerId="ADAL" clId="{2B721E03-BF13-4CCE-84D7-C45D01601F22}" dt="2024-11-08T11:52:48.015" v="7" actId="313"/>
        <pc:sldMkLst>
          <pc:docMk/>
          <pc:sldMk cId="0" sldId="262"/>
        </pc:sldMkLst>
        <pc:spChg chg="mod">
          <ac:chgData name="Alessio Micheli" userId="c2525567-75f5-4635-9ccb-4cd94f466d64" providerId="ADAL" clId="{2B721E03-BF13-4CCE-84D7-C45D01601F22}" dt="2024-11-08T11:52:48.015" v="7" actId="313"/>
          <ac:spMkLst>
            <pc:docMk/>
            <pc:sldMk cId="0" sldId="262"/>
            <ac:spMk id="102" creationId="{00000000-0000-0000-0000-000000000000}"/>
          </ac:spMkLst>
        </pc:spChg>
      </pc:sldChg>
      <pc:sldChg chg="modSp mod">
        <pc:chgData name="Alessio Micheli" userId="c2525567-75f5-4635-9ccb-4cd94f466d64" providerId="ADAL" clId="{2B721E03-BF13-4CCE-84D7-C45D01601F22}" dt="2024-11-08T11:52:49.509" v="9" actId="313"/>
        <pc:sldMkLst>
          <pc:docMk/>
          <pc:sldMk cId="0" sldId="263"/>
        </pc:sldMkLst>
        <pc:spChg chg="mod">
          <ac:chgData name="Alessio Micheli" userId="c2525567-75f5-4635-9ccb-4cd94f466d64" providerId="ADAL" clId="{2B721E03-BF13-4CCE-84D7-C45D01601F22}" dt="2024-11-08T11:52:49.509" v="9" actId="313"/>
          <ac:spMkLst>
            <pc:docMk/>
            <pc:sldMk cId="0" sldId="263"/>
            <ac:spMk id="110" creationId="{00000000-0000-0000-0000-000000000000}"/>
          </ac:spMkLst>
        </pc:spChg>
      </pc:sldChg>
      <pc:sldChg chg="modSp mod">
        <pc:chgData name="Alessio Micheli" userId="c2525567-75f5-4635-9ccb-4cd94f466d64" providerId="ADAL" clId="{2B721E03-BF13-4CCE-84D7-C45D01601F22}" dt="2024-11-08T11:55:13.112" v="99" actId="113"/>
        <pc:sldMkLst>
          <pc:docMk/>
          <pc:sldMk cId="0" sldId="264"/>
        </pc:sldMkLst>
        <pc:spChg chg="mod">
          <ac:chgData name="Alessio Micheli" userId="c2525567-75f5-4635-9ccb-4cd94f466d64" providerId="ADAL" clId="{2B721E03-BF13-4CCE-84D7-C45D01601F22}" dt="2024-11-08T11:55:13.112" v="99" actId="113"/>
          <ac:spMkLst>
            <pc:docMk/>
            <pc:sldMk cId="0" sldId="264"/>
            <ac:spMk id="117" creationId="{00000000-0000-0000-0000-000000000000}"/>
          </ac:spMkLst>
        </pc:spChg>
      </pc:sldChg>
      <pc:sldChg chg="modSp mod">
        <pc:chgData name="Alessio Micheli" userId="c2525567-75f5-4635-9ccb-4cd94f466d64" providerId="ADAL" clId="{2B721E03-BF13-4CCE-84D7-C45D01601F22}" dt="2024-11-08T17:43:45.814" v="255" actId="20577"/>
        <pc:sldMkLst>
          <pc:docMk/>
          <pc:sldMk cId="0" sldId="265"/>
        </pc:sldMkLst>
        <pc:spChg chg="mod">
          <ac:chgData name="Alessio Micheli" userId="c2525567-75f5-4635-9ccb-4cd94f466d64" providerId="ADAL" clId="{2B721E03-BF13-4CCE-84D7-C45D01601F22}" dt="2024-11-08T17:43:45.814" v="255" actId="20577"/>
          <ac:spMkLst>
            <pc:docMk/>
            <pc:sldMk cId="0" sldId="265"/>
            <ac:spMk id="124" creationId="{00000000-0000-0000-0000-000000000000}"/>
          </ac:spMkLst>
        </pc:spChg>
      </pc:sldChg>
      <pc:sldChg chg="modSp mod">
        <pc:chgData name="Alessio Micheli" userId="c2525567-75f5-4635-9ccb-4cd94f466d64" providerId="ADAL" clId="{2B721E03-BF13-4CCE-84D7-C45D01601F22}" dt="2024-11-08T11:52:50.982" v="11" actId="313"/>
        <pc:sldMkLst>
          <pc:docMk/>
          <pc:sldMk cId="0" sldId="267"/>
        </pc:sldMkLst>
        <pc:spChg chg="mod">
          <ac:chgData name="Alessio Micheli" userId="c2525567-75f5-4635-9ccb-4cd94f466d64" providerId="ADAL" clId="{2B721E03-BF13-4CCE-84D7-C45D01601F22}" dt="2024-11-08T11:52:50.982" v="11" actId="313"/>
          <ac:spMkLst>
            <pc:docMk/>
            <pc:sldMk cId="0" sldId="267"/>
            <ac:spMk id="138" creationId="{00000000-0000-0000-0000-000000000000}"/>
          </ac:spMkLst>
        </pc:spChg>
      </pc:sldChg>
    </pc:docChg>
  </pc:docChgLst>
  <pc:docChgLst>
    <pc:chgData name="Alessio Micheli" userId="c2525567-75f5-4635-9ccb-4cd94f466d64" providerId="ADAL" clId="{EB6A6B40-1158-4446-B684-09649B9826EC}"/>
    <pc:docChg chg="modSld">
      <pc:chgData name="Alessio Micheli" userId="c2525567-75f5-4635-9ccb-4cd94f466d64" providerId="ADAL" clId="{EB6A6B40-1158-4446-B684-09649B9826EC}" dt="2023-11-21T11:00:23.039" v="100" actId="108"/>
      <pc:docMkLst>
        <pc:docMk/>
      </pc:docMkLst>
      <pc:sldChg chg="modSp mod">
        <pc:chgData name="Alessio Micheli" userId="c2525567-75f5-4635-9ccb-4cd94f466d64" providerId="ADAL" clId="{EB6A6B40-1158-4446-B684-09649B9826EC}" dt="2023-11-21T10:56:05.878" v="98" actId="20577"/>
        <pc:sldMkLst>
          <pc:docMk/>
          <pc:sldMk cId="0" sldId="258"/>
        </pc:sldMkLst>
        <pc:spChg chg="mod">
          <ac:chgData name="Alessio Micheli" userId="c2525567-75f5-4635-9ccb-4cd94f466d64" providerId="ADAL" clId="{EB6A6B40-1158-4446-B684-09649B9826EC}" dt="2023-11-21T10:56:05.878" v="98" actId="20577"/>
          <ac:spMkLst>
            <pc:docMk/>
            <pc:sldMk cId="0" sldId="258"/>
            <ac:spMk id="71" creationId="{00000000-0000-0000-0000-000000000000}"/>
          </ac:spMkLst>
        </pc:spChg>
      </pc:sldChg>
      <pc:sldChg chg="modSp mod">
        <pc:chgData name="Alessio Micheli" userId="c2525567-75f5-4635-9ccb-4cd94f466d64" providerId="ADAL" clId="{EB6A6B40-1158-4446-B684-09649B9826EC}" dt="2023-11-21T11:00:23.039" v="100" actId="108"/>
        <pc:sldMkLst>
          <pc:docMk/>
          <pc:sldMk cId="0" sldId="265"/>
        </pc:sldMkLst>
        <pc:spChg chg="mod">
          <ac:chgData name="Alessio Micheli" userId="c2525567-75f5-4635-9ccb-4cd94f466d64" providerId="ADAL" clId="{EB6A6B40-1158-4446-B684-09649B9826EC}" dt="2023-11-21T11:00:23.039" v="100" actId="108"/>
          <ac:spMkLst>
            <pc:docMk/>
            <pc:sldMk cId="0" sldId="265"/>
            <ac:spMk id="12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07957509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2949f74cc9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2949f74cc9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814209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2949f74cd67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2949f74cd67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2949f74cd67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2949f74cd67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2949f74cd67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2949f74cd67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2949f74cd67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2949f74cd67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2949f74cd67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2949f74cd67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590902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295d12ebf7a_2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295d12ebf7a_2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 xmlns:a16="http://schemas.microsoft.com/office/drawing/2014/main" id="{258F85AB-6222-2108-F436-ED235D29ED83}"/>
            </a:ext>
          </a:extLst>
        </p:cNvPr>
        <p:cNvGrpSpPr/>
        <p:nvPr/>
      </p:nvGrpSpPr>
      <p:grpSpPr>
        <a:xfrm>
          <a:off x="0" y="0"/>
          <a:ext cx="0" cy="0"/>
          <a:chOff x="0" y="0"/>
          <a:chExt cx="0" cy="0"/>
        </a:xfrm>
      </p:grpSpPr>
      <p:sp>
        <p:nvSpPr>
          <p:cNvPr id="106" name="Google Shape;106;g295d12ebf7a_2_3:notes">
            <a:extLst>
              <a:ext uri="{FF2B5EF4-FFF2-40B4-BE49-F238E27FC236}">
                <a16:creationId xmlns="" xmlns:a16="http://schemas.microsoft.com/office/drawing/2014/main" id="{055D2562-2F59-C649-E97B-168E09A95F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295d12ebf7a_2_3:notes">
            <a:extLst>
              <a:ext uri="{FF2B5EF4-FFF2-40B4-BE49-F238E27FC236}">
                <a16:creationId xmlns="" xmlns:a16="http://schemas.microsoft.com/office/drawing/2014/main" id="{BA232DD8-9771-2FC7-955B-B3528C8014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61270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 xmlns:a16="http://schemas.microsoft.com/office/drawing/2014/main" id="{1C2E20D6-F971-617E-D19F-946168ABFF9A}"/>
            </a:ext>
          </a:extLst>
        </p:cNvPr>
        <p:cNvGrpSpPr/>
        <p:nvPr/>
      </p:nvGrpSpPr>
      <p:grpSpPr>
        <a:xfrm>
          <a:off x="0" y="0"/>
          <a:ext cx="0" cy="0"/>
          <a:chOff x="0" y="0"/>
          <a:chExt cx="0" cy="0"/>
        </a:xfrm>
      </p:grpSpPr>
      <p:sp>
        <p:nvSpPr>
          <p:cNvPr id="106" name="Google Shape;106;g295d12ebf7a_2_3:notes">
            <a:extLst>
              <a:ext uri="{FF2B5EF4-FFF2-40B4-BE49-F238E27FC236}">
                <a16:creationId xmlns="" xmlns:a16="http://schemas.microsoft.com/office/drawing/2014/main" id="{29F93575-BD8A-1AAD-32E9-0C9E5CBED3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295d12ebf7a_2_3:notes">
            <a:extLst>
              <a:ext uri="{FF2B5EF4-FFF2-40B4-BE49-F238E27FC236}">
                <a16:creationId xmlns="" xmlns:a16="http://schemas.microsoft.com/office/drawing/2014/main" id="{B65B6663-C2EA-B865-3DC7-C235A6A2A45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2781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 xmlns:a16="http://schemas.microsoft.com/office/drawing/2014/main" id="{4AF35A90-DD21-33E4-4CAF-0CF0F4404DF1}"/>
            </a:ext>
          </a:extLst>
        </p:cNvPr>
        <p:cNvGrpSpPr/>
        <p:nvPr/>
      </p:nvGrpSpPr>
      <p:grpSpPr>
        <a:xfrm>
          <a:off x="0" y="0"/>
          <a:ext cx="0" cy="0"/>
          <a:chOff x="0" y="0"/>
          <a:chExt cx="0" cy="0"/>
        </a:xfrm>
      </p:grpSpPr>
      <p:sp>
        <p:nvSpPr>
          <p:cNvPr id="106" name="Google Shape;106;g295d12ebf7a_2_3:notes">
            <a:extLst>
              <a:ext uri="{FF2B5EF4-FFF2-40B4-BE49-F238E27FC236}">
                <a16:creationId xmlns="" xmlns:a16="http://schemas.microsoft.com/office/drawing/2014/main" id="{90C5A3C0-8F95-291A-451D-9C61FB271E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295d12ebf7a_2_3:notes">
            <a:extLst>
              <a:ext uri="{FF2B5EF4-FFF2-40B4-BE49-F238E27FC236}">
                <a16:creationId xmlns="" xmlns:a16="http://schemas.microsoft.com/office/drawing/2014/main" id="{D205389D-9D67-B55E-7909-CA659EA0756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190506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 xmlns:a16="http://schemas.microsoft.com/office/drawing/2014/main" id="{BF326F43-E649-4A89-4A41-911B6B098323}"/>
            </a:ext>
          </a:extLst>
        </p:cNvPr>
        <p:cNvGrpSpPr/>
        <p:nvPr/>
      </p:nvGrpSpPr>
      <p:grpSpPr>
        <a:xfrm>
          <a:off x="0" y="0"/>
          <a:ext cx="0" cy="0"/>
          <a:chOff x="0" y="0"/>
          <a:chExt cx="0" cy="0"/>
        </a:xfrm>
      </p:grpSpPr>
      <p:sp>
        <p:nvSpPr>
          <p:cNvPr id="106" name="Google Shape;106;g295d12ebf7a_2_3:notes">
            <a:extLst>
              <a:ext uri="{FF2B5EF4-FFF2-40B4-BE49-F238E27FC236}">
                <a16:creationId xmlns="" xmlns:a16="http://schemas.microsoft.com/office/drawing/2014/main" id="{7433F3B2-CB20-08FA-604E-334CE9A9E1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295d12ebf7a_2_3:notes">
            <a:extLst>
              <a:ext uri="{FF2B5EF4-FFF2-40B4-BE49-F238E27FC236}">
                <a16:creationId xmlns="" xmlns:a16="http://schemas.microsoft.com/office/drawing/2014/main" id="{5F395F6F-9390-C667-B872-DCA2576FD4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82620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 xmlns:a16="http://schemas.microsoft.com/office/drawing/2014/main" id="{1F2F1FB5-FA45-E27E-6C38-1CF12C8B3C8A}"/>
            </a:ext>
          </a:extLst>
        </p:cNvPr>
        <p:cNvGrpSpPr/>
        <p:nvPr/>
      </p:nvGrpSpPr>
      <p:grpSpPr>
        <a:xfrm>
          <a:off x="0" y="0"/>
          <a:ext cx="0" cy="0"/>
          <a:chOff x="0" y="0"/>
          <a:chExt cx="0" cy="0"/>
        </a:xfrm>
      </p:grpSpPr>
      <p:sp>
        <p:nvSpPr>
          <p:cNvPr id="106" name="Google Shape;106;g295d12ebf7a_2_3:notes">
            <a:extLst>
              <a:ext uri="{FF2B5EF4-FFF2-40B4-BE49-F238E27FC236}">
                <a16:creationId xmlns="" xmlns:a16="http://schemas.microsoft.com/office/drawing/2014/main" id="{E2379DAE-2708-6375-7C7F-9AF0AE7D93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295d12ebf7a_2_3:notes">
            <a:extLst>
              <a:ext uri="{FF2B5EF4-FFF2-40B4-BE49-F238E27FC236}">
                <a16:creationId xmlns="" xmlns:a16="http://schemas.microsoft.com/office/drawing/2014/main" id="{25B5D465-7EC9-49F9-DBCF-3DB3CBD0B42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116370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 xmlns:a16="http://schemas.microsoft.com/office/drawing/2014/main" id="{91ED4BC3-4C38-06E6-63AA-EFD5BB6A3AC2}"/>
            </a:ext>
          </a:extLst>
        </p:cNvPr>
        <p:cNvGrpSpPr/>
        <p:nvPr/>
      </p:nvGrpSpPr>
      <p:grpSpPr>
        <a:xfrm>
          <a:off x="0" y="0"/>
          <a:ext cx="0" cy="0"/>
          <a:chOff x="0" y="0"/>
          <a:chExt cx="0" cy="0"/>
        </a:xfrm>
      </p:grpSpPr>
      <p:sp>
        <p:nvSpPr>
          <p:cNvPr id="106" name="Google Shape;106;g295d12ebf7a_2_3:notes">
            <a:extLst>
              <a:ext uri="{FF2B5EF4-FFF2-40B4-BE49-F238E27FC236}">
                <a16:creationId xmlns="" xmlns:a16="http://schemas.microsoft.com/office/drawing/2014/main" id="{BC5EC31E-5164-2A70-7195-C72490B4E0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295d12ebf7a_2_3:notes">
            <a:extLst>
              <a:ext uri="{FF2B5EF4-FFF2-40B4-BE49-F238E27FC236}">
                <a16:creationId xmlns="" xmlns:a16="http://schemas.microsoft.com/office/drawing/2014/main" id="{91D81FB4-65C1-F91E-BC7A-C1158B2E303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11524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 xmlns:a16="http://schemas.microsoft.com/office/drawing/2014/main" id="{42DA335B-4F5F-9F7A-5799-5F100D5F9517}"/>
            </a:ext>
          </a:extLst>
        </p:cNvPr>
        <p:cNvGrpSpPr/>
        <p:nvPr/>
      </p:nvGrpSpPr>
      <p:grpSpPr>
        <a:xfrm>
          <a:off x="0" y="0"/>
          <a:ext cx="0" cy="0"/>
          <a:chOff x="0" y="0"/>
          <a:chExt cx="0" cy="0"/>
        </a:xfrm>
      </p:grpSpPr>
      <p:sp>
        <p:nvSpPr>
          <p:cNvPr id="106" name="Google Shape;106;g295d12ebf7a_2_3:notes">
            <a:extLst>
              <a:ext uri="{FF2B5EF4-FFF2-40B4-BE49-F238E27FC236}">
                <a16:creationId xmlns="" xmlns:a16="http://schemas.microsoft.com/office/drawing/2014/main" id="{7FD83A74-DFC8-12A3-5B9C-81F918615D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295d12ebf7a_2_3:notes">
            <a:extLst>
              <a:ext uri="{FF2B5EF4-FFF2-40B4-BE49-F238E27FC236}">
                <a16:creationId xmlns="" xmlns:a16="http://schemas.microsoft.com/office/drawing/2014/main" id="{83550A69-9718-C714-0814-56CD53CDC4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192983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949f74cc9a_0_1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949f74cc9a_0_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it"/>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lepori1@studenti.unipi.it"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hyperlink" Target="mailto:d.rizzello@studenti.unipi.it" TargetMode="External"/><Relationship Id="rId4" Type="http://schemas.openxmlformats.org/officeDocument/2006/relationships/hyperlink" Target="mailto:m.torchia1@studenti.unipi.it"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0" y="428525"/>
            <a:ext cx="8520600" cy="831173"/>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it" b="1" dirty="0"/>
              <a:t>ML 2024 Project </a:t>
            </a:r>
            <a:endParaRPr b="1" dirty="0"/>
          </a:p>
          <a:p>
            <a:pPr marL="0" lvl="0" indent="0" algn="ctr" rtl="0">
              <a:spcBef>
                <a:spcPts val="0"/>
              </a:spcBef>
              <a:spcAft>
                <a:spcPts val="0"/>
              </a:spcAft>
              <a:buNone/>
            </a:pPr>
            <a:r>
              <a:rPr lang="it" dirty="0"/>
              <a:t> </a:t>
            </a:r>
            <a:endParaRPr dirty="0"/>
          </a:p>
        </p:txBody>
      </p:sp>
      <p:sp>
        <p:nvSpPr>
          <p:cNvPr id="55" name="Google Shape;55;p13"/>
          <p:cNvSpPr txBox="1">
            <a:spLocks noGrp="1"/>
          </p:cNvSpPr>
          <p:nvPr>
            <p:ph type="subTitle" idx="1"/>
          </p:nvPr>
        </p:nvSpPr>
        <p:spPr>
          <a:xfrm>
            <a:off x="294143" y="1816011"/>
            <a:ext cx="8555251" cy="1691754"/>
          </a:xfrm>
          <a:prstGeom prst="rect">
            <a:avLst/>
          </a:prstGeom>
        </p:spPr>
        <p:txBody>
          <a:bodyPr spcFirstLastPara="1" wrap="square" lIns="91425" tIns="91425" rIns="91425" bIns="91425" anchor="t" anchorCtr="0">
            <a:noAutofit/>
          </a:bodyPr>
          <a:lstStyle/>
          <a:p>
            <a:pPr marL="0" lvl="0" indent="0">
              <a:lnSpc>
                <a:spcPct val="80000"/>
              </a:lnSpc>
              <a:buSzPts val="440"/>
            </a:pPr>
            <a:r>
              <a:rPr lang="it" sz="1520" b="1" dirty="0">
                <a:solidFill>
                  <a:schemeClr val="dk1"/>
                </a:solidFill>
              </a:rPr>
              <a:t>Authors:</a:t>
            </a:r>
            <a:r>
              <a:rPr lang="it" sz="1520" dirty="0">
                <a:solidFill>
                  <a:schemeClr val="dk1"/>
                </a:solidFill>
              </a:rPr>
              <a:t> </a:t>
            </a:r>
            <a:r>
              <a:rPr lang="it" sz="1520" b="1" dirty="0">
                <a:solidFill>
                  <a:schemeClr val="dk1"/>
                </a:solidFill>
              </a:rPr>
              <a:t>Andrea Lepori</a:t>
            </a:r>
            <a:r>
              <a:rPr lang="it" sz="1520" baseline="30000" dirty="0">
                <a:solidFill>
                  <a:schemeClr val="dk1"/>
                </a:solidFill>
              </a:rPr>
              <a:t>(*)</a:t>
            </a:r>
            <a:r>
              <a:rPr lang="it" sz="1520" dirty="0">
                <a:solidFill>
                  <a:schemeClr val="dk1"/>
                </a:solidFill>
              </a:rPr>
              <a:t>, </a:t>
            </a:r>
            <a:r>
              <a:rPr lang="it" sz="1520" b="1" dirty="0">
                <a:solidFill>
                  <a:schemeClr val="dk1"/>
                </a:solidFill>
              </a:rPr>
              <a:t>Matteo Torchia</a:t>
            </a:r>
            <a:r>
              <a:rPr lang="it" sz="1520" baseline="30000" dirty="0">
                <a:solidFill>
                  <a:schemeClr val="dk1"/>
                </a:solidFill>
              </a:rPr>
              <a:t>(*)</a:t>
            </a:r>
            <a:r>
              <a:rPr lang="it" sz="1520" dirty="0">
                <a:solidFill>
                  <a:schemeClr val="dk1"/>
                </a:solidFill>
              </a:rPr>
              <a:t>, </a:t>
            </a:r>
            <a:r>
              <a:rPr lang="it" sz="1520" b="1" dirty="0">
                <a:solidFill>
                  <a:schemeClr val="dk1"/>
                </a:solidFill>
              </a:rPr>
              <a:t>Davide Rizzello</a:t>
            </a:r>
            <a:r>
              <a:rPr lang="it" sz="1520" baseline="30000" dirty="0">
                <a:solidFill>
                  <a:schemeClr val="dk1"/>
                </a:solidFill>
              </a:rPr>
              <a:t>(**)</a:t>
            </a:r>
          </a:p>
          <a:p>
            <a:pPr marL="0" lvl="0" indent="0">
              <a:lnSpc>
                <a:spcPct val="80000"/>
              </a:lnSpc>
              <a:buSzPts val="440"/>
            </a:pPr>
            <a:r>
              <a:rPr lang="it" sz="1520" b="1" dirty="0">
                <a:solidFill>
                  <a:schemeClr val="dk1"/>
                </a:solidFill>
              </a:rPr>
              <a:t>LTR Team</a:t>
            </a:r>
            <a:r>
              <a:rPr lang="it" sz="1520" dirty="0">
                <a:solidFill>
                  <a:schemeClr val="dk1"/>
                </a:solidFill>
              </a:rPr>
              <a:t/>
            </a:r>
            <a:br>
              <a:rPr lang="it" sz="1520" dirty="0">
                <a:solidFill>
                  <a:schemeClr val="dk1"/>
                </a:solidFill>
              </a:rPr>
            </a:br>
            <a:r>
              <a:rPr lang="it" sz="1520" baseline="30000" dirty="0">
                <a:solidFill>
                  <a:schemeClr val="dk1"/>
                </a:solidFill>
              </a:rPr>
              <a:t>(*)</a:t>
            </a:r>
            <a:r>
              <a:rPr lang="it" sz="1520" dirty="0">
                <a:solidFill>
                  <a:schemeClr val="dk1"/>
                </a:solidFill>
              </a:rPr>
              <a:t> </a:t>
            </a:r>
            <a:r>
              <a:rPr lang="it" sz="1520" b="1" dirty="0">
                <a:solidFill>
                  <a:schemeClr val="dk1"/>
                </a:solidFill>
              </a:rPr>
              <a:t>Master degree in Computer Science (curriculum AI) </a:t>
            </a:r>
          </a:p>
          <a:p>
            <a:pPr marL="0" lvl="0" indent="0">
              <a:lnSpc>
                <a:spcPct val="80000"/>
              </a:lnSpc>
              <a:buSzPts val="440"/>
            </a:pPr>
            <a:r>
              <a:rPr lang="it" sz="1520" baseline="30000" dirty="0">
                <a:solidFill>
                  <a:schemeClr val="dk1"/>
                </a:solidFill>
              </a:rPr>
              <a:t>(**) </a:t>
            </a:r>
            <a:r>
              <a:rPr lang="it" sz="1520" b="1" dirty="0">
                <a:solidFill>
                  <a:schemeClr val="dk1"/>
                </a:solidFill>
              </a:rPr>
              <a:t>Master degree in Data Science and Business Informatics</a:t>
            </a:r>
          </a:p>
          <a:p>
            <a:pPr marL="0" marR="0" lvl="0" indent="0" algn="ctr" rtl="0">
              <a:lnSpc>
                <a:spcPct val="80000"/>
              </a:lnSpc>
              <a:spcBef>
                <a:spcPts val="0"/>
              </a:spcBef>
              <a:spcAft>
                <a:spcPts val="0"/>
              </a:spcAft>
              <a:buSzPts val="440"/>
              <a:buNone/>
            </a:pPr>
            <a:r>
              <a:rPr lang="it" sz="1520" b="1" dirty="0">
                <a:solidFill>
                  <a:schemeClr val="dk1"/>
                </a:solidFill>
              </a:rPr>
              <a:t>Emails:</a:t>
            </a:r>
          </a:p>
          <a:p>
            <a:pPr marL="0" marR="0" lvl="0" indent="0" algn="ctr" rtl="0">
              <a:lnSpc>
                <a:spcPct val="80000"/>
              </a:lnSpc>
              <a:spcBef>
                <a:spcPts val="0"/>
              </a:spcBef>
              <a:spcAft>
                <a:spcPts val="0"/>
              </a:spcAft>
              <a:buSzPts val="440"/>
              <a:buNone/>
            </a:pPr>
            <a:r>
              <a:rPr lang="it" sz="1520" b="1" dirty="0">
                <a:solidFill>
                  <a:schemeClr val="tx1"/>
                </a:solidFill>
                <a:hlinkClick r:id="rId3"/>
              </a:rPr>
              <a:t>a.lepori1@studenti.unipi.it</a:t>
            </a:r>
            <a:endParaRPr lang="it" sz="1520" b="1" dirty="0">
              <a:solidFill>
                <a:schemeClr val="tx1"/>
              </a:solidFill>
            </a:endParaRPr>
          </a:p>
          <a:p>
            <a:pPr marL="0" marR="0" lvl="0" indent="0" algn="ctr" rtl="0">
              <a:lnSpc>
                <a:spcPct val="80000"/>
              </a:lnSpc>
              <a:spcBef>
                <a:spcPts val="0"/>
              </a:spcBef>
              <a:spcAft>
                <a:spcPts val="0"/>
              </a:spcAft>
              <a:buSzPts val="440"/>
              <a:buNone/>
            </a:pPr>
            <a:r>
              <a:rPr lang="it" sz="1520" b="1" dirty="0">
                <a:solidFill>
                  <a:schemeClr val="tx1"/>
                </a:solidFill>
                <a:hlinkClick r:id="rId4"/>
              </a:rPr>
              <a:t>m.torchia1@studenti.unipi.it</a:t>
            </a:r>
            <a:endParaRPr lang="it" sz="1520" b="1" dirty="0">
              <a:solidFill>
                <a:schemeClr val="tx1"/>
              </a:solidFill>
            </a:endParaRPr>
          </a:p>
          <a:p>
            <a:pPr marL="0" indent="0">
              <a:lnSpc>
                <a:spcPct val="80000"/>
              </a:lnSpc>
              <a:buSzPts val="440"/>
            </a:pPr>
            <a:r>
              <a:rPr lang="it" sz="1520" b="1" dirty="0">
                <a:solidFill>
                  <a:schemeClr val="tx1"/>
                </a:solidFill>
                <a:hlinkClick r:id="rId5"/>
              </a:rPr>
              <a:t>d.rizzello@studenti.unipi.it</a:t>
            </a:r>
            <a:endParaRPr lang="it" sz="1520" b="1" dirty="0">
              <a:solidFill>
                <a:schemeClr val="tx1"/>
              </a:solidFill>
            </a:endParaRPr>
          </a:p>
          <a:p>
            <a:pPr marL="0" marR="0" lvl="0" indent="0" algn="ctr" rtl="0">
              <a:lnSpc>
                <a:spcPct val="80000"/>
              </a:lnSpc>
              <a:spcBef>
                <a:spcPts val="0"/>
              </a:spcBef>
              <a:spcAft>
                <a:spcPts val="0"/>
              </a:spcAft>
              <a:buSzPts val="440"/>
              <a:buNone/>
            </a:pPr>
            <a:endParaRPr sz="1520" dirty="0">
              <a:solidFill>
                <a:schemeClr val="dk1"/>
              </a:solidFill>
            </a:endParaRPr>
          </a:p>
          <a:p>
            <a:pPr marL="0" lvl="0" indent="0" algn="ctr" rtl="0">
              <a:lnSpc>
                <a:spcPct val="80000"/>
              </a:lnSpc>
              <a:spcBef>
                <a:spcPts val="0"/>
              </a:spcBef>
              <a:spcAft>
                <a:spcPts val="0"/>
              </a:spcAft>
              <a:buSzPts val="440"/>
              <a:buNone/>
            </a:pPr>
            <a:endParaRPr sz="1520" dirty="0">
              <a:solidFill>
                <a:schemeClr val="dk1"/>
              </a:solidFill>
            </a:endParaRPr>
          </a:p>
          <a:p>
            <a:pPr marL="0" marR="0" lvl="0" indent="0" algn="ctr" rtl="0">
              <a:lnSpc>
                <a:spcPct val="80000"/>
              </a:lnSpc>
              <a:spcBef>
                <a:spcPts val="0"/>
              </a:spcBef>
              <a:spcAft>
                <a:spcPts val="0"/>
              </a:spcAft>
              <a:buSzPts val="440"/>
              <a:buNone/>
            </a:pPr>
            <a:r>
              <a:rPr lang="it" sz="1520" b="1" dirty="0">
                <a:solidFill>
                  <a:schemeClr val="dk1"/>
                </a:solidFill>
                <a:latin typeface="Arial" panose="020B0604020202020204" pitchFamily="34" charset="0"/>
                <a:cs typeface="Arial" panose="020B0604020202020204" pitchFamily="34" charset="0"/>
              </a:rPr>
              <a:t>Pisa, 29/01/2025</a:t>
            </a:r>
            <a:endParaRPr sz="1520" b="1" i="1" dirty="0">
              <a:solidFill>
                <a:schemeClr val="dk1"/>
              </a:solidFill>
              <a:latin typeface="Arial" panose="020B0604020202020204" pitchFamily="34" charset="0"/>
              <a:ea typeface="Times New Roman"/>
              <a:cs typeface="Arial" panose="020B0604020202020204" pitchFamily="34" charset="0"/>
              <a:sym typeface="Times New Roman"/>
            </a:endParaRPr>
          </a:p>
          <a:p>
            <a:pPr marL="0" lvl="0" indent="0" algn="ctr" rtl="0">
              <a:lnSpc>
                <a:spcPct val="115000"/>
              </a:lnSpc>
              <a:spcBef>
                <a:spcPts val="1200"/>
              </a:spcBef>
              <a:spcAft>
                <a:spcPts val="0"/>
              </a:spcAft>
              <a:buClr>
                <a:schemeClr val="dk1"/>
              </a:buClr>
              <a:buSzPts val="1100"/>
              <a:buFont typeface="Arial"/>
              <a:buNone/>
            </a:pPr>
            <a:r>
              <a:rPr lang="it" sz="1520" b="1" dirty="0">
                <a:solidFill>
                  <a:schemeClr val="dk1"/>
                </a:solidFill>
                <a:latin typeface="Arial" panose="020B0604020202020204" pitchFamily="34" charset="0"/>
                <a:cs typeface="Arial" panose="020B0604020202020204" pitchFamily="34" charset="0"/>
              </a:rPr>
              <a:t>Type of project: A</a:t>
            </a:r>
            <a:endParaRPr sz="1520" b="1" i="1" dirty="0">
              <a:solidFill>
                <a:schemeClr val="dk1"/>
              </a:solidFill>
              <a:latin typeface="Arial" panose="020B0604020202020204" pitchFamily="34" charset="0"/>
              <a:ea typeface="Times New Roman"/>
              <a:cs typeface="Arial" panose="020B0604020202020204" pitchFamily="34" charset="0"/>
              <a:sym typeface="Times New Roman"/>
            </a:endParaRPr>
          </a:p>
        </p:txBody>
      </p:sp>
      <p:pic>
        <p:nvPicPr>
          <p:cNvPr id="56" name="Google Shape;56;p13"/>
          <p:cNvPicPr preferRelativeResize="0"/>
          <p:nvPr/>
        </p:nvPicPr>
        <p:blipFill>
          <a:blip r:embed="rId6">
            <a:alphaModFix/>
          </a:blip>
          <a:stretch>
            <a:fillRect/>
          </a:stretch>
        </p:blipFill>
        <p:spPr>
          <a:xfrm>
            <a:off x="8157525" y="51773"/>
            <a:ext cx="889425" cy="912225"/>
          </a:xfrm>
          <a:prstGeom prst="rect">
            <a:avLst/>
          </a:prstGeom>
          <a:noFill/>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r>
              <a:rPr lang="it-IT" b="1" dirty="0" err="1">
                <a:effectLst/>
                <a:latin typeface="Arial" panose="020B0604020202020204" pitchFamily="34" charset="0"/>
                <a:cs typeface="Arial" panose="020B0604020202020204" pitchFamily="34" charset="0"/>
              </a:rPr>
              <a:t>Introduction</a:t>
            </a:r>
            <a:r>
              <a:rPr lang="it-IT" b="1" dirty="0">
                <a:effectLst/>
                <a:latin typeface="Arial" panose="020B0604020202020204" pitchFamily="34" charset="0"/>
                <a:cs typeface="Arial" panose="020B0604020202020204" pitchFamily="34" charset="0"/>
              </a:rPr>
              <a:t> and </a:t>
            </a:r>
            <a:r>
              <a:rPr lang="it-IT" b="1" dirty="0" err="1">
                <a:effectLst/>
                <a:latin typeface="Arial" panose="020B0604020202020204" pitchFamily="34" charset="0"/>
                <a:cs typeface="Arial" panose="020B0604020202020204" pitchFamily="34" charset="0"/>
              </a:rPr>
              <a:t>objectives</a:t>
            </a:r>
            <a:endParaRPr lang="it-IT" b="1" dirty="0">
              <a:effectLst/>
              <a:latin typeface="Arial" panose="020B0604020202020204" pitchFamily="34" charset="0"/>
              <a:cs typeface="Arial" panose="020B0604020202020204" pitchFamily="34" charset="0"/>
            </a:endParaRPr>
          </a:p>
        </p:txBody>
      </p:sp>
      <p:sp>
        <p:nvSpPr>
          <p:cNvPr id="63" name="Google Shape;63;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2</a:t>
            </a:fld>
            <a:endParaRPr/>
          </a:p>
        </p:txBody>
      </p:sp>
      <p:sp>
        <p:nvSpPr>
          <p:cNvPr id="3" name="Segnaposto testo 2">
            <a:extLst>
              <a:ext uri="{FF2B5EF4-FFF2-40B4-BE49-F238E27FC236}">
                <a16:creationId xmlns="" xmlns:a16="http://schemas.microsoft.com/office/drawing/2014/main" id="{7216F010-B47A-AC03-3C40-9695A45F5049}"/>
              </a:ext>
            </a:extLst>
          </p:cNvPr>
          <p:cNvSpPr>
            <a:spLocks noGrp="1"/>
          </p:cNvSpPr>
          <p:nvPr>
            <p:ph type="body" idx="1"/>
          </p:nvPr>
        </p:nvSpPr>
        <p:spPr>
          <a:xfrm>
            <a:off x="137160" y="1135380"/>
            <a:ext cx="8689039" cy="1729739"/>
          </a:xfrm>
        </p:spPr>
        <p:txBody>
          <a:bodyPr>
            <a:normAutofit fontScale="70000" lnSpcReduction="20000"/>
          </a:bodyPr>
          <a:lstStyle/>
          <a:p>
            <a:pPr marL="114300" indent="0" algn="ctr">
              <a:buNone/>
            </a:pPr>
            <a:r>
              <a:rPr lang="it-IT" sz="2600" b="1" dirty="0" err="1">
                <a:solidFill>
                  <a:schemeClr val="tx1"/>
                </a:solidFill>
                <a:latin typeface="Arial" panose="020B0604020202020204" pitchFamily="34" charset="0"/>
                <a:cs typeface="Arial" panose="020B0604020202020204" pitchFamily="34" charset="0"/>
              </a:rPr>
              <a:t>Aim</a:t>
            </a:r>
            <a:r>
              <a:rPr lang="it-IT" sz="2600" b="1" dirty="0">
                <a:solidFill>
                  <a:schemeClr val="tx1"/>
                </a:solidFill>
                <a:latin typeface="Arial" panose="020B0604020202020204" pitchFamily="34" charset="0"/>
                <a:cs typeface="Arial" panose="020B0604020202020204" pitchFamily="34" charset="0"/>
              </a:rPr>
              <a:t> and Background:</a:t>
            </a:r>
          </a:p>
          <a:p>
            <a:pPr marL="114300" indent="0" algn="ctr">
              <a:buNone/>
            </a:pPr>
            <a:endParaRPr lang="it-IT" b="1" dirty="0">
              <a:solidFill>
                <a:schemeClr val="tx1"/>
              </a:solidFill>
              <a:effectLst/>
              <a:latin typeface="Arial" panose="020B0604020202020204" pitchFamily="34" charset="0"/>
              <a:cs typeface="Arial" panose="020B0604020202020204" pitchFamily="34" charset="0"/>
            </a:endParaRPr>
          </a:p>
          <a:p>
            <a:pPr marL="114300" indent="0">
              <a:buNone/>
            </a:pPr>
            <a:r>
              <a:rPr lang="it-IT" sz="2000" dirty="0">
                <a:solidFill>
                  <a:schemeClr val="tx1"/>
                </a:solidFill>
                <a:effectLst/>
                <a:latin typeface="Arial" panose="020B0604020202020204" pitchFamily="34" charset="0"/>
                <a:cs typeface="Arial" panose="020B0604020202020204" pitchFamily="34" charset="0"/>
              </a:rPr>
              <a:t>The aim of this project is to build a neural network simulator that is able to adress both classification and regression tasks. As machine learning’s course students we have tried to put into practice what we learned during the lessons</a:t>
            </a:r>
            <a:r>
              <a:rPr lang="it-IT" sz="2000" dirty="0">
                <a:solidFill>
                  <a:schemeClr val="tx1"/>
                </a:solidFill>
                <a:latin typeface="Arial" panose="020B0604020202020204" pitchFamily="34" charset="0"/>
                <a:cs typeface="Arial" panose="020B0604020202020204" pitchFamily="34" charset="0"/>
              </a:rPr>
              <a:t> by providing a working neural network implementation </a:t>
            </a:r>
            <a:r>
              <a:rPr lang="en-US" sz="2000" dirty="0">
                <a:solidFill>
                  <a:schemeClr val="tx1"/>
                </a:solidFill>
                <a:latin typeface="Arial" panose="020B0604020202020204" pitchFamily="34" charset="0"/>
                <a:cs typeface="Arial" panose="020B0604020202020204" pitchFamily="34" charset="0"/>
              </a:rPr>
              <a:t>with the hope that the practical implementation and experimentation has increased our knowledge of the subject,</a:t>
            </a:r>
            <a:r>
              <a:rPr lang="en-US" sz="2000" dirty="0">
                <a:solidFill>
                  <a:schemeClr val="tx1"/>
                </a:solidFill>
              </a:rPr>
              <a:t> in particular of neural networks, better understanding the limits and the potential of this powerful </a:t>
            </a:r>
            <a:r>
              <a:rPr lang="en-US" sz="2000" dirty="0" smtClean="0">
                <a:solidFill>
                  <a:schemeClr val="tx1"/>
                </a:solidFill>
              </a:rPr>
              <a:t>tool.</a:t>
            </a:r>
            <a:endParaRPr lang="it-IT" sz="2000" dirty="0">
              <a:solidFill>
                <a:schemeClr val="tx1"/>
              </a:solidFill>
              <a:effectLst/>
              <a:latin typeface="Arial" panose="020B0604020202020204" pitchFamily="34" charset="0"/>
              <a:cs typeface="Arial" panose="020B0604020202020204" pitchFamily="34" charset="0"/>
            </a:endParaRPr>
          </a:p>
          <a:p>
            <a:pPr marL="114300" indent="0">
              <a:buNone/>
            </a:pPr>
            <a:endParaRPr lang="it-IT" sz="1500" dirty="0">
              <a:solidFill>
                <a:schemeClr val="tx1"/>
              </a:solidFill>
              <a:effectLst/>
              <a:latin typeface="Times" pitchFamily="2" charset="0"/>
            </a:endParaRPr>
          </a:p>
        </p:txBody>
      </p:sp>
      <p:sp>
        <p:nvSpPr>
          <p:cNvPr id="6" name="CasellaDiTesto 5">
            <a:extLst>
              <a:ext uri="{FF2B5EF4-FFF2-40B4-BE49-F238E27FC236}">
                <a16:creationId xmlns="" xmlns:a16="http://schemas.microsoft.com/office/drawing/2014/main" id="{878B62E4-0F24-4BFB-7E8A-994C9AA201BC}"/>
              </a:ext>
            </a:extLst>
          </p:cNvPr>
          <p:cNvSpPr txBox="1"/>
          <p:nvPr/>
        </p:nvSpPr>
        <p:spPr>
          <a:xfrm>
            <a:off x="160819" y="2966558"/>
            <a:ext cx="8045121" cy="1661993"/>
          </a:xfrm>
          <a:prstGeom prst="rect">
            <a:avLst/>
          </a:prstGeom>
          <a:noFill/>
        </p:spPr>
        <p:txBody>
          <a:bodyPr wrap="square">
            <a:spAutoFit/>
          </a:bodyPr>
          <a:lstStyle/>
          <a:p>
            <a:pPr marL="114300" indent="0" algn="ctr">
              <a:buNone/>
            </a:pPr>
            <a:r>
              <a:rPr lang="it-IT" sz="1800" b="1" dirty="0">
                <a:solidFill>
                  <a:schemeClr val="tx1"/>
                </a:solidFill>
                <a:latin typeface="Arial" panose="020B0604020202020204" pitchFamily="34" charset="0"/>
                <a:cs typeface="Arial" panose="020B0604020202020204" pitchFamily="34" charset="0"/>
              </a:rPr>
              <a:t>Brief </a:t>
            </a:r>
            <a:r>
              <a:rPr lang="it-IT" sz="1800" b="1" dirty="0" err="1">
                <a:solidFill>
                  <a:schemeClr val="tx1"/>
                </a:solidFill>
                <a:latin typeface="Arial" panose="020B0604020202020204" pitchFamily="34" charset="0"/>
                <a:cs typeface="Arial" panose="020B0604020202020204" pitchFamily="34" charset="0"/>
              </a:rPr>
              <a:t>Description</a:t>
            </a:r>
            <a:r>
              <a:rPr lang="it-IT" sz="1800" b="1" dirty="0">
                <a:solidFill>
                  <a:schemeClr val="tx1"/>
                </a:solidFill>
                <a:latin typeface="Arial" panose="020B0604020202020204" pitchFamily="34" charset="0"/>
                <a:cs typeface="Arial" panose="020B0604020202020204" pitchFamily="34" charset="0"/>
              </a:rPr>
              <a:t>:</a:t>
            </a:r>
          </a:p>
          <a:p>
            <a:pPr marL="114300" indent="0" algn="ctr">
              <a:buNone/>
            </a:pPr>
            <a:endParaRPr lang="it-IT" sz="1400" b="1" dirty="0">
              <a:solidFill>
                <a:schemeClr val="tx1"/>
              </a:solidFill>
              <a:effectLst/>
              <a:latin typeface="Arial" panose="020B0604020202020204" pitchFamily="34" charset="0"/>
              <a:cs typeface="Arial" panose="020B0604020202020204" pitchFamily="34" charset="0"/>
            </a:endParaRPr>
          </a:p>
          <a:p>
            <a:pPr marL="114300" indent="0">
              <a:buNone/>
            </a:pPr>
            <a:r>
              <a:rPr lang="it-IT" sz="1400" dirty="0" err="1">
                <a:solidFill>
                  <a:schemeClr val="tx1"/>
                </a:solidFill>
                <a:effectLst/>
                <a:latin typeface="Arial" panose="020B0604020202020204" pitchFamily="34" charset="0"/>
                <a:cs typeface="Arial" panose="020B0604020202020204" pitchFamily="34" charset="0"/>
              </a:rPr>
              <a:t>We</a:t>
            </a:r>
            <a:r>
              <a:rPr lang="it-IT" sz="1400" dirty="0">
                <a:solidFill>
                  <a:schemeClr val="tx1"/>
                </a:solidFill>
                <a:effectLst/>
                <a:latin typeface="Arial" panose="020B0604020202020204" pitchFamily="34" charset="0"/>
                <a:cs typeface="Arial" panose="020B0604020202020204" pitchFamily="34" charset="0"/>
              </a:rPr>
              <a:t> </a:t>
            </a:r>
            <a:r>
              <a:rPr lang="it-IT" sz="1400" dirty="0" err="1">
                <a:solidFill>
                  <a:schemeClr val="tx1"/>
                </a:solidFill>
                <a:effectLst/>
                <a:latin typeface="Arial" panose="020B0604020202020204" pitchFamily="34" charset="0"/>
                <a:cs typeface="Arial" panose="020B0604020202020204" pitchFamily="34" charset="0"/>
              </a:rPr>
              <a:t>have</a:t>
            </a:r>
            <a:r>
              <a:rPr lang="it-IT" sz="1400" dirty="0">
                <a:solidFill>
                  <a:schemeClr val="tx1"/>
                </a:solidFill>
                <a:effectLst/>
                <a:latin typeface="Arial" panose="020B0604020202020204" pitchFamily="34" charset="0"/>
                <a:cs typeface="Arial" panose="020B0604020202020204" pitchFamily="34" charset="0"/>
              </a:rPr>
              <a:t> </a:t>
            </a:r>
            <a:r>
              <a:rPr lang="it-IT" sz="1400" dirty="0" err="1">
                <a:solidFill>
                  <a:schemeClr val="tx1"/>
                </a:solidFill>
                <a:effectLst/>
                <a:latin typeface="Arial" panose="020B0604020202020204" pitchFamily="34" charset="0"/>
                <a:cs typeface="Arial" panose="020B0604020202020204" pitchFamily="34" charset="0"/>
              </a:rPr>
              <a:t>implemented</a:t>
            </a:r>
            <a:r>
              <a:rPr lang="it-IT" sz="1400" dirty="0">
                <a:solidFill>
                  <a:schemeClr val="tx1"/>
                </a:solidFill>
                <a:effectLst/>
                <a:latin typeface="Arial" panose="020B0604020202020204" pitchFamily="34" charset="0"/>
                <a:cs typeface="Arial" panose="020B0604020202020204" pitchFamily="34" charset="0"/>
              </a:rPr>
              <a:t> and </a:t>
            </a:r>
            <a:r>
              <a:rPr lang="it-IT" sz="1400" dirty="0" err="1">
                <a:solidFill>
                  <a:schemeClr val="tx1"/>
                </a:solidFill>
                <a:effectLst/>
                <a:latin typeface="Arial" panose="020B0604020202020204" pitchFamily="34" charset="0"/>
                <a:cs typeface="Arial" panose="020B0604020202020204" pitchFamily="34" charset="0"/>
              </a:rPr>
              <a:t>trained</a:t>
            </a:r>
            <a:r>
              <a:rPr lang="it-IT" sz="1400" dirty="0">
                <a:solidFill>
                  <a:schemeClr val="tx1"/>
                </a:solidFill>
                <a:effectLst/>
                <a:latin typeface="Arial" panose="020B0604020202020204" pitchFamily="34" charset="0"/>
                <a:cs typeface="Arial" panose="020B0604020202020204" pitchFamily="34" charset="0"/>
              </a:rPr>
              <a:t> a </a:t>
            </a:r>
            <a:r>
              <a:rPr lang="it-IT" dirty="0" err="1">
                <a:solidFill>
                  <a:schemeClr val="tx1"/>
                </a:solidFill>
                <a:latin typeface="Arial" panose="020B0604020202020204" pitchFamily="34" charset="0"/>
                <a:cs typeface="Arial" panose="020B0604020202020204" pitchFamily="34" charset="0"/>
              </a:rPr>
              <a:t>n</a:t>
            </a:r>
            <a:r>
              <a:rPr lang="it-IT" sz="1400" dirty="0" err="1">
                <a:solidFill>
                  <a:schemeClr val="tx1"/>
                </a:solidFill>
                <a:effectLst/>
                <a:latin typeface="Arial" panose="020B0604020202020204" pitchFamily="34" charset="0"/>
                <a:cs typeface="Arial" panose="020B0604020202020204" pitchFamily="34" charset="0"/>
              </a:rPr>
              <a:t>eural</a:t>
            </a:r>
            <a:r>
              <a:rPr lang="it-IT" sz="1400" dirty="0">
                <a:solidFill>
                  <a:schemeClr val="tx1"/>
                </a:solidFill>
                <a:effectLst/>
                <a:latin typeface="Arial" panose="020B0604020202020204" pitchFamily="34" charset="0"/>
                <a:cs typeface="Arial" panose="020B0604020202020204" pitchFamily="34" charset="0"/>
              </a:rPr>
              <a:t> </a:t>
            </a:r>
            <a:r>
              <a:rPr lang="it-IT" dirty="0">
                <a:solidFill>
                  <a:schemeClr val="tx1"/>
                </a:solidFill>
                <a:latin typeface="Arial" panose="020B0604020202020204" pitchFamily="34" charset="0"/>
                <a:cs typeface="Arial" panose="020B0604020202020204" pitchFamily="34" charset="0"/>
              </a:rPr>
              <a:t>n</a:t>
            </a:r>
            <a:r>
              <a:rPr lang="it-IT" sz="1400" dirty="0">
                <a:solidFill>
                  <a:schemeClr val="tx1"/>
                </a:solidFill>
                <a:effectLst/>
                <a:latin typeface="Arial" panose="020B0604020202020204" pitchFamily="34" charset="0"/>
                <a:cs typeface="Arial" panose="020B0604020202020204" pitchFamily="34" charset="0"/>
              </a:rPr>
              <a:t>etwork (</a:t>
            </a:r>
            <a:r>
              <a:rPr lang="it-IT" sz="1400" dirty="0" err="1">
                <a:solidFill>
                  <a:schemeClr val="tx1"/>
                </a:solidFill>
                <a:effectLst/>
                <a:latin typeface="Arial" panose="020B0604020202020204" pitchFamily="34" charset="0"/>
                <a:cs typeface="Arial" panose="020B0604020202020204" pitchFamily="34" charset="0"/>
              </a:rPr>
              <a:t>multilayer</a:t>
            </a:r>
            <a:r>
              <a:rPr lang="it-IT" sz="1400" dirty="0">
                <a:solidFill>
                  <a:schemeClr val="tx1"/>
                </a:solidFill>
                <a:effectLst/>
                <a:latin typeface="Arial" panose="020B0604020202020204" pitchFamily="34" charset="0"/>
                <a:cs typeface="Arial" panose="020B0604020202020204" pitchFamily="34" charset="0"/>
              </a:rPr>
              <a:t> </a:t>
            </a:r>
            <a:r>
              <a:rPr lang="it-IT" sz="1400" dirty="0" err="1">
                <a:solidFill>
                  <a:schemeClr val="tx1"/>
                </a:solidFill>
                <a:effectLst/>
                <a:latin typeface="Arial" panose="020B0604020202020204" pitchFamily="34" charset="0"/>
                <a:cs typeface="Arial" panose="020B0604020202020204" pitchFamily="34" charset="0"/>
              </a:rPr>
              <a:t>perceptron</a:t>
            </a:r>
            <a:r>
              <a:rPr lang="it-IT" sz="1400" dirty="0">
                <a:solidFill>
                  <a:schemeClr val="tx1"/>
                </a:solidFill>
                <a:effectLst/>
                <a:latin typeface="Arial" panose="020B0604020202020204" pitchFamily="34" charset="0"/>
                <a:cs typeface="Arial" panose="020B0604020202020204" pitchFamily="34" charset="0"/>
              </a:rPr>
              <a:t>), with </a:t>
            </a:r>
            <a:r>
              <a:rPr lang="it-IT" sz="1400" dirty="0" err="1">
                <a:solidFill>
                  <a:schemeClr val="tx1"/>
                </a:solidFill>
                <a:effectLst/>
                <a:latin typeface="Arial" panose="020B0604020202020204" pitchFamily="34" charset="0"/>
                <a:cs typeface="Arial" panose="020B0604020202020204" pitchFamily="34" charset="0"/>
              </a:rPr>
              <a:t>backpropagation</a:t>
            </a:r>
            <a:r>
              <a:rPr lang="it-IT" sz="1400" dirty="0">
                <a:solidFill>
                  <a:schemeClr val="tx1"/>
                </a:solidFill>
                <a:effectLst/>
                <a:latin typeface="Arial" panose="020B0604020202020204" pitchFamily="34" charset="0"/>
                <a:cs typeface="Arial" panose="020B0604020202020204" pitchFamily="34" charset="0"/>
              </a:rPr>
              <a:t> </a:t>
            </a:r>
            <a:r>
              <a:rPr lang="it-IT" sz="1400" dirty="0" err="1">
                <a:solidFill>
                  <a:schemeClr val="tx1"/>
                </a:solidFill>
                <a:effectLst/>
                <a:latin typeface="Arial" panose="020B0604020202020204" pitchFamily="34" charset="0"/>
                <a:cs typeface="Arial" panose="020B0604020202020204" pitchFamily="34" charset="0"/>
              </a:rPr>
              <a:t>algorithm</a:t>
            </a:r>
            <a:r>
              <a:rPr lang="it-IT" sz="1400" dirty="0">
                <a:solidFill>
                  <a:schemeClr val="tx1"/>
                </a:solidFill>
                <a:effectLst/>
                <a:latin typeface="Arial" panose="020B0604020202020204" pitchFamily="34" charset="0"/>
                <a:cs typeface="Arial" panose="020B0604020202020204" pitchFamily="34" charset="0"/>
              </a:rPr>
              <a:t>, on the Monk datasets to solve </a:t>
            </a:r>
            <a:r>
              <a:rPr lang="it-IT" sz="1400" dirty="0" err="1">
                <a:solidFill>
                  <a:schemeClr val="tx1"/>
                </a:solidFill>
                <a:effectLst/>
                <a:latin typeface="Arial" panose="020B0604020202020204" pitchFamily="34" charset="0"/>
                <a:cs typeface="Arial" panose="020B0604020202020204" pitchFamily="34" charset="0"/>
              </a:rPr>
              <a:t>binary</a:t>
            </a:r>
            <a:r>
              <a:rPr lang="it-IT" sz="1400" dirty="0">
                <a:solidFill>
                  <a:schemeClr val="tx1"/>
                </a:solidFill>
                <a:effectLst/>
                <a:latin typeface="Arial" panose="020B0604020202020204" pitchFamily="34" charset="0"/>
                <a:cs typeface="Arial" panose="020B0604020202020204" pitchFamily="34" charset="0"/>
              </a:rPr>
              <a:t> </a:t>
            </a:r>
            <a:r>
              <a:rPr lang="it-IT" sz="1400" dirty="0" err="1">
                <a:solidFill>
                  <a:schemeClr val="tx1"/>
                </a:solidFill>
                <a:effectLst/>
                <a:latin typeface="Arial" panose="020B0604020202020204" pitchFamily="34" charset="0"/>
                <a:cs typeface="Arial" panose="020B0604020202020204" pitchFamily="34" charset="0"/>
              </a:rPr>
              <a:t>classification</a:t>
            </a:r>
            <a:r>
              <a:rPr lang="it-IT" sz="1400" dirty="0">
                <a:solidFill>
                  <a:schemeClr val="tx1"/>
                </a:solidFill>
                <a:effectLst/>
                <a:latin typeface="Arial" panose="020B0604020202020204" pitchFamily="34" charset="0"/>
                <a:cs typeface="Arial" panose="020B0604020202020204" pitchFamily="34" charset="0"/>
              </a:rPr>
              <a:t> tasks and on the ML Cup dataset to solve a </a:t>
            </a:r>
            <a:r>
              <a:rPr lang="it-IT" sz="1400" dirty="0" err="1">
                <a:solidFill>
                  <a:schemeClr val="tx1"/>
                </a:solidFill>
                <a:effectLst/>
                <a:latin typeface="Arial" panose="020B0604020202020204" pitchFamily="34" charset="0"/>
                <a:cs typeface="Arial" panose="020B0604020202020204" pitchFamily="34" charset="0"/>
              </a:rPr>
              <a:t>regression</a:t>
            </a:r>
            <a:r>
              <a:rPr lang="it-IT" sz="1400" dirty="0">
                <a:solidFill>
                  <a:schemeClr val="tx1"/>
                </a:solidFill>
                <a:effectLst/>
                <a:latin typeface="Arial" panose="020B0604020202020204" pitchFamily="34" charset="0"/>
                <a:cs typeface="Arial" panose="020B0604020202020204" pitchFamily="34" charset="0"/>
              </a:rPr>
              <a:t> task.  </a:t>
            </a:r>
          </a:p>
          <a:p>
            <a:pPr marL="114300" indent="0">
              <a:buNone/>
            </a:pPr>
            <a:r>
              <a:rPr lang="en-US" dirty="0"/>
              <a:t>In the following slides we will delve into some implementation details and the obtained results.</a:t>
            </a:r>
            <a:r>
              <a:rPr lang="it-IT" b="0" i="0" dirty="0">
                <a:solidFill>
                  <a:schemeClr val="tx1"/>
                </a:solidFill>
                <a:effectLst/>
                <a:latin typeface="Arial" panose="020B0604020202020204" pitchFamily="34" charset="0"/>
                <a:cs typeface="Arial" panose="020B0604020202020204" pitchFamily="34" charset="0"/>
              </a:rPr>
              <a:t/>
            </a:r>
            <a:br>
              <a:rPr lang="it-IT" b="0" i="0" dirty="0">
                <a:solidFill>
                  <a:schemeClr val="tx1"/>
                </a:solidFill>
                <a:effectLst/>
                <a:latin typeface="Arial" panose="020B0604020202020204" pitchFamily="34" charset="0"/>
                <a:cs typeface="Arial" panose="020B0604020202020204" pitchFamily="34" charset="0"/>
              </a:rPr>
            </a:br>
            <a:endParaRPr lang="it-IT" b="0" i="0" dirty="0">
              <a:solidFill>
                <a:schemeClr val="tx1"/>
              </a:solidFill>
              <a:effectLst/>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 xmlns:a16="http://schemas.microsoft.com/office/drawing/2014/main" id="{360FB93A-332B-093A-9043-FFA7330021B4}"/>
              </a:ext>
            </a:extLst>
          </p:cNvPr>
          <p:cNvSpPr>
            <a:spLocks noGrp="1"/>
          </p:cNvSpPr>
          <p:nvPr>
            <p:ph type="title"/>
          </p:nvPr>
        </p:nvSpPr>
        <p:spPr>
          <a:xfrm>
            <a:off x="342237" y="315485"/>
            <a:ext cx="8520600" cy="572700"/>
          </a:xfrm>
        </p:spPr>
        <p:txBody>
          <a:bodyPr>
            <a:normAutofit fontScale="90000"/>
          </a:bodyPr>
          <a:lstStyle/>
          <a:p>
            <a:r>
              <a:rPr lang="it-IT" b="1" dirty="0"/>
              <a:t>Method</a:t>
            </a:r>
          </a:p>
        </p:txBody>
      </p:sp>
      <p:sp>
        <p:nvSpPr>
          <p:cNvPr id="3" name="Segnaposto testo 2">
            <a:extLst>
              <a:ext uri="{FF2B5EF4-FFF2-40B4-BE49-F238E27FC236}">
                <a16:creationId xmlns="" xmlns:a16="http://schemas.microsoft.com/office/drawing/2014/main" id="{B4A5D566-8B3D-D2E1-C7CD-55FF0F1A2586}"/>
              </a:ext>
            </a:extLst>
          </p:cNvPr>
          <p:cNvSpPr>
            <a:spLocks noGrp="1"/>
          </p:cNvSpPr>
          <p:nvPr>
            <p:ph type="body" idx="1"/>
          </p:nvPr>
        </p:nvSpPr>
        <p:spPr>
          <a:xfrm>
            <a:off x="265980" y="893395"/>
            <a:ext cx="8520600" cy="393600"/>
          </a:xfrm>
        </p:spPr>
        <p:txBody>
          <a:bodyPr>
            <a:normAutofit fontScale="92500" lnSpcReduction="20000"/>
          </a:bodyPr>
          <a:lstStyle/>
          <a:p>
            <a:pPr marL="114300" indent="0">
              <a:buNone/>
            </a:pPr>
            <a:r>
              <a:rPr lang="it-IT" sz="1500" dirty="0">
                <a:solidFill>
                  <a:schemeClr val="tx1"/>
                </a:solidFill>
                <a:latin typeface="Arial" panose="020B0604020202020204" pitchFamily="34" charset="0"/>
                <a:cs typeface="Arial" panose="020B0604020202020204" pitchFamily="34" charset="0"/>
              </a:rPr>
              <a:t>We have implemented a Neural Network simulator from scratch using Python as programming language</a:t>
            </a:r>
          </a:p>
          <a:p>
            <a:pPr marL="596900" lvl="1" indent="0">
              <a:buNone/>
            </a:pPr>
            <a:endParaRPr lang="it-IT" dirty="0"/>
          </a:p>
          <a:p>
            <a:pPr marL="596900" lvl="1" indent="0">
              <a:buNone/>
            </a:pPr>
            <a:endParaRPr lang="it-IT" sz="1500" dirty="0">
              <a:latin typeface="Times" pitchFamily="2" charset="0"/>
            </a:endParaRPr>
          </a:p>
        </p:txBody>
      </p:sp>
      <p:sp>
        <p:nvSpPr>
          <p:cNvPr id="4" name="Segnaposto numero diapositiva 3">
            <a:extLst>
              <a:ext uri="{FF2B5EF4-FFF2-40B4-BE49-F238E27FC236}">
                <a16:creationId xmlns="" xmlns:a16="http://schemas.microsoft.com/office/drawing/2014/main" id="{E79B07E7-8B96-13C8-F811-121C223E40C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3</a:t>
            </a:fld>
            <a:endParaRPr lang="it-IT"/>
          </a:p>
        </p:txBody>
      </p:sp>
      <p:sp>
        <p:nvSpPr>
          <p:cNvPr id="5" name="CasellaDiTesto 4">
            <a:extLst>
              <a:ext uri="{FF2B5EF4-FFF2-40B4-BE49-F238E27FC236}">
                <a16:creationId xmlns="" xmlns:a16="http://schemas.microsoft.com/office/drawing/2014/main" id="{4608E7E1-A378-B6D2-B76E-4A6017CEF1DB}"/>
              </a:ext>
            </a:extLst>
          </p:cNvPr>
          <p:cNvSpPr txBox="1"/>
          <p:nvPr/>
        </p:nvSpPr>
        <p:spPr>
          <a:xfrm>
            <a:off x="342237" y="2302658"/>
            <a:ext cx="8891866" cy="3385542"/>
          </a:xfrm>
          <a:prstGeom prst="rect">
            <a:avLst/>
          </a:prstGeom>
          <a:noFill/>
        </p:spPr>
        <p:txBody>
          <a:bodyPr wrap="square" rtlCol="0">
            <a:spAutoFit/>
          </a:bodyPr>
          <a:lstStyle/>
          <a:p>
            <a:r>
              <a:rPr lang="it-IT" sz="1800" b="1" dirty="0">
                <a:latin typeface="+mj-lt"/>
              </a:rPr>
              <a:t>Software Overview and main design choices:</a:t>
            </a:r>
          </a:p>
          <a:p>
            <a:r>
              <a:rPr lang="it-IT" dirty="0">
                <a:latin typeface="Arial" panose="020B0604020202020204" pitchFamily="34" charset="0"/>
                <a:cs typeface="Arial" panose="020B0604020202020204" pitchFamily="34" charset="0"/>
              </a:rPr>
              <a:t>The implementation of the net is defined by the class «</a:t>
            </a:r>
            <a:r>
              <a:rPr lang="it-IT" b="1" dirty="0">
                <a:latin typeface="Arial" panose="020B0604020202020204" pitchFamily="34" charset="0"/>
                <a:cs typeface="Arial" panose="020B0604020202020204" pitchFamily="34" charset="0"/>
              </a:rPr>
              <a:t>NeuralNetwork</a:t>
            </a:r>
            <a:r>
              <a:rPr lang="it-IT" dirty="0">
                <a:latin typeface="Arial" panose="020B0604020202020204" pitchFamily="34" charset="0"/>
                <a:cs typeface="Arial" panose="020B0604020202020204" pitchFamily="34" charset="0"/>
              </a:rPr>
              <a:t>» which provides a constructor for the initialization that accepts many parameters to configure the istance, in particular the </a:t>
            </a:r>
            <a:r>
              <a:rPr lang="it-IT" b="1" dirty="0">
                <a:latin typeface="Arial" panose="020B0604020202020204" pitchFamily="34" charset="0"/>
                <a:cs typeface="Arial" panose="020B0604020202020204" pitchFamily="34" charset="0"/>
              </a:rPr>
              <a:t>user can specify</a:t>
            </a:r>
            <a:r>
              <a:rPr lang="it-IT" dirty="0">
                <a:latin typeface="Arial" panose="020B0604020202020204" pitchFamily="34" charset="0"/>
                <a:cs typeface="Arial" panose="020B0604020202020204" pitchFamily="34" charset="0"/>
              </a:rPr>
              <a:t>:</a:t>
            </a:r>
          </a:p>
          <a:p>
            <a:r>
              <a:rPr lang="it-IT" dirty="0">
                <a:latin typeface="Arial" panose="020B0604020202020204" pitchFamily="34" charset="0"/>
                <a:cs typeface="Arial" panose="020B0604020202020204" pitchFamily="34" charset="0"/>
              </a:rPr>
              <a:t>- </a:t>
            </a:r>
            <a:r>
              <a:rPr lang="it-IT" b="1" dirty="0">
                <a:latin typeface="Arial" panose="020B0604020202020204" pitchFamily="34" charset="0"/>
                <a:cs typeface="Arial" panose="020B0604020202020204" pitchFamily="34" charset="0"/>
              </a:rPr>
              <a:t>the architecture </a:t>
            </a:r>
            <a:r>
              <a:rPr lang="it-IT" dirty="0">
                <a:latin typeface="Arial" panose="020B0604020202020204" pitchFamily="34" charset="0"/>
                <a:cs typeface="Arial" panose="020B0604020202020204" pitchFamily="34" charset="0"/>
              </a:rPr>
              <a:t>( # levels , # units per level, activation functions for each level,…);</a:t>
            </a:r>
          </a:p>
          <a:p>
            <a:r>
              <a:rPr lang="it-IT" dirty="0">
                <a:latin typeface="Arial" panose="020B0604020202020204" pitchFamily="34" charset="0"/>
                <a:cs typeface="Arial" panose="020B0604020202020204" pitchFamily="34" charset="0"/>
              </a:rPr>
              <a:t>- </a:t>
            </a:r>
            <a:r>
              <a:rPr lang="it-IT" b="1" dirty="0">
                <a:latin typeface="Arial" panose="020B0604020202020204" pitchFamily="34" charset="0"/>
                <a:cs typeface="Arial" panose="020B0604020202020204" pitchFamily="34" charset="0"/>
              </a:rPr>
              <a:t>hyperparameters</a:t>
            </a:r>
            <a:r>
              <a:rPr lang="it-IT" dirty="0">
                <a:latin typeface="Arial" panose="020B0604020202020204" pitchFamily="34" charset="0"/>
                <a:cs typeface="Arial" panose="020B0604020202020204" pitchFamily="34" charset="0"/>
              </a:rPr>
              <a:t> to configure the </a:t>
            </a:r>
            <a:r>
              <a:rPr lang="it-IT" b="1" dirty="0">
                <a:latin typeface="Arial" panose="020B0604020202020204" pitchFamily="34" charset="0"/>
                <a:cs typeface="Arial" panose="020B0604020202020204" pitchFamily="34" charset="0"/>
              </a:rPr>
              <a:t>training process</a:t>
            </a:r>
            <a:r>
              <a:rPr lang="it-IT" dirty="0">
                <a:latin typeface="Arial" panose="020B0604020202020204" pitchFamily="34" charset="0"/>
                <a:cs typeface="Arial" panose="020B0604020202020204" pitchFamily="34" charset="0"/>
              </a:rPr>
              <a:t>; </a:t>
            </a:r>
          </a:p>
          <a:p>
            <a:r>
              <a:rPr lang="it-IT" dirty="0">
                <a:latin typeface="Arial" panose="020B0604020202020204" pitchFamily="34" charset="0"/>
                <a:cs typeface="Arial" panose="020B0604020202020204" pitchFamily="34" charset="0"/>
              </a:rPr>
              <a:t>- flag to request the generation of log files to track training/validation error over </a:t>
            </a:r>
            <a:r>
              <a:rPr lang="it-IT" dirty="0" smtClean="0">
                <a:latin typeface="Arial" panose="020B0604020202020204" pitchFamily="34" charset="0"/>
                <a:cs typeface="Arial" panose="020B0604020202020204" pitchFamily="34" charset="0"/>
              </a:rPr>
              <a:t>epochs;</a:t>
            </a:r>
            <a:endParaRPr lang="it-IT" dirty="0">
              <a:latin typeface="Arial" panose="020B0604020202020204" pitchFamily="34" charset="0"/>
              <a:cs typeface="Arial" panose="020B0604020202020204" pitchFamily="34" charset="0"/>
            </a:endParaRPr>
          </a:p>
          <a:p>
            <a:r>
              <a:rPr lang="it-IT" dirty="0">
                <a:latin typeface="Arial" panose="020B0604020202020204" pitchFamily="34" charset="0"/>
                <a:cs typeface="Arial" panose="020B0604020202020204" pitchFamily="34" charset="0"/>
              </a:rPr>
              <a:t>- utilities to perform k-fold cross validation and grid </a:t>
            </a:r>
            <a:r>
              <a:rPr lang="it-IT" dirty="0" smtClean="0">
                <a:latin typeface="Arial" panose="020B0604020202020204" pitchFamily="34" charset="0"/>
                <a:cs typeface="Arial" panose="020B0604020202020204" pitchFamily="34" charset="0"/>
              </a:rPr>
              <a:t>search are also provided.</a:t>
            </a:r>
            <a:endParaRPr lang="it-IT" dirty="0">
              <a:latin typeface="Arial" panose="020B0604020202020204" pitchFamily="34" charset="0"/>
              <a:cs typeface="Arial" panose="020B0604020202020204" pitchFamily="34" charset="0"/>
            </a:endParaRPr>
          </a:p>
          <a:p>
            <a:endParaRPr lang="en-US" dirty="0"/>
          </a:p>
          <a:p>
            <a:r>
              <a:rPr lang="en-US" dirty="0"/>
              <a:t>This structure was designed to guarantee the user maximum flexibility in customizing the neural network instance. The class also offers various public methods to train the network, make predictions with the trained model, retrieve values ​​of interest such as error metrics</a:t>
            </a:r>
          </a:p>
          <a:p>
            <a:pPr marL="285750" indent="-285750">
              <a:buFontTx/>
              <a:buChar char="-"/>
            </a:pPr>
            <a:endParaRPr lang="it-IT" dirty="0">
              <a:latin typeface="Arial" panose="020B0604020202020204" pitchFamily="34" charset="0"/>
              <a:cs typeface="Arial" panose="020B0604020202020204" pitchFamily="34" charset="0"/>
            </a:endParaRPr>
          </a:p>
          <a:p>
            <a:endParaRPr lang="it-IT" dirty="0">
              <a:latin typeface="Arial" panose="020B0604020202020204" pitchFamily="34" charset="0"/>
              <a:cs typeface="Arial" panose="020B0604020202020204" pitchFamily="34" charset="0"/>
            </a:endParaRPr>
          </a:p>
          <a:p>
            <a:pPr marL="285750" indent="-285750">
              <a:buFontTx/>
              <a:buChar char="-"/>
            </a:pPr>
            <a:endParaRPr lang="it-IT" dirty="0">
              <a:latin typeface="Arial" panose="020B0604020202020204" pitchFamily="34" charset="0"/>
              <a:cs typeface="Arial" panose="020B0604020202020204" pitchFamily="34" charset="0"/>
            </a:endParaRPr>
          </a:p>
          <a:p>
            <a:pPr marL="285750" indent="-285750">
              <a:buFontTx/>
              <a:buChar char="-"/>
            </a:pPr>
            <a:endParaRPr lang="it-IT" dirty="0">
              <a:latin typeface="Arial" panose="020B0604020202020204" pitchFamily="34" charset="0"/>
              <a:cs typeface="Arial" panose="020B0604020202020204" pitchFamily="34" charset="0"/>
            </a:endParaRPr>
          </a:p>
        </p:txBody>
      </p:sp>
      <p:sp>
        <p:nvSpPr>
          <p:cNvPr id="6" name="CasellaDiTesto 5">
            <a:extLst>
              <a:ext uri="{FF2B5EF4-FFF2-40B4-BE49-F238E27FC236}">
                <a16:creationId xmlns="" xmlns:a16="http://schemas.microsoft.com/office/drawing/2014/main" id="{D6AC2813-7A42-49AA-B6D4-8B684C2EBDAA}"/>
              </a:ext>
            </a:extLst>
          </p:cNvPr>
          <p:cNvSpPr txBox="1"/>
          <p:nvPr/>
        </p:nvSpPr>
        <p:spPr>
          <a:xfrm>
            <a:off x="265980" y="1286995"/>
            <a:ext cx="7445620" cy="1015663"/>
          </a:xfrm>
          <a:prstGeom prst="rect">
            <a:avLst/>
          </a:prstGeom>
          <a:noFill/>
        </p:spPr>
        <p:txBody>
          <a:bodyPr wrap="square" rtlCol="0">
            <a:spAutoFit/>
          </a:bodyPr>
          <a:lstStyle/>
          <a:p>
            <a:pPr marL="114300" indent="0">
              <a:buNone/>
            </a:pPr>
            <a:r>
              <a:rPr lang="it-IT" sz="1800" b="1" dirty="0">
                <a:solidFill>
                  <a:schemeClr val="tx1"/>
                </a:solidFill>
                <a:latin typeface="Arial" panose="020B0604020202020204" pitchFamily="34" charset="0"/>
                <a:cs typeface="Arial" panose="020B0604020202020204" pitchFamily="34" charset="0"/>
              </a:rPr>
              <a:t>Used libraries: </a:t>
            </a:r>
          </a:p>
          <a:p>
            <a:pPr marL="285750" lvl="2" indent="-285750">
              <a:buFontTx/>
              <a:buChar char="-"/>
            </a:pPr>
            <a:r>
              <a:rPr lang="it-IT" b="1" dirty="0">
                <a:solidFill>
                  <a:schemeClr val="tx1"/>
                </a:solidFill>
                <a:latin typeface="Arial" panose="020B0604020202020204" pitchFamily="34" charset="0"/>
                <a:cs typeface="Arial" panose="020B0604020202020204" pitchFamily="34" charset="0"/>
              </a:rPr>
              <a:t>Numpy</a:t>
            </a:r>
            <a:r>
              <a:rPr lang="it-IT" dirty="0">
                <a:solidFill>
                  <a:schemeClr val="tx1"/>
                </a:solidFill>
                <a:latin typeface="Arial" panose="020B0604020202020204" pitchFamily="34" charset="0"/>
                <a:cs typeface="Arial" panose="020B0604020202020204" pitchFamily="34" charset="0"/>
              </a:rPr>
              <a:t>: support to algebra and matrices </a:t>
            </a:r>
          </a:p>
          <a:p>
            <a:pPr marL="285750" lvl="2" indent="-285750">
              <a:buFontTx/>
              <a:buChar char="-"/>
            </a:pPr>
            <a:r>
              <a:rPr lang="it-IT" b="1" dirty="0">
                <a:solidFill>
                  <a:schemeClr val="tx1"/>
                </a:solidFill>
                <a:latin typeface="Arial" panose="020B0604020202020204" pitchFamily="34" charset="0"/>
                <a:cs typeface="Arial" panose="020B0604020202020204" pitchFamily="34" charset="0"/>
              </a:rPr>
              <a:t>Pandas</a:t>
            </a:r>
            <a:r>
              <a:rPr lang="it-IT" dirty="0">
                <a:solidFill>
                  <a:schemeClr val="tx1"/>
                </a:solidFill>
                <a:latin typeface="Arial" panose="020B0604020202020204" pitchFamily="34" charset="0"/>
                <a:cs typeface="Arial" panose="020B0604020202020204" pitchFamily="34" charset="0"/>
              </a:rPr>
              <a:t>: exploited for data loading/manipulation and some basic pre-processing</a:t>
            </a:r>
          </a:p>
          <a:p>
            <a:pPr marL="285750" lvl="2" indent="-285750">
              <a:buFontTx/>
              <a:buChar char="-"/>
            </a:pPr>
            <a:r>
              <a:rPr lang="it-IT" b="1" dirty="0">
                <a:solidFill>
                  <a:schemeClr val="tx1"/>
                </a:solidFill>
                <a:latin typeface="Arial" panose="020B0604020202020204" pitchFamily="34" charset="0"/>
                <a:cs typeface="Arial" panose="020B0604020202020204" pitchFamily="34" charset="0"/>
              </a:rPr>
              <a:t>Sklearn:</a:t>
            </a:r>
            <a:r>
              <a:rPr lang="it-IT" dirty="0">
                <a:solidFill>
                  <a:schemeClr val="tx1"/>
                </a:solidFill>
                <a:latin typeface="Arial" panose="020B0604020202020204" pitchFamily="34" charset="0"/>
                <a:cs typeface="Arial" panose="020B0604020202020204" pitchFamily="34" charset="0"/>
              </a:rPr>
              <a:t> used for K-</a:t>
            </a:r>
            <a:r>
              <a:rPr lang="it-IT" dirty="0" err="1">
                <a:solidFill>
                  <a:schemeClr val="tx1"/>
                </a:solidFill>
                <a:latin typeface="Arial" panose="020B0604020202020204" pitchFamily="34" charset="0"/>
                <a:cs typeface="Arial" panose="020B0604020202020204" pitchFamily="34" charset="0"/>
              </a:rPr>
              <a:t>Fold</a:t>
            </a:r>
            <a:r>
              <a:rPr lang="it-IT" dirty="0">
                <a:solidFill>
                  <a:schemeClr val="tx1"/>
                </a:solidFill>
                <a:latin typeface="Arial" panose="020B0604020202020204" pitchFamily="34" charset="0"/>
                <a:cs typeface="Arial" panose="020B0604020202020204" pitchFamily="34" charset="0"/>
              </a:rPr>
              <a:t> </a:t>
            </a:r>
            <a:r>
              <a:rPr lang="it-IT" dirty="0" err="1">
                <a:solidFill>
                  <a:schemeClr val="tx1"/>
                </a:solidFill>
                <a:latin typeface="Arial" panose="020B0604020202020204" pitchFamily="34" charset="0"/>
                <a:cs typeface="Arial" panose="020B0604020202020204" pitchFamily="34" charset="0"/>
              </a:rPr>
              <a:t>partitioning</a:t>
            </a:r>
            <a:endParaRPr lang="it-IT"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551645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9EBE73C-B172-A81E-7C4E-AA6831966FAE}"/>
            </a:ext>
          </a:extLst>
        </p:cNvPr>
        <p:cNvGrpSpPr/>
        <p:nvPr/>
      </p:nvGrpSpPr>
      <p:grpSpPr>
        <a:xfrm>
          <a:off x="0" y="0"/>
          <a:ext cx="0" cy="0"/>
          <a:chOff x="0" y="0"/>
          <a:chExt cx="0" cy="0"/>
        </a:xfrm>
      </p:grpSpPr>
      <p:sp>
        <p:nvSpPr>
          <p:cNvPr id="2" name="Titolo 1">
            <a:extLst>
              <a:ext uri="{FF2B5EF4-FFF2-40B4-BE49-F238E27FC236}">
                <a16:creationId xmlns="" xmlns:a16="http://schemas.microsoft.com/office/drawing/2014/main" id="{39D9BABD-163E-C85F-585C-4CA183EAD25B}"/>
              </a:ext>
            </a:extLst>
          </p:cNvPr>
          <p:cNvSpPr>
            <a:spLocks noGrp="1"/>
          </p:cNvSpPr>
          <p:nvPr>
            <p:ph type="title"/>
          </p:nvPr>
        </p:nvSpPr>
        <p:spPr/>
        <p:txBody>
          <a:bodyPr>
            <a:normAutofit fontScale="90000"/>
          </a:bodyPr>
          <a:lstStyle/>
          <a:p>
            <a:r>
              <a:rPr lang="it-IT" b="1" dirty="0"/>
              <a:t>Method</a:t>
            </a:r>
          </a:p>
        </p:txBody>
      </p:sp>
      <p:sp>
        <p:nvSpPr>
          <p:cNvPr id="3" name="Segnaposto testo 2">
            <a:extLst>
              <a:ext uri="{FF2B5EF4-FFF2-40B4-BE49-F238E27FC236}">
                <a16:creationId xmlns="" xmlns:a16="http://schemas.microsoft.com/office/drawing/2014/main" id="{89272C92-1B52-A6F0-06CB-2634FA2668FA}"/>
              </a:ext>
            </a:extLst>
          </p:cNvPr>
          <p:cNvSpPr>
            <a:spLocks noGrp="1"/>
          </p:cNvSpPr>
          <p:nvPr>
            <p:ph type="body" idx="1"/>
          </p:nvPr>
        </p:nvSpPr>
        <p:spPr>
          <a:xfrm>
            <a:off x="67860" y="987244"/>
            <a:ext cx="8520600" cy="3676195"/>
          </a:xfrm>
        </p:spPr>
        <p:txBody>
          <a:bodyPr>
            <a:normAutofit lnSpcReduction="10000"/>
          </a:bodyPr>
          <a:lstStyle/>
          <a:p>
            <a:pPr marL="596900" lvl="1" indent="0">
              <a:buNone/>
            </a:pPr>
            <a:r>
              <a:rPr lang="it-IT" sz="1800" b="1" dirty="0">
                <a:solidFill>
                  <a:schemeClr val="tx1"/>
                </a:solidFill>
                <a:effectLst/>
                <a:latin typeface="Arial" panose="020B0604020202020204" pitchFamily="34" charset="0"/>
                <a:cs typeface="Arial" panose="020B0604020202020204" pitchFamily="34" charset="0"/>
              </a:rPr>
              <a:t>Implementation choices</a:t>
            </a:r>
            <a:endParaRPr lang="it-IT" dirty="0">
              <a:solidFill>
                <a:schemeClr val="tx1"/>
              </a:solidFill>
              <a:effectLst/>
              <a:latin typeface="Arial" panose="020B0604020202020204" pitchFamily="34" charset="0"/>
              <a:cs typeface="Arial" panose="020B0604020202020204" pitchFamily="34" charset="0"/>
            </a:endParaRPr>
          </a:p>
          <a:p>
            <a:pPr marL="596900" lvl="1" indent="0">
              <a:buNone/>
            </a:pPr>
            <a:r>
              <a:rPr lang="it-IT" dirty="0">
                <a:solidFill>
                  <a:schemeClr val="tx1"/>
                </a:solidFill>
                <a:latin typeface="Arial" panose="020B0604020202020204" pitchFamily="34" charset="0"/>
                <a:cs typeface="Arial" panose="020B0604020202020204" pitchFamily="34" charset="0"/>
              </a:rPr>
              <a:t>The structure of the net is not predefined but d</a:t>
            </a:r>
            <a:r>
              <a:rPr lang="it-IT" dirty="0">
                <a:solidFill>
                  <a:schemeClr val="tx1"/>
                </a:solidFill>
                <a:effectLst/>
                <a:latin typeface="Arial" panose="020B0604020202020204" pitchFamily="34" charset="0"/>
                <a:cs typeface="Arial" panose="020B0604020202020204" pitchFamily="34" charset="0"/>
              </a:rPr>
              <a:t>uring initialization the user can select</a:t>
            </a:r>
            <a:r>
              <a:rPr lang="it-IT" dirty="0">
                <a:solidFill>
                  <a:schemeClr val="tx1"/>
                </a:solidFill>
                <a:latin typeface="Arial" panose="020B0604020202020204" pitchFamily="34" charset="0"/>
                <a:cs typeface="Arial" panose="020B0604020202020204" pitchFamily="34" charset="0"/>
              </a:rPr>
              <a:t>:</a:t>
            </a:r>
          </a:p>
          <a:p>
            <a:pPr marL="596900" lvl="1" indent="0">
              <a:buNone/>
            </a:pPr>
            <a:r>
              <a:rPr lang="it-IT" dirty="0">
                <a:solidFill>
                  <a:schemeClr val="tx1"/>
                </a:solidFill>
                <a:effectLst/>
                <a:latin typeface="Arial" panose="020B0604020202020204" pitchFamily="34" charset="0"/>
                <a:cs typeface="Arial" panose="020B0604020202020204" pitchFamily="34" charset="0"/>
              </a:rPr>
              <a:t>- The </a:t>
            </a:r>
            <a:r>
              <a:rPr lang="it-IT" b="1" dirty="0">
                <a:solidFill>
                  <a:schemeClr val="tx1"/>
                </a:solidFill>
                <a:effectLst/>
                <a:latin typeface="Arial" panose="020B0604020202020204" pitchFamily="34" charset="0"/>
                <a:cs typeface="Arial" panose="020B0604020202020204" pitchFamily="34" charset="0"/>
              </a:rPr>
              <a:t>architecture</a:t>
            </a:r>
            <a:r>
              <a:rPr lang="it-IT" dirty="0">
                <a:solidFill>
                  <a:schemeClr val="tx1"/>
                </a:solidFill>
                <a:latin typeface="Arial" panose="020B0604020202020204" pitchFamily="34" charset="0"/>
                <a:cs typeface="Arial" panose="020B0604020202020204" pitchFamily="34" charset="0"/>
              </a:rPr>
              <a:t>, by </a:t>
            </a:r>
            <a:r>
              <a:rPr lang="it-IT" dirty="0">
                <a:solidFill>
                  <a:schemeClr val="tx1"/>
                </a:solidFill>
                <a:effectLst/>
                <a:latin typeface="Arial" panose="020B0604020202020204" pitchFamily="34" charset="0"/>
                <a:cs typeface="Arial" panose="020B0604020202020204" pitchFamily="34" charset="0"/>
              </a:rPr>
              <a:t>passing as a parameter a list of integer with each element representing the number of units for each level of the net;</a:t>
            </a:r>
          </a:p>
          <a:p>
            <a:pPr marL="596900" lvl="1" indent="0">
              <a:buNone/>
            </a:pPr>
            <a:r>
              <a:rPr lang="it-IT" dirty="0">
                <a:solidFill>
                  <a:schemeClr val="tx1"/>
                </a:solidFill>
                <a:effectLst/>
                <a:latin typeface="Arial" panose="020B0604020202020204" pitchFamily="34" charset="0"/>
                <a:cs typeface="Arial" panose="020B0604020202020204" pitchFamily="34" charset="0"/>
              </a:rPr>
              <a:t>- The </a:t>
            </a:r>
            <a:r>
              <a:rPr lang="it-IT" b="1" dirty="0">
                <a:solidFill>
                  <a:schemeClr val="tx1"/>
                </a:solidFill>
                <a:effectLst/>
                <a:latin typeface="Arial" panose="020B0604020202020204" pitchFamily="34" charset="0"/>
                <a:cs typeface="Arial" panose="020B0604020202020204" pitchFamily="34" charset="0"/>
              </a:rPr>
              <a:t>activation functions</a:t>
            </a:r>
            <a:r>
              <a:rPr lang="it-IT" dirty="0">
                <a:solidFill>
                  <a:schemeClr val="tx1"/>
                </a:solidFill>
                <a:latin typeface="Arial" panose="020B0604020202020204" pitchFamily="34" charset="0"/>
                <a:cs typeface="Arial" panose="020B0604020202020204" pitchFamily="34" charset="0"/>
              </a:rPr>
              <a:t>, by </a:t>
            </a:r>
            <a:r>
              <a:rPr lang="it-IT" dirty="0">
                <a:solidFill>
                  <a:schemeClr val="tx1"/>
                </a:solidFill>
                <a:effectLst/>
                <a:latin typeface="Arial" panose="020B0604020202020204" pitchFamily="34" charset="0"/>
                <a:cs typeface="Arial" panose="020B0604020202020204" pitchFamily="34" charset="0"/>
              </a:rPr>
              <a:t>passing a list of string and choosing between (</a:t>
            </a:r>
            <a:r>
              <a:rPr lang="it-IT" dirty="0">
                <a:solidFill>
                  <a:schemeClr val="tx1"/>
                </a:solidFill>
                <a:latin typeface="Arial" panose="020B0604020202020204" pitchFamily="34" charset="0"/>
                <a:cs typeface="Arial" panose="020B0604020202020204" pitchFamily="34" charset="0"/>
              </a:rPr>
              <a:t>ReLu, TanH, Linear, Sigmoid, LeakyReLu, Elu). </a:t>
            </a:r>
            <a:endParaRPr lang="it-IT" dirty="0">
              <a:solidFill>
                <a:schemeClr val="tx1"/>
              </a:solidFill>
              <a:effectLst/>
              <a:latin typeface="Arial" panose="020B0604020202020204" pitchFamily="34" charset="0"/>
              <a:cs typeface="Arial" panose="020B0604020202020204" pitchFamily="34" charset="0"/>
            </a:endParaRPr>
          </a:p>
          <a:p>
            <a:pPr marL="596900" lvl="1" indent="0">
              <a:buNone/>
            </a:pPr>
            <a:endParaRPr lang="it-IT" dirty="0">
              <a:solidFill>
                <a:schemeClr val="tx1"/>
              </a:solidFill>
              <a:latin typeface="Arial" panose="020B0604020202020204" pitchFamily="34" charset="0"/>
              <a:cs typeface="Arial" panose="020B0604020202020204" pitchFamily="34" charset="0"/>
            </a:endParaRPr>
          </a:p>
          <a:p>
            <a:pPr marL="596900" lvl="1" indent="0">
              <a:buNone/>
            </a:pPr>
            <a:r>
              <a:rPr lang="it-IT" dirty="0">
                <a:solidFill>
                  <a:schemeClr val="tx1"/>
                </a:solidFill>
                <a:latin typeface="Arial" panose="020B0604020202020204" pitchFamily="34" charset="0"/>
                <a:cs typeface="Arial" panose="020B0604020202020204" pitchFamily="34" charset="0"/>
              </a:rPr>
              <a:t>The </a:t>
            </a:r>
            <a:r>
              <a:rPr lang="it-IT" b="1" dirty="0">
                <a:solidFill>
                  <a:schemeClr val="tx1"/>
                </a:solidFill>
                <a:latin typeface="Arial" panose="020B0604020202020204" pitchFamily="34" charset="0"/>
                <a:cs typeface="Arial" panose="020B0604020202020204" pitchFamily="34" charset="0"/>
              </a:rPr>
              <a:t>training algorithm </a:t>
            </a:r>
            <a:r>
              <a:rPr lang="it-IT" dirty="0">
                <a:solidFill>
                  <a:schemeClr val="tx1"/>
                </a:solidFill>
                <a:latin typeface="Arial" panose="020B0604020202020204" pitchFamily="34" charset="0"/>
                <a:cs typeface="Arial" panose="020B0604020202020204" pitchFamily="34" charset="0"/>
              </a:rPr>
              <a:t>is the </a:t>
            </a:r>
            <a:r>
              <a:rPr lang="it-IT" b="1" dirty="0">
                <a:solidFill>
                  <a:schemeClr val="tx1"/>
                </a:solidFill>
                <a:latin typeface="Arial" panose="020B0604020202020204" pitchFamily="34" charset="0"/>
                <a:cs typeface="Arial" panose="020B0604020202020204" pitchFamily="34" charset="0"/>
              </a:rPr>
              <a:t>backpropagation</a:t>
            </a:r>
            <a:r>
              <a:rPr lang="it-IT" dirty="0">
                <a:solidFill>
                  <a:schemeClr val="tx1"/>
                </a:solidFill>
                <a:latin typeface="Arial" panose="020B0604020202020204" pitchFamily="34" charset="0"/>
                <a:cs typeface="Arial" panose="020B0604020202020204" pitchFamily="34" charset="0"/>
              </a:rPr>
              <a:t> algorithm that performs a gradient descent on the error surface. </a:t>
            </a:r>
          </a:p>
          <a:p>
            <a:pPr marL="596900" lvl="1" indent="0">
              <a:buNone/>
            </a:pPr>
            <a:endParaRPr lang="it-IT" dirty="0">
              <a:solidFill>
                <a:schemeClr val="tx1"/>
              </a:solidFill>
              <a:latin typeface="Arial" panose="020B0604020202020204" pitchFamily="34" charset="0"/>
              <a:cs typeface="Arial" panose="020B0604020202020204" pitchFamily="34" charset="0"/>
            </a:endParaRPr>
          </a:p>
          <a:p>
            <a:pPr marL="596900" lvl="1" indent="0">
              <a:buNone/>
            </a:pPr>
            <a:r>
              <a:rPr lang="en-US" dirty="0">
                <a:solidFill>
                  <a:schemeClr val="tx1"/>
                </a:solidFill>
              </a:rPr>
              <a:t>The implementation of the model works with </a:t>
            </a:r>
            <a:r>
              <a:rPr lang="en-US" b="1" dirty="0">
                <a:solidFill>
                  <a:schemeClr val="tx1"/>
                </a:solidFill>
              </a:rPr>
              <a:t>matrices</a:t>
            </a:r>
            <a:r>
              <a:rPr lang="en-US" dirty="0">
                <a:solidFill>
                  <a:schemeClr val="tx1"/>
                </a:solidFill>
              </a:rPr>
              <a:t>, starting from the input matrix, passing through the internal structures (list of weight matrices, representing the weights </a:t>
            </a:r>
            <a:r>
              <a:rPr lang="en-US" dirty="0" smtClean="0">
                <a:solidFill>
                  <a:schemeClr val="tx1"/>
                </a:solidFill>
              </a:rPr>
              <a:t>between </a:t>
            </a:r>
            <a:r>
              <a:rPr lang="en-US" dirty="0">
                <a:solidFill>
                  <a:schemeClr val="tx1"/>
                </a:solidFill>
              </a:rPr>
              <a:t>consecutive levels of the net</a:t>
            </a:r>
            <a:r>
              <a:rPr lang="en-US" dirty="0" smtClean="0">
                <a:solidFill>
                  <a:schemeClr val="tx1"/>
                </a:solidFill>
              </a:rPr>
              <a:t>), and </a:t>
            </a:r>
            <a:r>
              <a:rPr lang="en-US" dirty="0">
                <a:solidFill>
                  <a:schemeClr val="tx1"/>
                </a:solidFill>
              </a:rPr>
              <a:t>exploiting the efficiency of these data structures both for the </a:t>
            </a:r>
            <a:r>
              <a:rPr lang="en-US" dirty="0" smtClean="0">
                <a:solidFill>
                  <a:schemeClr val="tx1"/>
                </a:solidFill>
              </a:rPr>
              <a:t>feed-forward </a:t>
            </a:r>
            <a:r>
              <a:rPr lang="en-US" dirty="0">
                <a:solidFill>
                  <a:schemeClr val="tx1"/>
                </a:solidFill>
              </a:rPr>
              <a:t>phase both during </a:t>
            </a:r>
            <a:r>
              <a:rPr lang="en-US" dirty="0" smtClean="0">
                <a:solidFill>
                  <a:schemeClr val="tx1"/>
                </a:solidFill>
              </a:rPr>
              <a:t>backpropagation.</a:t>
            </a:r>
            <a:endParaRPr lang="it-IT" b="1" dirty="0">
              <a:solidFill>
                <a:schemeClr val="tx1"/>
              </a:solidFill>
            </a:endParaRPr>
          </a:p>
          <a:p>
            <a:pPr marL="596900" lvl="1" indent="0">
              <a:buNone/>
            </a:pPr>
            <a:endParaRPr lang="it-IT" dirty="0"/>
          </a:p>
          <a:p>
            <a:pPr marL="596900" lvl="1" indent="0">
              <a:buNone/>
            </a:pPr>
            <a:endParaRPr lang="it-IT" sz="1500" dirty="0">
              <a:latin typeface="Times" pitchFamily="2" charset="0"/>
            </a:endParaRPr>
          </a:p>
        </p:txBody>
      </p:sp>
      <p:sp>
        <p:nvSpPr>
          <p:cNvPr id="4" name="Segnaposto numero diapositiva 3">
            <a:extLst>
              <a:ext uri="{FF2B5EF4-FFF2-40B4-BE49-F238E27FC236}">
                <a16:creationId xmlns="" xmlns:a16="http://schemas.microsoft.com/office/drawing/2014/main" id="{EFB1EE21-0115-6DAF-969D-C385CC2CFAE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4</a:t>
            </a:fld>
            <a:endParaRPr lang="it-IT"/>
          </a:p>
        </p:txBody>
      </p:sp>
    </p:spTree>
    <p:extLst>
      <p:ext uri="{BB962C8B-B14F-4D97-AF65-F5344CB8AC3E}">
        <p14:creationId xmlns:p14="http://schemas.microsoft.com/office/powerpoint/2010/main" val="61159436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9EBE73C-B172-A81E-7C4E-AA6831966FAE}"/>
            </a:ext>
          </a:extLst>
        </p:cNvPr>
        <p:cNvGrpSpPr/>
        <p:nvPr/>
      </p:nvGrpSpPr>
      <p:grpSpPr>
        <a:xfrm>
          <a:off x="0" y="0"/>
          <a:ext cx="0" cy="0"/>
          <a:chOff x="0" y="0"/>
          <a:chExt cx="0" cy="0"/>
        </a:xfrm>
      </p:grpSpPr>
      <p:sp>
        <p:nvSpPr>
          <p:cNvPr id="2" name="Titolo 1">
            <a:extLst>
              <a:ext uri="{FF2B5EF4-FFF2-40B4-BE49-F238E27FC236}">
                <a16:creationId xmlns="" xmlns:a16="http://schemas.microsoft.com/office/drawing/2014/main" id="{39D9BABD-163E-C85F-585C-4CA183EAD25B}"/>
              </a:ext>
            </a:extLst>
          </p:cNvPr>
          <p:cNvSpPr>
            <a:spLocks noGrp="1"/>
          </p:cNvSpPr>
          <p:nvPr>
            <p:ph type="title"/>
          </p:nvPr>
        </p:nvSpPr>
        <p:spPr/>
        <p:txBody>
          <a:bodyPr>
            <a:normAutofit fontScale="90000"/>
          </a:bodyPr>
          <a:lstStyle/>
          <a:p>
            <a:r>
              <a:rPr lang="it-IT" b="1" dirty="0"/>
              <a:t>Method</a:t>
            </a:r>
          </a:p>
        </p:txBody>
      </p:sp>
      <p:sp>
        <p:nvSpPr>
          <p:cNvPr id="3" name="Segnaposto testo 2">
            <a:extLst>
              <a:ext uri="{FF2B5EF4-FFF2-40B4-BE49-F238E27FC236}">
                <a16:creationId xmlns="" xmlns:a16="http://schemas.microsoft.com/office/drawing/2014/main" id="{89272C92-1B52-A6F0-06CB-2634FA2668FA}"/>
              </a:ext>
            </a:extLst>
          </p:cNvPr>
          <p:cNvSpPr>
            <a:spLocks noGrp="1"/>
          </p:cNvSpPr>
          <p:nvPr>
            <p:ph type="body" idx="1"/>
          </p:nvPr>
        </p:nvSpPr>
        <p:spPr>
          <a:xfrm>
            <a:off x="67860" y="987244"/>
            <a:ext cx="8520600" cy="4034336"/>
          </a:xfrm>
        </p:spPr>
        <p:txBody>
          <a:bodyPr>
            <a:normAutofit/>
          </a:bodyPr>
          <a:lstStyle/>
          <a:p>
            <a:pPr marL="596900" lvl="1" indent="0">
              <a:buNone/>
            </a:pPr>
            <a:r>
              <a:rPr lang="it-IT" sz="1800" b="1" dirty="0">
                <a:solidFill>
                  <a:schemeClr val="tx1"/>
                </a:solidFill>
                <a:effectLst/>
                <a:latin typeface="Arial" panose="020B0604020202020204" pitchFamily="34" charset="0"/>
                <a:cs typeface="Arial" panose="020B0604020202020204" pitchFamily="34" charset="0"/>
              </a:rPr>
              <a:t>Implementation choices</a:t>
            </a:r>
            <a:endParaRPr lang="it-IT" dirty="0">
              <a:solidFill>
                <a:schemeClr val="tx1"/>
              </a:solidFill>
              <a:latin typeface="Arial" panose="020B0604020202020204" pitchFamily="34" charset="0"/>
              <a:cs typeface="Arial" panose="020B0604020202020204" pitchFamily="34" charset="0"/>
            </a:endParaRPr>
          </a:p>
          <a:p>
            <a:pPr lvl="1">
              <a:buFontTx/>
              <a:buChar char="-"/>
            </a:pPr>
            <a:r>
              <a:rPr lang="it-IT" dirty="0">
                <a:solidFill>
                  <a:schemeClr val="tx1"/>
                </a:solidFill>
              </a:rPr>
              <a:t>The simulator supports </a:t>
            </a:r>
            <a:r>
              <a:rPr lang="it-IT" b="1" dirty="0">
                <a:solidFill>
                  <a:schemeClr val="tx1"/>
                </a:solidFill>
              </a:rPr>
              <a:t>batch/online/mini-batch</a:t>
            </a:r>
            <a:r>
              <a:rPr lang="it-IT" dirty="0">
                <a:solidFill>
                  <a:schemeClr val="tx1"/>
                </a:solidFill>
              </a:rPr>
              <a:t> training. The user can select the preferred modality passing the appropriate parameters to the train method, as well as the size of the mini-batch if used. </a:t>
            </a:r>
          </a:p>
          <a:p>
            <a:pPr lvl="1">
              <a:buFontTx/>
              <a:buChar char="-"/>
            </a:pPr>
            <a:r>
              <a:rPr lang="it-IT" dirty="0">
                <a:solidFill>
                  <a:schemeClr val="tx1"/>
                </a:solidFill>
              </a:rPr>
              <a:t>The </a:t>
            </a:r>
            <a:r>
              <a:rPr lang="it-IT" b="1" dirty="0">
                <a:solidFill>
                  <a:schemeClr val="tx1"/>
                </a:solidFill>
              </a:rPr>
              <a:t>initialization of the weights </a:t>
            </a:r>
            <a:r>
              <a:rPr lang="it-IT" dirty="0">
                <a:solidFill>
                  <a:schemeClr val="tx1"/>
                </a:solidFill>
              </a:rPr>
              <a:t>of the net can be realized with 2 different techniques: </a:t>
            </a:r>
          </a:p>
          <a:p>
            <a:pPr marL="596900" lvl="1" indent="0">
              <a:buNone/>
            </a:pPr>
            <a:r>
              <a:rPr lang="it-IT" dirty="0">
                <a:solidFill>
                  <a:schemeClr val="tx1"/>
                </a:solidFill>
              </a:rPr>
              <a:t>	</a:t>
            </a:r>
            <a:r>
              <a:rPr lang="it-IT" b="1" dirty="0">
                <a:solidFill>
                  <a:schemeClr val="tx1"/>
                </a:solidFill>
              </a:rPr>
              <a:t>«random» </a:t>
            </a:r>
            <a:r>
              <a:rPr lang="it-IT" dirty="0">
                <a:solidFill>
                  <a:schemeClr val="tx1"/>
                </a:solidFill>
              </a:rPr>
              <a:t>that initializes the weights to random small values and </a:t>
            </a:r>
            <a:r>
              <a:rPr lang="it-IT" b="1" dirty="0">
                <a:solidFill>
                  <a:schemeClr val="tx1"/>
                </a:solidFill>
              </a:rPr>
              <a:t>«xavier» </a:t>
            </a:r>
            <a:r>
              <a:rPr lang="it-IT" dirty="0">
                <a:solidFill>
                  <a:schemeClr val="tx1"/>
                </a:solidFill>
              </a:rPr>
              <a:t>that initializes the 	weights by choosing random values in the interval [-1/sqrt(fan-in), +1/sqrt(fan-in</a:t>
            </a:r>
            <a:r>
              <a:rPr lang="it-IT" dirty="0" smtClean="0">
                <a:solidFill>
                  <a:schemeClr val="tx1"/>
                </a:solidFill>
              </a:rPr>
              <a:t>)].</a:t>
            </a:r>
            <a:endParaRPr lang="it-IT" dirty="0">
              <a:solidFill>
                <a:schemeClr val="tx1"/>
              </a:solidFill>
            </a:endParaRPr>
          </a:p>
          <a:p>
            <a:pPr marL="596900" lvl="1" indent="0">
              <a:buNone/>
            </a:pPr>
            <a:r>
              <a:rPr lang="it-IT" dirty="0">
                <a:solidFill>
                  <a:schemeClr val="tx1"/>
                </a:solidFill>
              </a:rPr>
              <a:t>	To </a:t>
            </a:r>
            <a:r>
              <a:rPr lang="it-IT" dirty="0" smtClean="0">
                <a:solidFill>
                  <a:schemeClr val="tx1"/>
                </a:solidFill>
              </a:rPr>
              <a:t>deal with the presence of multiple local minima, </a:t>
            </a:r>
            <a:r>
              <a:rPr lang="it-IT" b="1" dirty="0">
                <a:solidFill>
                  <a:schemeClr val="tx1"/>
                </a:solidFill>
              </a:rPr>
              <a:t>multiple trainings </a:t>
            </a:r>
            <a:r>
              <a:rPr lang="it-IT" dirty="0">
                <a:solidFill>
                  <a:schemeClr val="tx1"/>
                </a:solidFill>
              </a:rPr>
              <a:t>are performed with </a:t>
            </a:r>
            <a:r>
              <a:rPr lang="it-IT" dirty="0" smtClean="0">
                <a:solidFill>
                  <a:schemeClr val="tx1"/>
                </a:solidFill>
              </a:rPr>
              <a:t>		</a:t>
            </a:r>
            <a:r>
              <a:rPr lang="it-IT" b="1" dirty="0" smtClean="0">
                <a:solidFill>
                  <a:schemeClr val="tx1"/>
                </a:solidFill>
              </a:rPr>
              <a:t>different</a:t>
            </a:r>
            <a:r>
              <a:rPr lang="it-IT" dirty="0" smtClean="0">
                <a:solidFill>
                  <a:schemeClr val="tx1"/>
                </a:solidFill>
              </a:rPr>
              <a:t> </a:t>
            </a:r>
            <a:r>
              <a:rPr lang="it-IT" dirty="0">
                <a:solidFill>
                  <a:schemeClr val="tx1"/>
                </a:solidFill>
              </a:rPr>
              <a:t>starting </a:t>
            </a:r>
            <a:r>
              <a:rPr lang="it-IT" dirty="0" smtClean="0">
                <a:solidFill>
                  <a:schemeClr val="tx1"/>
                </a:solidFill>
              </a:rPr>
              <a:t>weights </a:t>
            </a:r>
            <a:r>
              <a:rPr lang="it-IT" b="1" dirty="0" smtClean="0">
                <a:solidFill>
                  <a:schemeClr val="tx1"/>
                </a:solidFill>
              </a:rPr>
              <a:t>initialization</a:t>
            </a:r>
            <a:r>
              <a:rPr lang="it-IT" dirty="0">
                <a:solidFill>
                  <a:schemeClr val="tx1"/>
                </a:solidFill>
              </a:rPr>
              <a:t>. The number of restart can be selected at initialization </a:t>
            </a:r>
            <a:r>
              <a:rPr lang="it-IT" dirty="0" smtClean="0">
                <a:solidFill>
                  <a:schemeClr val="tx1"/>
                </a:solidFill>
              </a:rPr>
              <a:t>	time </a:t>
            </a:r>
            <a:r>
              <a:rPr lang="it-IT" dirty="0">
                <a:solidFill>
                  <a:schemeClr val="tx1"/>
                </a:solidFill>
              </a:rPr>
              <a:t>too. </a:t>
            </a:r>
            <a:r>
              <a:rPr lang="en-US" dirty="0">
                <a:solidFill>
                  <a:schemeClr val="tx1"/>
                </a:solidFill>
              </a:rPr>
              <a:t>The model </a:t>
            </a:r>
            <a:r>
              <a:rPr lang="en-US" dirty="0" smtClean="0">
                <a:solidFill>
                  <a:schemeClr val="tx1"/>
                </a:solidFill>
              </a:rPr>
              <a:t>chooses</a:t>
            </a:r>
            <a:r>
              <a:rPr lang="en-US" dirty="0">
                <a:solidFill>
                  <a:schemeClr val="tx1"/>
                </a:solidFill>
              </a:rPr>
              <a:t>, among others, the training cycle that minimizes </a:t>
            </a:r>
            <a:r>
              <a:rPr lang="en-US" dirty="0" smtClean="0">
                <a:solidFill>
                  <a:schemeClr val="tx1"/>
                </a:solidFill>
              </a:rPr>
              <a:t>the (TR) error.</a:t>
            </a:r>
            <a:endParaRPr lang="en-US" dirty="0">
              <a:solidFill>
                <a:schemeClr val="tx1"/>
              </a:solidFill>
            </a:endParaRPr>
          </a:p>
          <a:p>
            <a:pPr lvl="1">
              <a:buFontTx/>
              <a:buChar char="-"/>
            </a:pPr>
            <a:r>
              <a:rPr lang="it-IT" dirty="0">
                <a:solidFill>
                  <a:schemeClr val="tx1"/>
                </a:solidFill>
              </a:rPr>
              <a:t>The simulator implements two </a:t>
            </a:r>
            <a:r>
              <a:rPr lang="it-IT" b="1" dirty="0">
                <a:solidFill>
                  <a:schemeClr val="tx1"/>
                </a:solidFill>
              </a:rPr>
              <a:t>regularization techniques</a:t>
            </a:r>
            <a:r>
              <a:rPr lang="it-IT" dirty="0">
                <a:solidFill>
                  <a:schemeClr val="tx1"/>
                </a:solidFill>
              </a:rPr>
              <a:t>: </a:t>
            </a:r>
            <a:r>
              <a:rPr lang="it-IT" b="1" dirty="0">
                <a:solidFill>
                  <a:schemeClr val="tx1"/>
                </a:solidFill>
              </a:rPr>
              <a:t>Ridge/Tikhonov</a:t>
            </a:r>
            <a:r>
              <a:rPr lang="it-IT" dirty="0">
                <a:solidFill>
                  <a:schemeClr val="tx1"/>
                </a:solidFill>
              </a:rPr>
              <a:t> </a:t>
            </a:r>
            <a:r>
              <a:rPr lang="it-IT" b="1" dirty="0">
                <a:solidFill>
                  <a:schemeClr val="tx1"/>
                </a:solidFill>
              </a:rPr>
              <a:t>regularization (L2), Lasso Regularization L1</a:t>
            </a:r>
            <a:r>
              <a:rPr lang="it-IT" dirty="0">
                <a:solidFill>
                  <a:schemeClr val="tx1"/>
                </a:solidFill>
              </a:rPr>
              <a:t>. </a:t>
            </a:r>
            <a:r>
              <a:rPr lang="en-US" dirty="0">
                <a:solidFill>
                  <a:schemeClr val="tx1"/>
                </a:solidFill>
              </a:rPr>
              <a:t>Even the easy application of early stopping has been made possible since support is provided for plotting the error on training and validation as the epochs </a:t>
            </a:r>
            <a:r>
              <a:rPr lang="en-US" dirty="0" smtClean="0">
                <a:solidFill>
                  <a:schemeClr val="tx1"/>
                </a:solidFill>
              </a:rPr>
              <a:t>vary.</a:t>
            </a:r>
            <a:endParaRPr lang="en-US" dirty="0">
              <a:solidFill>
                <a:schemeClr val="tx1"/>
              </a:solidFill>
            </a:endParaRPr>
          </a:p>
          <a:p>
            <a:pPr marL="596900" lvl="1" indent="0">
              <a:buNone/>
            </a:pPr>
            <a:endParaRPr lang="it-IT" dirty="0"/>
          </a:p>
          <a:p>
            <a:pPr marL="596900" lvl="1" indent="0">
              <a:buNone/>
            </a:pPr>
            <a:endParaRPr lang="it-IT" dirty="0">
              <a:solidFill>
                <a:schemeClr val="tx1"/>
              </a:solidFill>
            </a:endParaRPr>
          </a:p>
          <a:p>
            <a:pPr lvl="1">
              <a:buFontTx/>
              <a:buChar char="-"/>
            </a:pPr>
            <a:endParaRPr lang="it-IT" dirty="0">
              <a:solidFill>
                <a:schemeClr val="tx1"/>
              </a:solidFill>
            </a:endParaRPr>
          </a:p>
          <a:p>
            <a:pPr lvl="1">
              <a:buFontTx/>
              <a:buChar char="-"/>
            </a:pPr>
            <a:endParaRPr lang="it-IT" dirty="0">
              <a:solidFill>
                <a:schemeClr val="tx1"/>
              </a:solidFill>
            </a:endParaRPr>
          </a:p>
          <a:p>
            <a:pPr marL="596900" lvl="1" indent="0">
              <a:buNone/>
            </a:pPr>
            <a:endParaRPr lang="it-IT" dirty="0">
              <a:solidFill>
                <a:schemeClr val="tx1"/>
              </a:solidFill>
            </a:endParaRPr>
          </a:p>
          <a:p>
            <a:pPr lvl="1">
              <a:buFontTx/>
              <a:buChar char="-"/>
            </a:pPr>
            <a:endParaRPr lang="it-IT" dirty="0">
              <a:solidFill>
                <a:schemeClr val="tx1"/>
              </a:solidFill>
            </a:endParaRPr>
          </a:p>
          <a:p>
            <a:pPr lvl="1">
              <a:buFontTx/>
              <a:buChar char="-"/>
            </a:pPr>
            <a:endParaRPr lang="it-IT" dirty="0">
              <a:solidFill>
                <a:schemeClr val="tx1"/>
              </a:solidFill>
            </a:endParaRPr>
          </a:p>
          <a:p>
            <a:pPr marL="596900" lvl="1" indent="0">
              <a:buNone/>
            </a:pPr>
            <a:endParaRPr lang="it-IT" dirty="0"/>
          </a:p>
          <a:p>
            <a:pPr marL="596900" lvl="1" indent="0">
              <a:buNone/>
            </a:pPr>
            <a:endParaRPr lang="it-IT" sz="1500" dirty="0">
              <a:latin typeface="Times" pitchFamily="2" charset="0"/>
            </a:endParaRPr>
          </a:p>
        </p:txBody>
      </p:sp>
      <p:sp>
        <p:nvSpPr>
          <p:cNvPr id="4" name="Segnaposto numero diapositiva 3">
            <a:extLst>
              <a:ext uri="{FF2B5EF4-FFF2-40B4-BE49-F238E27FC236}">
                <a16:creationId xmlns="" xmlns:a16="http://schemas.microsoft.com/office/drawing/2014/main" id="{EFB1EE21-0115-6DAF-969D-C385CC2CFAE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5</a:t>
            </a:fld>
            <a:endParaRPr lang="it-IT"/>
          </a:p>
        </p:txBody>
      </p:sp>
    </p:spTree>
    <p:extLst>
      <p:ext uri="{BB962C8B-B14F-4D97-AF65-F5344CB8AC3E}">
        <p14:creationId xmlns:p14="http://schemas.microsoft.com/office/powerpoint/2010/main" val="400082625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9EBE73C-B172-A81E-7C4E-AA6831966FAE}"/>
            </a:ext>
          </a:extLst>
        </p:cNvPr>
        <p:cNvGrpSpPr/>
        <p:nvPr/>
      </p:nvGrpSpPr>
      <p:grpSpPr>
        <a:xfrm>
          <a:off x="0" y="0"/>
          <a:ext cx="0" cy="0"/>
          <a:chOff x="0" y="0"/>
          <a:chExt cx="0" cy="0"/>
        </a:xfrm>
      </p:grpSpPr>
      <p:sp>
        <p:nvSpPr>
          <p:cNvPr id="2" name="Titolo 1">
            <a:extLst>
              <a:ext uri="{FF2B5EF4-FFF2-40B4-BE49-F238E27FC236}">
                <a16:creationId xmlns="" xmlns:a16="http://schemas.microsoft.com/office/drawing/2014/main" id="{39D9BABD-163E-C85F-585C-4CA183EAD25B}"/>
              </a:ext>
            </a:extLst>
          </p:cNvPr>
          <p:cNvSpPr>
            <a:spLocks noGrp="1"/>
          </p:cNvSpPr>
          <p:nvPr>
            <p:ph type="title"/>
          </p:nvPr>
        </p:nvSpPr>
        <p:spPr/>
        <p:txBody>
          <a:bodyPr>
            <a:normAutofit fontScale="90000"/>
          </a:bodyPr>
          <a:lstStyle/>
          <a:p>
            <a:r>
              <a:rPr lang="it-IT" b="1" dirty="0"/>
              <a:t>Method</a:t>
            </a:r>
          </a:p>
        </p:txBody>
      </p:sp>
      <p:sp>
        <p:nvSpPr>
          <p:cNvPr id="3" name="Segnaposto testo 2">
            <a:extLst>
              <a:ext uri="{FF2B5EF4-FFF2-40B4-BE49-F238E27FC236}">
                <a16:creationId xmlns="" xmlns:a16="http://schemas.microsoft.com/office/drawing/2014/main" id="{89272C92-1B52-A6F0-06CB-2634FA2668FA}"/>
              </a:ext>
            </a:extLst>
          </p:cNvPr>
          <p:cNvSpPr>
            <a:spLocks noGrp="1"/>
          </p:cNvSpPr>
          <p:nvPr>
            <p:ph type="body" idx="1"/>
          </p:nvPr>
        </p:nvSpPr>
        <p:spPr>
          <a:xfrm>
            <a:off x="136440" y="987244"/>
            <a:ext cx="9007560" cy="3676195"/>
          </a:xfrm>
        </p:spPr>
        <p:txBody>
          <a:bodyPr>
            <a:normAutofit/>
          </a:bodyPr>
          <a:lstStyle/>
          <a:p>
            <a:pPr marL="596900" lvl="1" indent="0">
              <a:buNone/>
            </a:pPr>
            <a:r>
              <a:rPr lang="it-IT" sz="1800" b="1" dirty="0">
                <a:solidFill>
                  <a:schemeClr val="tx1"/>
                </a:solidFill>
                <a:effectLst/>
                <a:latin typeface="Arial" panose="020B0604020202020204" pitchFamily="34" charset="0"/>
                <a:cs typeface="Arial" panose="020B0604020202020204" pitchFamily="34" charset="0"/>
              </a:rPr>
              <a:t>Implementation choices</a:t>
            </a:r>
            <a:endParaRPr lang="it-IT" b="1" dirty="0">
              <a:solidFill>
                <a:schemeClr val="tx1"/>
              </a:solidFill>
              <a:effectLst/>
              <a:latin typeface="Arial" panose="020B0604020202020204" pitchFamily="34" charset="0"/>
              <a:cs typeface="Arial" panose="020B0604020202020204" pitchFamily="34" charset="0"/>
            </a:endParaRPr>
          </a:p>
          <a:p>
            <a:pPr lvl="1">
              <a:buFontTx/>
              <a:buChar char="-"/>
            </a:pPr>
            <a:r>
              <a:rPr lang="it-IT" dirty="0">
                <a:solidFill>
                  <a:schemeClr val="tx1"/>
                </a:solidFill>
                <a:latin typeface="Arial" panose="020B0604020202020204" pitchFamily="34" charset="0"/>
                <a:cs typeface="Arial" panose="020B0604020202020204" pitchFamily="34" charset="0"/>
              </a:rPr>
              <a:t>To better control the convergence of the learning algorithm the possibility of using standard </a:t>
            </a:r>
            <a:r>
              <a:rPr lang="it-IT" b="1" dirty="0">
                <a:solidFill>
                  <a:schemeClr val="tx1"/>
                </a:solidFill>
                <a:latin typeface="Arial" panose="020B0604020202020204" pitchFamily="34" charset="0"/>
                <a:cs typeface="Arial" panose="020B0604020202020204" pitchFamily="34" charset="0"/>
              </a:rPr>
              <a:t>momentum</a:t>
            </a:r>
            <a:r>
              <a:rPr lang="it-IT" dirty="0">
                <a:solidFill>
                  <a:schemeClr val="tx1"/>
                </a:solidFill>
                <a:latin typeface="Arial" panose="020B0604020202020204" pitchFamily="34" charset="0"/>
                <a:cs typeface="Arial" panose="020B0604020202020204" pitchFamily="34" charset="0"/>
              </a:rPr>
              <a:t> technique is </a:t>
            </a:r>
            <a:r>
              <a:rPr lang="it-IT" dirty="0" smtClean="0">
                <a:solidFill>
                  <a:schemeClr val="tx1"/>
                </a:solidFill>
                <a:latin typeface="Arial" panose="020B0604020202020204" pitchFamily="34" charset="0"/>
                <a:cs typeface="Arial" panose="020B0604020202020204" pitchFamily="34" charset="0"/>
              </a:rPr>
              <a:t>provided. </a:t>
            </a:r>
            <a:endParaRPr lang="it-IT" dirty="0">
              <a:solidFill>
                <a:schemeClr val="tx1"/>
              </a:solidFill>
              <a:latin typeface="Arial" panose="020B0604020202020204" pitchFamily="34" charset="0"/>
              <a:cs typeface="Arial" panose="020B0604020202020204" pitchFamily="34" charset="0"/>
            </a:endParaRPr>
          </a:p>
          <a:p>
            <a:pPr lvl="1">
              <a:buFontTx/>
              <a:buChar char="-"/>
            </a:pPr>
            <a:r>
              <a:rPr lang="it-IT" dirty="0">
                <a:solidFill>
                  <a:schemeClr val="tx1"/>
                </a:solidFill>
                <a:latin typeface="Arial" panose="020B0604020202020204" pitchFamily="34" charset="0"/>
                <a:cs typeface="Arial" panose="020B0604020202020204" pitchFamily="34" charset="0"/>
              </a:rPr>
              <a:t>To gain more control and flexibility over the value of the learning rate, the user can enable the «</a:t>
            </a:r>
            <a:r>
              <a:rPr lang="it-IT" b="1" dirty="0">
                <a:solidFill>
                  <a:schemeClr val="tx1"/>
                </a:solidFill>
                <a:latin typeface="Arial" panose="020B0604020202020204" pitchFamily="34" charset="0"/>
                <a:cs typeface="Arial" panose="020B0604020202020204" pitchFamily="34" charset="0"/>
              </a:rPr>
              <a:t>variable learning rate</a:t>
            </a:r>
            <a:r>
              <a:rPr lang="it-IT" dirty="0">
                <a:solidFill>
                  <a:schemeClr val="tx1"/>
                </a:solidFill>
                <a:latin typeface="Arial" panose="020B0604020202020204" pitchFamily="34" charset="0"/>
                <a:cs typeface="Arial" panose="020B0604020202020204" pitchFamily="34" charset="0"/>
              </a:rPr>
              <a:t>» option which let the user to specify an initial and a final learning </a:t>
            </a:r>
            <a:r>
              <a:rPr lang="it-IT" dirty="0" smtClean="0">
                <a:solidFill>
                  <a:schemeClr val="tx1"/>
                </a:solidFill>
                <a:latin typeface="Arial" panose="020B0604020202020204" pitchFamily="34" charset="0"/>
                <a:cs typeface="Arial" panose="020B0604020202020204" pitchFamily="34" charset="0"/>
              </a:rPr>
              <a:t>rate, </a:t>
            </a:r>
            <a:r>
              <a:rPr lang="it-IT" dirty="0">
                <a:solidFill>
                  <a:schemeClr val="tx1"/>
                </a:solidFill>
                <a:latin typeface="Arial" panose="020B0604020202020204" pitchFamily="34" charset="0"/>
                <a:cs typeface="Arial" panose="020B0604020202020204" pitchFamily="34" charset="0"/>
              </a:rPr>
              <a:t>and a number of </a:t>
            </a:r>
            <a:r>
              <a:rPr lang="it-IT" dirty="0" smtClean="0">
                <a:solidFill>
                  <a:schemeClr val="tx1"/>
                </a:solidFill>
                <a:latin typeface="Arial" panose="020B0604020202020204" pitchFamily="34" charset="0"/>
                <a:cs typeface="Arial" panose="020B0604020202020204" pitchFamily="34" charset="0"/>
              </a:rPr>
              <a:t>iterations </a:t>
            </a:r>
            <a:r>
              <a:rPr lang="it-IT" dirty="0">
                <a:solidFill>
                  <a:schemeClr val="tx1"/>
                </a:solidFill>
                <a:latin typeface="Arial" panose="020B0604020202020204" pitchFamily="34" charset="0"/>
                <a:cs typeface="Arial" panose="020B0604020202020204" pitchFamily="34" charset="0"/>
              </a:rPr>
              <a:t>tau during which the learning rate decay linearly </a:t>
            </a:r>
            <a:r>
              <a:rPr lang="en-US" dirty="0">
                <a:solidFill>
                  <a:schemeClr val="tx1"/>
                </a:solidFill>
                <a:latin typeface="Arial" panose="020B0604020202020204" pitchFamily="34" charset="0"/>
                <a:cs typeface="Arial" panose="020B0604020202020204" pitchFamily="34" charset="0"/>
              </a:rPr>
              <a:t>until a final fixed value is </a:t>
            </a:r>
            <a:r>
              <a:rPr lang="en-US" dirty="0" smtClean="0">
                <a:solidFill>
                  <a:schemeClr val="tx1"/>
                </a:solidFill>
                <a:latin typeface="Arial" panose="020B0604020202020204" pitchFamily="34" charset="0"/>
                <a:cs typeface="Arial" panose="020B0604020202020204" pitchFamily="34" charset="0"/>
              </a:rPr>
              <a:t>reached.</a:t>
            </a:r>
            <a:endParaRPr lang="en-US" dirty="0">
              <a:solidFill>
                <a:schemeClr val="tx1"/>
              </a:solidFill>
              <a:latin typeface="Arial" panose="020B0604020202020204" pitchFamily="34" charset="0"/>
              <a:cs typeface="Arial" panose="020B0604020202020204" pitchFamily="34" charset="0"/>
            </a:endParaRPr>
          </a:p>
          <a:p>
            <a:pPr lvl="1">
              <a:buFontTx/>
              <a:buChar char="-"/>
            </a:pPr>
            <a:r>
              <a:rPr lang="it-IT" dirty="0">
                <a:solidFill>
                  <a:schemeClr val="tx1"/>
                </a:solidFill>
                <a:latin typeface="Arial" panose="020B0604020202020204" pitchFamily="34" charset="0"/>
                <a:cs typeface="Arial" panose="020B0604020202020204" pitchFamily="34" charset="0"/>
              </a:rPr>
              <a:t>The gradient is divided by the number of pattern (size) in batch/mini-batch (</a:t>
            </a:r>
            <a:r>
              <a:rPr lang="it-IT" b="1" dirty="0">
                <a:solidFill>
                  <a:schemeClr val="tx1"/>
                </a:solidFill>
                <a:latin typeface="Arial" panose="020B0604020202020204" pitchFamily="34" charset="0"/>
                <a:cs typeface="Arial" panose="020B0604020202020204" pitchFamily="34" charset="0"/>
              </a:rPr>
              <a:t>gradient averaging</a:t>
            </a:r>
            <a:r>
              <a:rPr lang="it-IT" dirty="0">
                <a:solidFill>
                  <a:schemeClr val="tx1"/>
                </a:solidFill>
                <a:latin typeface="Arial" panose="020B0604020202020204" pitchFamily="34" charset="0"/>
                <a:cs typeface="Arial" panose="020B0604020202020204" pitchFamily="34" charset="0"/>
              </a:rPr>
              <a:t>) and to keep consistency </a:t>
            </a:r>
            <a:r>
              <a:rPr lang="it-IT" b="1" dirty="0">
                <a:solidFill>
                  <a:schemeClr val="tx1"/>
                </a:solidFill>
                <a:latin typeface="Arial" panose="020B0604020202020204" pitchFamily="34" charset="0"/>
                <a:cs typeface="Arial" panose="020B0604020202020204" pitchFamily="34" charset="0"/>
              </a:rPr>
              <a:t>in case of minibatch eta is </a:t>
            </a:r>
            <a:r>
              <a:rPr lang="en-US" b="1" dirty="0">
                <a:solidFill>
                  <a:schemeClr val="tx1"/>
                </a:solidFill>
                <a:latin typeface="Arial" panose="020B0604020202020204" pitchFamily="34" charset="0"/>
                <a:cs typeface="Arial" panose="020B0604020202020204" pitchFamily="34" charset="0"/>
              </a:rPr>
              <a:t>tuned </a:t>
            </a:r>
            <a:r>
              <a:rPr lang="en-US" dirty="0">
                <a:solidFill>
                  <a:schemeClr val="tx1"/>
                </a:solidFill>
                <a:latin typeface="Arial" panose="020B0604020202020204" pitchFamily="34" charset="0"/>
                <a:cs typeface="Arial" panose="020B0604020202020204" pitchFamily="34" charset="0"/>
              </a:rPr>
              <a:t>as well (to obtain an eta proportional to the batch case</a:t>
            </a:r>
            <a:r>
              <a:rPr lang="en-US" dirty="0" smtClean="0">
                <a:solidFill>
                  <a:schemeClr val="tx1"/>
                </a:solidFill>
                <a:latin typeface="Arial" panose="020B0604020202020204" pitchFamily="34" charset="0"/>
                <a:cs typeface="Arial" panose="020B0604020202020204" pitchFamily="34" charset="0"/>
              </a:rPr>
              <a:t>).</a:t>
            </a:r>
            <a:endParaRPr lang="en-US" dirty="0">
              <a:solidFill>
                <a:schemeClr val="tx1"/>
              </a:solidFill>
              <a:latin typeface="Arial" panose="020B0604020202020204" pitchFamily="34" charset="0"/>
              <a:cs typeface="Arial" panose="020B0604020202020204" pitchFamily="34" charset="0"/>
            </a:endParaRPr>
          </a:p>
          <a:p>
            <a:pPr marL="596900" lvl="1" indent="0">
              <a:buNone/>
            </a:pPr>
            <a:r>
              <a:rPr lang="it-IT" sz="1500" dirty="0">
                <a:solidFill>
                  <a:schemeClr val="tx1"/>
                </a:solidFill>
                <a:latin typeface="Arial" panose="020B0604020202020204" pitchFamily="34" charset="0"/>
                <a:cs typeface="Arial" panose="020B0604020202020204" pitchFamily="34" charset="0"/>
              </a:rPr>
              <a:t>-</a:t>
            </a:r>
            <a:r>
              <a:rPr lang="it-IT" dirty="0">
                <a:solidFill>
                  <a:schemeClr val="tx1"/>
                </a:solidFill>
                <a:latin typeface="Arial" panose="020B0604020202020204" pitchFamily="34" charset="0"/>
                <a:cs typeface="Arial" panose="020B0604020202020204" pitchFamily="34" charset="0"/>
              </a:rPr>
              <a:t>	As </a:t>
            </a:r>
            <a:r>
              <a:rPr lang="it-IT" b="1" dirty="0">
                <a:solidFill>
                  <a:schemeClr val="tx1"/>
                </a:solidFill>
                <a:latin typeface="Arial" panose="020B0604020202020204" pitchFamily="34" charset="0"/>
                <a:cs typeface="Arial" panose="020B0604020202020204" pitchFamily="34" charset="0"/>
              </a:rPr>
              <a:t>stopping condition </a:t>
            </a:r>
            <a:r>
              <a:rPr lang="it-IT" dirty="0">
                <a:solidFill>
                  <a:schemeClr val="tx1"/>
                </a:solidFill>
                <a:latin typeface="Arial" panose="020B0604020202020204" pitchFamily="34" charset="0"/>
                <a:cs typeface="Arial" panose="020B0604020202020204" pitchFamily="34" charset="0"/>
              </a:rPr>
              <a:t>our training algorithm use a predetermined </a:t>
            </a:r>
            <a:r>
              <a:rPr lang="it-IT" b="1" dirty="0">
                <a:solidFill>
                  <a:schemeClr val="tx1"/>
                </a:solidFill>
                <a:latin typeface="Arial" panose="020B0604020202020204" pitchFamily="34" charset="0"/>
                <a:cs typeface="Arial" panose="020B0604020202020204" pitchFamily="34" charset="0"/>
              </a:rPr>
              <a:t>number of epochs </a:t>
            </a:r>
            <a:r>
              <a:rPr lang="it-IT" dirty="0">
                <a:solidFill>
                  <a:schemeClr val="tx1"/>
                </a:solidFill>
                <a:latin typeface="Arial" panose="020B0604020202020204" pitchFamily="34" charset="0"/>
                <a:cs typeface="Arial" panose="020B0604020202020204" pitchFamily="34" charset="0"/>
              </a:rPr>
              <a:t>(specified by 	the user) or </a:t>
            </a:r>
            <a:r>
              <a:rPr lang="it-IT" b="1" dirty="0">
                <a:solidFill>
                  <a:schemeClr val="tx1"/>
                </a:solidFill>
                <a:latin typeface="Arial" panose="020B0604020202020204" pitchFamily="34" charset="0"/>
                <a:cs typeface="Arial" panose="020B0604020202020204" pitchFamily="34" charset="0"/>
              </a:rPr>
              <a:t>an error threshold </a:t>
            </a:r>
            <a:r>
              <a:rPr lang="it-IT" dirty="0">
                <a:solidFill>
                  <a:schemeClr val="tx1"/>
                </a:solidFill>
                <a:latin typeface="Arial" panose="020B0604020202020204" pitchFamily="34" charset="0"/>
                <a:cs typeface="Arial" panose="020B0604020202020204" pitchFamily="34" charset="0"/>
              </a:rPr>
              <a:t>(on the training error) </a:t>
            </a:r>
            <a:r>
              <a:rPr lang="it-IT" dirty="0" smtClean="0">
                <a:solidFill>
                  <a:schemeClr val="tx1"/>
                </a:solidFill>
                <a:latin typeface="Arial" panose="020B0604020202020204" pitchFamily="34" charset="0"/>
                <a:cs typeface="Arial" panose="020B0604020202020204" pitchFamily="34" charset="0"/>
              </a:rPr>
              <a:t>that, </a:t>
            </a:r>
            <a:r>
              <a:rPr lang="it-IT" dirty="0">
                <a:solidFill>
                  <a:schemeClr val="tx1"/>
                </a:solidFill>
                <a:latin typeface="Arial" panose="020B0604020202020204" pitchFamily="34" charset="0"/>
                <a:cs typeface="Arial" panose="020B0604020202020204" pitchFamily="34" charset="0"/>
              </a:rPr>
              <a:t>if </a:t>
            </a:r>
            <a:r>
              <a:rPr lang="it-IT" dirty="0" smtClean="0">
                <a:solidFill>
                  <a:schemeClr val="tx1"/>
                </a:solidFill>
                <a:latin typeface="Arial" panose="020B0604020202020204" pitchFamily="34" charset="0"/>
                <a:cs typeface="Arial" panose="020B0604020202020204" pitchFamily="34" charset="0"/>
              </a:rPr>
              <a:t>achieved, </a:t>
            </a:r>
            <a:r>
              <a:rPr lang="it-IT" dirty="0">
                <a:solidFill>
                  <a:schemeClr val="tx1"/>
                </a:solidFill>
                <a:latin typeface="Arial" panose="020B0604020202020204" pitchFamily="34" charset="0"/>
                <a:cs typeface="Arial" panose="020B0604020202020204" pitchFamily="34" charset="0"/>
              </a:rPr>
              <a:t>immediately stops the </a:t>
            </a:r>
            <a:r>
              <a:rPr lang="it-IT" dirty="0" smtClean="0">
                <a:solidFill>
                  <a:schemeClr val="tx1"/>
                </a:solidFill>
                <a:latin typeface="Arial" panose="020B0604020202020204" pitchFamily="34" charset="0"/>
                <a:cs typeface="Arial" panose="020B0604020202020204" pitchFamily="34" charset="0"/>
              </a:rPr>
              <a:t>	training</a:t>
            </a:r>
            <a:r>
              <a:rPr lang="it-IT" dirty="0">
                <a:solidFill>
                  <a:schemeClr val="tx1"/>
                </a:solidFill>
                <a:latin typeface="Arial" panose="020B0604020202020204" pitchFamily="34" charset="0"/>
                <a:cs typeface="Arial" panose="020B0604020202020204" pitchFamily="34" charset="0"/>
              </a:rPr>
              <a:t>.  </a:t>
            </a:r>
          </a:p>
          <a:p>
            <a:pPr marL="596900" lvl="1" indent="0">
              <a:buNone/>
            </a:pPr>
            <a:endParaRPr lang="it-IT" sz="1500" dirty="0">
              <a:solidFill>
                <a:schemeClr val="tx1"/>
              </a:solidFill>
              <a:latin typeface="Times" pitchFamily="2" charset="0"/>
            </a:endParaRPr>
          </a:p>
        </p:txBody>
      </p:sp>
      <p:sp>
        <p:nvSpPr>
          <p:cNvPr id="4" name="Segnaposto numero diapositiva 3">
            <a:extLst>
              <a:ext uri="{FF2B5EF4-FFF2-40B4-BE49-F238E27FC236}">
                <a16:creationId xmlns="" xmlns:a16="http://schemas.microsoft.com/office/drawing/2014/main" id="{EFB1EE21-0115-6DAF-969D-C385CC2CFAE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6</a:t>
            </a:fld>
            <a:endParaRPr lang="it-IT"/>
          </a:p>
        </p:txBody>
      </p:sp>
    </p:spTree>
    <p:extLst>
      <p:ext uri="{BB962C8B-B14F-4D97-AF65-F5344CB8AC3E}">
        <p14:creationId xmlns:p14="http://schemas.microsoft.com/office/powerpoint/2010/main" val="400082625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it" b="1" dirty="0"/>
              <a:t>Monk Results </a:t>
            </a:r>
            <a:endParaRPr b="1" dirty="0"/>
          </a:p>
        </p:txBody>
      </p:sp>
      <p:sp>
        <p:nvSpPr>
          <p:cNvPr id="86" name="Google Shape;86;p17"/>
          <p:cNvSpPr txBox="1">
            <a:spLocks noGrp="1"/>
          </p:cNvSpPr>
          <p:nvPr>
            <p:ph type="body" idx="1"/>
          </p:nvPr>
        </p:nvSpPr>
        <p:spPr>
          <a:xfrm>
            <a:off x="288840" y="847675"/>
            <a:ext cx="8520600" cy="3416400"/>
          </a:xfrm>
          <a:prstGeom prst="rect">
            <a:avLst/>
          </a:prstGeom>
        </p:spPr>
        <p:txBody>
          <a:bodyPr spcFirstLastPara="1" wrap="square" lIns="91425" tIns="91425" rIns="91425" bIns="91425" anchor="t" anchorCtr="0">
            <a:normAutofit/>
          </a:bodyPr>
          <a:lstStyle/>
          <a:p>
            <a:pPr marL="0" lvl="0" indent="0" algn="l" rtl="0">
              <a:spcBef>
                <a:spcPts val="1200"/>
              </a:spcBef>
              <a:spcAft>
                <a:spcPts val="1200"/>
              </a:spcAft>
              <a:buNone/>
            </a:pPr>
            <a:r>
              <a:rPr lang="it-IT" sz="1400" dirty="0">
                <a:solidFill>
                  <a:schemeClr val="tx1"/>
                </a:solidFill>
              </a:rPr>
              <a:t>Table 1. Average prediction results obtained for the MONK’s task</a:t>
            </a:r>
            <a:endParaRPr sz="1400" dirty="0">
              <a:solidFill>
                <a:schemeClr val="tx1"/>
              </a:solidFill>
            </a:endParaRPr>
          </a:p>
        </p:txBody>
      </p:sp>
      <p:sp>
        <p:nvSpPr>
          <p:cNvPr id="88" name="Google Shape;88;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7</a:t>
            </a:fld>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67126" y="1497876"/>
            <a:ext cx="3914674" cy="341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1772222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it" b="1" dirty="0"/>
              <a:t>Monk Results – Monk1</a:t>
            </a:r>
            <a:endParaRPr b="1" dirty="0"/>
          </a:p>
        </p:txBody>
      </p:sp>
      <p:sp>
        <p:nvSpPr>
          <p:cNvPr id="94" name="Google Shape;94;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dirty="0"/>
          </a:p>
        </p:txBody>
      </p:sp>
      <p:sp>
        <p:nvSpPr>
          <p:cNvPr id="96" name="Google Shape;96;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8</a:t>
            </a:fld>
            <a:endParaRP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04232"/>
            <a:ext cx="4663440" cy="3532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10784" y="1101757"/>
            <a:ext cx="4657955" cy="3489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CasellaDiTesto 2">
            <a:extLst>
              <a:ext uri="{FF2B5EF4-FFF2-40B4-BE49-F238E27FC236}">
                <a16:creationId xmlns="" xmlns:a16="http://schemas.microsoft.com/office/drawing/2014/main" id="{E6F0429A-8514-B2B2-638D-F60A3BE23556}"/>
              </a:ext>
            </a:extLst>
          </p:cNvPr>
          <p:cNvSpPr txBox="1"/>
          <p:nvPr/>
        </p:nvSpPr>
        <p:spPr>
          <a:xfrm>
            <a:off x="2377440" y="4568875"/>
            <a:ext cx="4572000" cy="523220"/>
          </a:xfrm>
          <a:prstGeom prst="rect">
            <a:avLst/>
          </a:prstGeom>
          <a:noFill/>
        </p:spPr>
        <p:txBody>
          <a:bodyPr wrap="square">
            <a:spAutoFit/>
          </a:bodyPr>
          <a:lstStyle/>
          <a:p>
            <a:pPr marL="0" lvl="0" indent="0" algn="l" rtl="0">
              <a:spcBef>
                <a:spcPts val="1200"/>
              </a:spcBef>
              <a:spcAft>
                <a:spcPts val="1200"/>
              </a:spcAft>
              <a:buNone/>
            </a:pPr>
            <a:r>
              <a:rPr lang="it-IT" dirty="0"/>
              <a:t>Figure 1. Plot of MSE and </a:t>
            </a:r>
            <a:r>
              <a:rPr lang="it-IT" dirty="0" err="1"/>
              <a:t>Accuracy</a:t>
            </a:r>
            <a:r>
              <a:rPr lang="it-IT" dirty="0"/>
              <a:t> for Monk 1 (Training VS Test)</a:t>
            </a:r>
          </a:p>
        </p:txBody>
      </p:sp>
    </p:spTree>
    <p:extLst>
      <p:ext uri="{BB962C8B-B14F-4D97-AF65-F5344CB8AC3E}">
        <p14:creationId xmlns:p14="http://schemas.microsoft.com/office/powerpoint/2010/main" val="18053491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it" b="1" dirty="0"/>
              <a:t>Monk Results – Monk2</a:t>
            </a:r>
            <a:endParaRPr b="1" dirty="0"/>
          </a:p>
        </p:txBody>
      </p:sp>
      <p:sp>
        <p:nvSpPr>
          <p:cNvPr id="94" name="Google Shape;94;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dirty="0"/>
          </a:p>
        </p:txBody>
      </p:sp>
      <p:sp>
        <p:nvSpPr>
          <p:cNvPr id="96" name="Google Shape;96;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9</a:t>
            </a:fld>
            <a:endParaRPr/>
          </a:p>
        </p:txBody>
      </p:sp>
      <p:pic>
        <p:nvPicPr>
          <p:cNvPr id="4098"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b="227"/>
          <a:stretch/>
        </p:blipFill>
        <p:spPr bwMode="auto">
          <a:xfrm>
            <a:off x="0" y="1044673"/>
            <a:ext cx="4724400" cy="3524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73880" y="1004504"/>
            <a:ext cx="4770120" cy="3592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CasellaDiTesto 1">
            <a:extLst>
              <a:ext uri="{FF2B5EF4-FFF2-40B4-BE49-F238E27FC236}">
                <a16:creationId xmlns="" xmlns:a16="http://schemas.microsoft.com/office/drawing/2014/main" id="{06736186-71C0-4C8C-64C7-12896FA4E732}"/>
              </a:ext>
            </a:extLst>
          </p:cNvPr>
          <p:cNvSpPr txBox="1"/>
          <p:nvPr/>
        </p:nvSpPr>
        <p:spPr>
          <a:xfrm>
            <a:off x="2377440" y="4568875"/>
            <a:ext cx="4572000" cy="523220"/>
          </a:xfrm>
          <a:prstGeom prst="rect">
            <a:avLst/>
          </a:prstGeom>
          <a:noFill/>
        </p:spPr>
        <p:txBody>
          <a:bodyPr wrap="square">
            <a:spAutoFit/>
          </a:bodyPr>
          <a:lstStyle/>
          <a:p>
            <a:pPr marL="0" lvl="0" indent="0" algn="l" rtl="0">
              <a:spcBef>
                <a:spcPts val="1200"/>
              </a:spcBef>
              <a:spcAft>
                <a:spcPts val="1200"/>
              </a:spcAft>
              <a:buNone/>
            </a:pPr>
            <a:r>
              <a:rPr lang="it-IT" dirty="0"/>
              <a:t>Figure 2. Plot of MSE and </a:t>
            </a:r>
            <a:r>
              <a:rPr lang="it-IT" dirty="0" err="1"/>
              <a:t>Accuracy</a:t>
            </a:r>
            <a:r>
              <a:rPr lang="it-IT" dirty="0"/>
              <a:t> for Monk 2 (Training VS Test)</a:t>
            </a:r>
          </a:p>
        </p:txBody>
      </p:sp>
    </p:spTree>
    <p:extLst>
      <p:ext uri="{BB962C8B-B14F-4D97-AF65-F5344CB8AC3E}">
        <p14:creationId xmlns:p14="http://schemas.microsoft.com/office/powerpoint/2010/main" val="18053491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it" b="1" dirty="0"/>
              <a:t>Monk Results – Monk3 no regularization</a:t>
            </a:r>
            <a:endParaRPr b="1" dirty="0"/>
          </a:p>
        </p:txBody>
      </p:sp>
      <p:sp>
        <p:nvSpPr>
          <p:cNvPr id="94" name="Google Shape;94;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spcAft>
                <a:spcPts val="1200"/>
              </a:spcAft>
              <a:buNone/>
            </a:pPr>
            <a:r>
              <a:rPr lang="it-IT" dirty="0">
                <a:solidFill>
                  <a:schemeClr val="tx1"/>
                </a:solidFill>
              </a:rPr>
              <a:t>* </a:t>
            </a:r>
            <a:r>
              <a:rPr lang="en-US" sz="1400" dirty="0">
                <a:solidFill>
                  <a:schemeClr val="tx1"/>
                </a:solidFill>
              </a:rPr>
              <a:t>no regularization technique, whether implicit (early stopping) or explicit (Ridge/Lasso), is deliberately applied to highlight the onset of </a:t>
            </a:r>
            <a:r>
              <a:rPr lang="en-US" sz="1400" b="1" dirty="0">
                <a:solidFill>
                  <a:schemeClr val="tx1"/>
                </a:solidFill>
              </a:rPr>
              <a:t>overfitting</a:t>
            </a:r>
            <a:r>
              <a:rPr lang="en-US" sz="1400" dirty="0">
                <a:solidFill>
                  <a:schemeClr val="tx1"/>
                </a:solidFill>
              </a:rPr>
              <a:t> if the model is not appropriately regularized</a:t>
            </a:r>
            <a:endParaRPr sz="1400" dirty="0">
              <a:solidFill>
                <a:schemeClr val="tx1"/>
              </a:solidFill>
            </a:endParaRPr>
          </a:p>
        </p:txBody>
      </p:sp>
      <p:sp>
        <p:nvSpPr>
          <p:cNvPr id="96" name="Google Shape;96;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10</a:t>
            </a:fld>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822" y="1826318"/>
            <a:ext cx="3661207" cy="27425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9832" y="1826318"/>
            <a:ext cx="3612626" cy="2718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CasellaDiTesto 1">
            <a:extLst>
              <a:ext uri="{FF2B5EF4-FFF2-40B4-BE49-F238E27FC236}">
                <a16:creationId xmlns="" xmlns:a16="http://schemas.microsoft.com/office/drawing/2014/main" id="{4D8F670E-201B-E80A-24F5-F364E74CD596}"/>
              </a:ext>
            </a:extLst>
          </p:cNvPr>
          <p:cNvSpPr txBox="1"/>
          <p:nvPr/>
        </p:nvSpPr>
        <p:spPr>
          <a:xfrm>
            <a:off x="2377440" y="4568875"/>
            <a:ext cx="4572000" cy="523220"/>
          </a:xfrm>
          <a:prstGeom prst="rect">
            <a:avLst/>
          </a:prstGeom>
          <a:noFill/>
        </p:spPr>
        <p:txBody>
          <a:bodyPr wrap="square">
            <a:spAutoFit/>
          </a:bodyPr>
          <a:lstStyle/>
          <a:p>
            <a:pPr marL="0" lvl="0" indent="0" algn="l" rtl="0">
              <a:spcBef>
                <a:spcPts val="1200"/>
              </a:spcBef>
              <a:spcAft>
                <a:spcPts val="1200"/>
              </a:spcAft>
              <a:buNone/>
            </a:pPr>
            <a:r>
              <a:rPr lang="it-IT" dirty="0"/>
              <a:t>Figure 3. Plot of MSE and </a:t>
            </a:r>
            <a:r>
              <a:rPr lang="it-IT" dirty="0" err="1"/>
              <a:t>Accuracy</a:t>
            </a:r>
            <a:r>
              <a:rPr lang="it-IT" dirty="0"/>
              <a:t> for Monk 3 </a:t>
            </a:r>
            <a:r>
              <a:rPr lang="it-IT" dirty="0" err="1"/>
              <a:t>without</a:t>
            </a:r>
            <a:r>
              <a:rPr lang="it-IT" dirty="0"/>
              <a:t> </a:t>
            </a:r>
            <a:r>
              <a:rPr lang="it-IT" dirty="0" err="1"/>
              <a:t>regularization</a:t>
            </a:r>
            <a:r>
              <a:rPr lang="it-IT" dirty="0"/>
              <a:t>  (Training VS Test)</a:t>
            </a:r>
          </a:p>
        </p:txBody>
      </p:sp>
    </p:spTree>
    <p:extLst>
      <p:ext uri="{BB962C8B-B14F-4D97-AF65-F5344CB8AC3E}">
        <p14:creationId xmlns:p14="http://schemas.microsoft.com/office/powerpoint/2010/main" val="18053491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it" b="1" dirty="0"/>
              <a:t>Monk Results – Monk 3 with regularization </a:t>
            </a:r>
            <a:endParaRPr b="1" dirty="0"/>
          </a:p>
        </p:txBody>
      </p:sp>
      <p:sp>
        <p:nvSpPr>
          <p:cNvPr id="94" name="Google Shape;94;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dirty="0"/>
          </a:p>
        </p:txBody>
      </p:sp>
      <p:sp>
        <p:nvSpPr>
          <p:cNvPr id="96" name="Google Shape;96;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11</a:t>
            </a:fld>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 y="1090425"/>
            <a:ext cx="4461828" cy="3348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4208" y="1145124"/>
            <a:ext cx="4380937" cy="3293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CasellaDiTesto 1">
            <a:extLst>
              <a:ext uri="{FF2B5EF4-FFF2-40B4-BE49-F238E27FC236}">
                <a16:creationId xmlns="" xmlns:a16="http://schemas.microsoft.com/office/drawing/2014/main" id="{AD258E23-1598-AAA0-AF9F-58C62D788ACE}"/>
              </a:ext>
            </a:extLst>
          </p:cNvPr>
          <p:cNvSpPr txBox="1"/>
          <p:nvPr/>
        </p:nvSpPr>
        <p:spPr>
          <a:xfrm>
            <a:off x="2377440" y="4568875"/>
            <a:ext cx="4572000" cy="523220"/>
          </a:xfrm>
          <a:prstGeom prst="rect">
            <a:avLst/>
          </a:prstGeom>
          <a:noFill/>
        </p:spPr>
        <p:txBody>
          <a:bodyPr wrap="square">
            <a:spAutoFit/>
          </a:bodyPr>
          <a:lstStyle/>
          <a:p>
            <a:pPr marL="0" lvl="0" indent="0" algn="l" rtl="0">
              <a:spcBef>
                <a:spcPts val="1200"/>
              </a:spcBef>
              <a:spcAft>
                <a:spcPts val="1200"/>
              </a:spcAft>
              <a:buNone/>
            </a:pPr>
            <a:r>
              <a:rPr lang="it-IT" dirty="0"/>
              <a:t>Figure 4. Plot of MSE and </a:t>
            </a:r>
            <a:r>
              <a:rPr lang="it-IT" dirty="0" err="1"/>
              <a:t>Accuracy</a:t>
            </a:r>
            <a:r>
              <a:rPr lang="it-IT" dirty="0"/>
              <a:t> for Monk 3 with </a:t>
            </a:r>
            <a:r>
              <a:rPr lang="it-IT" dirty="0" err="1"/>
              <a:t>Regulatization</a:t>
            </a:r>
            <a:r>
              <a:rPr lang="it-IT" dirty="0"/>
              <a:t> (Training VS Test)</a:t>
            </a:r>
          </a:p>
        </p:txBody>
      </p:sp>
    </p:spTree>
    <p:extLst>
      <p:ext uri="{BB962C8B-B14F-4D97-AF65-F5344CB8AC3E}">
        <p14:creationId xmlns:p14="http://schemas.microsoft.com/office/powerpoint/2010/main" val="18053491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it" b="1" dirty="0"/>
              <a:t>CUP Validation schema: data splitting</a:t>
            </a:r>
            <a:endParaRPr lang="en-US" b="1"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 smtClean="0"/>
              <a:t>12</a:t>
            </a:fld>
            <a:endParaRPr lang="it"/>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1270" y="2304931"/>
            <a:ext cx="3924300" cy="892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411480" y="3651050"/>
            <a:ext cx="8321040" cy="1169551"/>
          </a:xfrm>
          <a:prstGeom prst="rect">
            <a:avLst/>
          </a:prstGeom>
          <a:noFill/>
        </p:spPr>
        <p:txBody>
          <a:bodyPr wrap="square" rtlCol="0">
            <a:spAutoFit/>
          </a:bodyPr>
          <a:lstStyle/>
          <a:p>
            <a:pPr marL="285750" indent="-285750">
              <a:buFontTx/>
              <a:buChar char="-"/>
            </a:pPr>
            <a:r>
              <a:rPr lang="it-IT" dirty="0">
                <a:solidFill>
                  <a:schemeClr val="tx1"/>
                </a:solidFill>
              </a:rPr>
              <a:t>After model selection </a:t>
            </a:r>
            <a:r>
              <a:rPr lang="it-IT" dirty="0">
                <a:solidFill>
                  <a:schemeClr val="tx1"/>
                </a:solidFill>
                <a:sym typeface="Wingdings" panose="05000000000000000000" pitchFamily="2" charset="2"/>
              </a:rPr>
              <a:t> retraining on entire Selection Set (Training + Validation)</a:t>
            </a:r>
          </a:p>
          <a:p>
            <a:pPr marL="285750" indent="-285750">
              <a:buFontTx/>
              <a:buChar char="-"/>
            </a:pPr>
            <a:r>
              <a:rPr lang="it-IT" dirty="0">
                <a:sym typeface="Wingdings" panose="05000000000000000000" pitchFamily="2" charset="2"/>
              </a:rPr>
              <a:t>After risk </a:t>
            </a:r>
            <a:r>
              <a:rPr lang="it-IT" dirty="0" err="1">
                <a:sym typeface="Wingdings" panose="05000000000000000000" pitchFamily="2" charset="2"/>
              </a:rPr>
              <a:t>assessment</a:t>
            </a:r>
            <a:r>
              <a:rPr lang="it-IT" dirty="0">
                <a:sym typeface="Wingdings" panose="05000000000000000000" pitchFamily="2" charset="2"/>
              </a:rPr>
              <a:t>  final retraining on the entire Dataset </a:t>
            </a:r>
            <a:r>
              <a:rPr lang="it-IT" dirty="0" smtClean="0">
                <a:sym typeface="Wingdings" panose="05000000000000000000" pitchFamily="2" charset="2"/>
              </a:rPr>
              <a:t>(</a:t>
            </a:r>
            <a:r>
              <a:rPr lang="it-IT" dirty="0">
                <a:sym typeface="Wingdings" panose="05000000000000000000" pitchFamily="2" charset="2"/>
              </a:rPr>
              <a:t>Training + Validation + Internal Test)</a:t>
            </a:r>
          </a:p>
          <a:p>
            <a:pPr marL="285750" indent="-285750">
              <a:buFontTx/>
              <a:buChar char="-"/>
            </a:pPr>
            <a:r>
              <a:rPr lang="it-IT" dirty="0"/>
              <a:t>For the final retraining, we did not have a validation set. </a:t>
            </a:r>
            <a:r>
              <a:rPr lang="en-US" dirty="0" smtClean="0"/>
              <a:t>Hence</a:t>
            </a:r>
            <a:r>
              <a:rPr lang="it-IT" dirty="0" smtClean="0"/>
              <a:t>, </a:t>
            </a:r>
            <a:r>
              <a:rPr lang="it-IT" dirty="0"/>
              <a:t>the training process was stopped when the training error on the entire dataset closely matched the error achieved by the same model during </a:t>
            </a:r>
            <a:r>
              <a:rPr lang="it-IT" dirty="0" smtClean="0"/>
              <a:t>the training in </a:t>
            </a:r>
            <a:r>
              <a:rPr lang="it-IT" dirty="0"/>
              <a:t>model selection </a:t>
            </a:r>
            <a:r>
              <a:rPr lang="it-IT" dirty="0" smtClean="0"/>
              <a:t>phase</a:t>
            </a:r>
            <a:endParaRPr lang="it-IT" dirty="0"/>
          </a:p>
        </p:txBody>
      </p:sp>
      <p:sp>
        <p:nvSpPr>
          <p:cNvPr id="6" name="TextBox 5"/>
          <p:cNvSpPr txBox="1"/>
          <p:nvPr/>
        </p:nvSpPr>
        <p:spPr>
          <a:xfrm>
            <a:off x="0" y="1135380"/>
            <a:ext cx="9144000" cy="1169551"/>
          </a:xfrm>
          <a:prstGeom prst="rect">
            <a:avLst/>
          </a:prstGeom>
          <a:noFill/>
        </p:spPr>
        <p:txBody>
          <a:bodyPr wrap="square" rtlCol="0">
            <a:spAutoFit/>
          </a:bodyPr>
          <a:lstStyle/>
          <a:p>
            <a:pPr marL="285750" indent="-285750">
              <a:buFontTx/>
              <a:buChar char="-"/>
            </a:pPr>
            <a:r>
              <a:rPr lang="it-IT" b="1" dirty="0"/>
              <a:t>hold-out</a:t>
            </a:r>
            <a:r>
              <a:rPr lang="it-IT" dirty="0"/>
              <a:t> technique to split the entire dataset in </a:t>
            </a:r>
            <a:r>
              <a:rPr lang="it-IT" b="1" dirty="0"/>
              <a:t>Selection Set </a:t>
            </a:r>
            <a:r>
              <a:rPr lang="it-IT" dirty="0"/>
              <a:t>(Training + </a:t>
            </a:r>
            <a:r>
              <a:rPr lang="it-IT" dirty="0" smtClean="0"/>
              <a:t>Validation</a:t>
            </a:r>
            <a:r>
              <a:rPr lang="it-IT" dirty="0"/>
              <a:t>, 80% of dataset) and </a:t>
            </a:r>
            <a:r>
              <a:rPr lang="it-IT" b="1" dirty="0"/>
              <a:t>Test set </a:t>
            </a:r>
            <a:r>
              <a:rPr lang="it-IT" dirty="0"/>
              <a:t>(20% of dataset)</a:t>
            </a:r>
          </a:p>
          <a:p>
            <a:pPr marL="285750" indent="-285750">
              <a:buFontTx/>
              <a:buChar char="-"/>
            </a:pPr>
            <a:r>
              <a:rPr lang="it-IT" b="1" dirty="0"/>
              <a:t>k-fold cross-validation</a:t>
            </a:r>
            <a:r>
              <a:rPr lang="it-IT" dirty="0"/>
              <a:t> technique (with </a:t>
            </a:r>
            <a:r>
              <a:rPr lang="it-IT" b="1" dirty="0"/>
              <a:t>k=4</a:t>
            </a:r>
            <a:r>
              <a:rPr lang="it-IT" dirty="0"/>
              <a:t>) to perform the model selection phase on the Selection Set</a:t>
            </a:r>
          </a:p>
          <a:p>
            <a:pPr marL="285750" indent="-285750">
              <a:buFontTx/>
              <a:buChar char="-"/>
            </a:pPr>
            <a:endParaRPr lang="it-IT" dirty="0"/>
          </a:p>
          <a:p>
            <a:pPr marL="285750" indent="-285750">
              <a:buFontTx/>
              <a:buChar char="-"/>
            </a:pPr>
            <a:endParaRPr lang="en-US" dirty="0"/>
          </a:p>
        </p:txBody>
      </p:sp>
    </p:spTree>
    <p:extLst>
      <p:ext uri="{BB962C8B-B14F-4D97-AF65-F5344CB8AC3E}">
        <p14:creationId xmlns:p14="http://schemas.microsoft.com/office/powerpoint/2010/main" val="31379285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it" b="1" dirty="0"/>
              <a:t>CUP Validation schema: model selection</a:t>
            </a:r>
            <a:endParaRPr b="1" dirty="0"/>
          </a:p>
        </p:txBody>
      </p:sp>
      <p:sp>
        <p:nvSpPr>
          <p:cNvPr id="110" name="Google Shape;110;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lvl="0">
              <a:spcBef>
                <a:spcPts val="1200"/>
              </a:spcBef>
              <a:buClr>
                <a:schemeClr val="dk1"/>
              </a:buClr>
              <a:buChar char="-"/>
            </a:pPr>
            <a:r>
              <a:rPr lang="en-US" sz="1400" dirty="0" smtClean="0">
                <a:solidFill>
                  <a:schemeClr val="tx1"/>
                </a:solidFill>
              </a:rPr>
              <a:t>In </a:t>
            </a:r>
            <a:r>
              <a:rPr lang="en-US" sz="1400" dirty="0">
                <a:solidFill>
                  <a:schemeClr val="tx1"/>
                </a:solidFill>
              </a:rPr>
              <a:t>order to choose the best hyperparameter configuration, a </a:t>
            </a:r>
            <a:r>
              <a:rPr lang="en-US" sz="1400" b="1" dirty="0">
                <a:solidFill>
                  <a:schemeClr val="tx1"/>
                </a:solidFill>
              </a:rPr>
              <a:t>grid search </a:t>
            </a:r>
            <a:r>
              <a:rPr lang="en-US" sz="1400" dirty="0">
                <a:solidFill>
                  <a:schemeClr val="tx1"/>
                </a:solidFill>
              </a:rPr>
              <a:t>was performed:</a:t>
            </a:r>
          </a:p>
          <a:p>
            <a:pPr lvl="1">
              <a:spcBef>
                <a:spcPts val="1200"/>
              </a:spcBef>
              <a:buClr>
                <a:schemeClr val="dk1"/>
              </a:buClr>
              <a:buFont typeface="Arial"/>
              <a:buChar char="-"/>
            </a:pPr>
            <a:r>
              <a:rPr lang="it-IT" dirty="0">
                <a:solidFill>
                  <a:schemeClr val="tx1"/>
                </a:solidFill>
              </a:rPr>
              <a:t>In each fold, 75% of the records it is used to train the model (Training Set) and the </a:t>
            </a:r>
            <a:r>
              <a:rPr lang="it-IT" dirty="0" smtClean="0">
                <a:solidFill>
                  <a:schemeClr val="tx1"/>
                </a:solidFill>
              </a:rPr>
              <a:t>remaining </a:t>
            </a:r>
            <a:r>
              <a:rPr lang="it-IT" dirty="0">
                <a:solidFill>
                  <a:schemeClr val="tx1"/>
                </a:solidFill>
              </a:rPr>
              <a:t>25% is used to compute the validation error for any possible candidate configuration. </a:t>
            </a:r>
            <a:r>
              <a:rPr lang="it-IT" dirty="0" smtClean="0">
                <a:solidFill>
                  <a:schemeClr val="tx1"/>
                </a:solidFill>
              </a:rPr>
              <a:t>Then, </a:t>
            </a:r>
            <a:r>
              <a:rPr lang="it-IT" dirty="0">
                <a:solidFill>
                  <a:schemeClr val="tx1"/>
                </a:solidFill>
              </a:rPr>
              <a:t>for each hyperparameter configuration, the average TR error and VL error is computed across the folds. At this point the selected configuration is the one with the minimum VL </a:t>
            </a:r>
            <a:r>
              <a:rPr lang="it-IT" dirty="0" smtClean="0">
                <a:solidFill>
                  <a:schemeClr val="tx1"/>
                </a:solidFill>
              </a:rPr>
              <a:t>error.</a:t>
            </a:r>
            <a:endParaRPr lang="it-IT" dirty="0">
              <a:solidFill>
                <a:schemeClr val="tx1"/>
              </a:solidFill>
            </a:endParaRPr>
          </a:p>
          <a:p>
            <a:pPr lvl="1">
              <a:spcBef>
                <a:spcPts val="1200"/>
              </a:spcBef>
              <a:buClr>
                <a:schemeClr val="dk1"/>
              </a:buClr>
              <a:buFont typeface="Arial"/>
              <a:buChar char="-"/>
            </a:pPr>
            <a:r>
              <a:rPr lang="it-IT" sz="1400" dirty="0">
                <a:solidFill>
                  <a:schemeClr val="tx1"/>
                </a:solidFill>
              </a:rPr>
              <a:t>First, a </a:t>
            </a:r>
            <a:r>
              <a:rPr lang="it-IT" sz="1400" b="1" dirty="0">
                <a:solidFill>
                  <a:schemeClr val="tx1"/>
                </a:solidFill>
              </a:rPr>
              <a:t>coarse-grained grid search </a:t>
            </a:r>
            <a:r>
              <a:rPr lang="it-IT" sz="1400" dirty="0">
                <a:solidFill>
                  <a:schemeClr val="tx1"/>
                </a:solidFill>
              </a:rPr>
              <a:t>was performed, followed by a </a:t>
            </a:r>
            <a:r>
              <a:rPr lang="it-IT" sz="1400" b="1" dirty="0">
                <a:solidFill>
                  <a:schemeClr val="tx1"/>
                </a:solidFill>
              </a:rPr>
              <a:t>finer-grained grid search</a:t>
            </a:r>
            <a:r>
              <a:rPr lang="it-IT" sz="1400" dirty="0">
                <a:solidFill>
                  <a:schemeClr val="tx1"/>
                </a:solidFill>
              </a:rPr>
              <a:t>,      restricting the search to the most promising ranges of the </a:t>
            </a:r>
            <a:r>
              <a:rPr lang="it-IT" sz="1400" dirty="0" smtClean="0">
                <a:solidFill>
                  <a:schemeClr val="tx1"/>
                </a:solidFill>
              </a:rPr>
              <a:t>hyperparameters.</a:t>
            </a:r>
          </a:p>
          <a:p>
            <a:pPr lvl="1">
              <a:spcBef>
                <a:spcPts val="1200"/>
              </a:spcBef>
              <a:buClr>
                <a:schemeClr val="dk1"/>
              </a:buClr>
              <a:buFont typeface="Arial"/>
              <a:buChar char="-"/>
            </a:pPr>
            <a:r>
              <a:rPr lang="en-US" dirty="0">
                <a:solidFill>
                  <a:schemeClr val="tx1"/>
                </a:solidFill>
              </a:rPr>
              <a:t>For each </a:t>
            </a:r>
            <a:r>
              <a:rPr lang="en-US" dirty="0" err="1">
                <a:solidFill>
                  <a:schemeClr val="tx1"/>
                </a:solidFill>
              </a:rPr>
              <a:t>hyperparameter</a:t>
            </a:r>
            <a:r>
              <a:rPr lang="en-US" dirty="0">
                <a:solidFill>
                  <a:schemeClr val="tx1"/>
                </a:solidFill>
              </a:rPr>
              <a:t> a wide range of values ​​was explored. Furthermore, various architectures were tested. </a:t>
            </a:r>
            <a:r>
              <a:rPr lang="en-US" dirty="0" smtClean="0">
                <a:solidFill>
                  <a:schemeClr val="tx1"/>
                </a:solidFill>
              </a:rPr>
              <a:t>In the following, </a:t>
            </a:r>
            <a:r>
              <a:rPr lang="en-US" dirty="0">
                <a:solidFill>
                  <a:schemeClr val="tx1"/>
                </a:solidFill>
              </a:rPr>
              <a:t>for each tested </a:t>
            </a:r>
            <a:r>
              <a:rPr lang="en-US" dirty="0" smtClean="0">
                <a:solidFill>
                  <a:schemeClr val="tx1"/>
                </a:solidFill>
              </a:rPr>
              <a:t>architecture some </a:t>
            </a:r>
            <a:r>
              <a:rPr lang="en-US" dirty="0">
                <a:solidFill>
                  <a:schemeClr val="tx1"/>
                </a:solidFill>
              </a:rPr>
              <a:t>significant results</a:t>
            </a:r>
            <a:r>
              <a:rPr lang="en-US" dirty="0"/>
              <a:t>.</a:t>
            </a:r>
            <a:endParaRPr lang="it-IT" sz="1400" dirty="0">
              <a:solidFill>
                <a:schemeClr val="tx1"/>
              </a:solidFill>
            </a:endParaRPr>
          </a:p>
          <a:p>
            <a:pPr lvl="1">
              <a:spcBef>
                <a:spcPts val="1200"/>
              </a:spcBef>
              <a:buClr>
                <a:schemeClr val="dk1"/>
              </a:buClr>
              <a:buFont typeface="Arial"/>
              <a:buChar char="-"/>
            </a:pPr>
            <a:endParaRPr lang="it-IT" dirty="0">
              <a:solidFill>
                <a:schemeClr val="tx1"/>
              </a:solidFill>
            </a:endParaRPr>
          </a:p>
          <a:p>
            <a:pPr lvl="1">
              <a:spcBef>
                <a:spcPts val="1200"/>
              </a:spcBef>
              <a:buClr>
                <a:schemeClr val="dk1"/>
              </a:buClr>
              <a:buChar char="-"/>
            </a:pPr>
            <a:endParaRPr lang="en-US" sz="1000" dirty="0">
              <a:solidFill>
                <a:schemeClr val="tx1"/>
              </a:solidFill>
            </a:endParaRPr>
          </a:p>
          <a:p>
            <a:pPr lvl="1">
              <a:spcBef>
                <a:spcPts val="1200"/>
              </a:spcBef>
              <a:buClr>
                <a:schemeClr val="dk1"/>
              </a:buClr>
              <a:buChar char="-"/>
            </a:pPr>
            <a:endParaRPr lang="en-US" sz="1000" dirty="0">
              <a:solidFill>
                <a:schemeClr val="tx1"/>
              </a:solidFill>
            </a:endParaRPr>
          </a:p>
          <a:p>
            <a:pPr marL="114300" indent="0">
              <a:spcBef>
                <a:spcPts val="1200"/>
              </a:spcBef>
              <a:buClr>
                <a:schemeClr val="dk1"/>
              </a:buClr>
              <a:buNone/>
            </a:pPr>
            <a:endParaRPr lang="it-IT" sz="1400" dirty="0">
              <a:solidFill>
                <a:schemeClr val="tx1"/>
              </a:solidFill>
            </a:endParaRPr>
          </a:p>
        </p:txBody>
      </p:sp>
      <p:sp>
        <p:nvSpPr>
          <p:cNvPr id="111" name="Google Shape;111;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13</a:t>
            </a:fld>
            <a:endParaRPr/>
          </a:p>
        </p:txBody>
      </p:sp>
    </p:spTree>
    <p:extLst>
      <p:ext uri="{BB962C8B-B14F-4D97-AF65-F5344CB8AC3E}">
        <p14:creationId xmlns:p14="http://schemas.microsoft.com/office/powerpoint/2010/main" val="357333959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 xmlns:a16="http://schemas.microsoft.com/office/drawing/2014/main" id="{7A4E4BA8-C5E8-0D49-82F8-38CF46DC4EFF}"/>
            </a:ext>
          </a:extLst>
        </p:cNvPr>
        <p:cNvGrpSpPr/>
        <p:nvPr/>
      </p:nvGrpSpPr>
      <p:grpSpPr>
        <a:xfrm>
          <a:off x="0" y="0"/>
          <a:ext cx="0" cy="0"/>
          <a:chOff x="0" y="0"/>
          <a:chExt cx="0" cy="0"/>
        </a:xfrm>
      </p:grpSpPr>
      <p:sp>
        <p:nvSpPr>
          <p:cNvPr id="109" name="Google Shape;109;p20">
            <a:extLst>
              <a:ext uri="{FF2B5EF4-FFF2-40B4-BE49-F238E27FC236}">
                <a16:creationId xmlns="" xmlns:a16="http://schemas.microsoft.com/office/drawing/2014/main" id="{D632FD13-CE5B-BC1F-4FD5-8F540453CB18}"/>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it-IT" sz="2800" b="1" dirty="0"/>
              <a:t>Architecture 1: [12,4,3] / [</a:t>
            </a:r>
            <a:r>
              <a:rPr lang="it-IT" sz="2800" b="1" dirty="0" err="1"/>
              <a:t>ELU,</a:t>
            </a:r>
            <a:r>
              <a:rPr lang="it-IT" b="1" dirty="0" err="1"/>
              <a:t>L</a:t>
            </a:r>
            <a:r>
              <a:rPr lang="it-IT" sz="2800" b="1" dirty="0" err="1"/>
              <a:t>inear</a:t>
            </a:r>
            <a:r>
              <a:rPr lang="it-IT" sz="2800" b="1" dirty="0"/>
              <a:t>]</a:t>
            </a:r>
            <a:br>
              <a:rPr lang="it-IT" sz="2800" b="1" dirty="0"/>
            </a:br>
            <a:endParaRPr b="1" dirty="0"/>
          </a:p>
        </p:txBody>
      </p:sp>
      <p:sp>
        <p:nvSpPr>
          <p:cNvPr id="111" name="Google Shape;111;p20">
            <a:extLst>
              <a:ext uri="{FF2B5EF4-FFF2-40B4-BE49-F238E27FC236}">
                <a16:creationId xmlns="" xmlns:a16="http://schemas.microsoft.com/office/drawing/2014/main" id="{DCD382A3-9297-73A6-BA6E-DFA165B37034}"/>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14</a:t>
            </a:fld>
            <a:endParaRPr/>
          </a:p>
        </p:txBody>
      </p:sp>
      <p:graphicFrame>
        <p:nvGraphicFramePr>
          <p:cNvPr id="4" name="Tabella 3">
            <a:extLst>
              <a:ext uri="{FF2B5EF4-FFF2-40B4-BE49-F238E27FC236}">
                <a16:creationId xmlns="" xmlns:a16="http://schemas.microsoft.com/office/drawing/2014/main" id="{3E68D137-A082-67D8-4696-8D33146F6F39}"/>
              </a:ext>
            </a:extLst>
          </p:cNvPr>
          <p:cNvGraphicFramePr>
            <a:graphicFrameLocks noGrp="1"/>
          </p:cNvGraphicFramePr>
          <p:nvPr>
            <p:extLst>
              <p:ext uri="{D42A27DB-BD31-4B8C-83A1-F6EECF244321}">
                <p14:modId xmlns:p14="http://schemas.microsoft.com/office/powerpoint/2010/main" val="936922294"/>
              </p:ext>
            </p:extLst>
          </p:nvPr>
        </p:nvGraphicFramePr>
        <p:xfrm>
          <a:off x="146136" y="1470501"/>
          <a:ext cx="8875022" cy="1103264"/>
        </p:xfrm>
        <a:graphic>
          <a:graphicData uri="http://schemas.openxmlformats.org/drawingml/2006/table">
            <a:tbl>
              <a:tblPr firstRow="1" bandRow="1">
                <a:tableStyleId>{5940675A-B579-460E-94D1-54222C63F5DA}</a:tableStyleId>
              </a:tblPr>
              <a:tblGrid>
                <a:gridCol w="441711">
                  <a:extLst>
                    <a:ext uri="{9D8B030D-6E8A-4147-A177-3AD203B41FA5}">
                      <a16:colId xmlns="" xmlns:a16="http://schemas.microsoft.com/office/drawing/2014/main" val="731556087"/>
                    </a:ext>
                  </a:extLst>
                </a:gridCol>
                <a:gridCol w="647593">
                  <a:extLst>
                    <a:ext uri="{9D8B030D-6E8A-4147-A177-3AD203B41FA5}">
                      <a16:colId xmlns="" xmlns:a16="http://schemas.microsoft.com/office/drawing/2014/main" val="2288799742"/>
                    </a:ext>
                  </a:extLst>
                </a:gridCol>
                <a:gridCol w="728698">
                  <a:extLst>
                    <a:ext uri="{9D8B030D-6E8A-4147-A177-3AD203B41FA5}">
                      <a16:colId xmlns="" xmlns:a16="http://schemas.microsoft.com/office/drawing/2014/main" val="416376318"/>
                    </a:ext>
                  </a:extLst>
                </a:gridCol>
                <a:gridCol w="422994">
                  <a:extLst>
                    <a:ext uri="{9D8B030D-6E8A-4147-A177-3AD203B41FA5}">
                      <a16:colId xmlns="" xmlns:a16="http://schemas.microsoft.com/office/drawing/2014/main" val="2127937263"/>
                    </a:ext>
                  </a:extLst>
                </a:gridCol>
                <a:gridCol w="816042">
                  <a:extLst>
                    <a:ext uri="{9D8B030D-6E8A-4147-A177-3AD203B41FA5}">
                      <a16:colId xmlns="" xmlns:a16="http://schemas.microsoft.com/office/drawing/2014/main" val="2095147630"/>
                    </a:ext>
                  </a:extLst>
                </a:gridCol>
                <a:gridCol w="616399">
                  <a:extLst>
                    <a:ext uri="{9D8B030D-6E8A-4147-A177-3AD203B41FA5}">
                      <a16:colId xmlns="" xmlns:a16="http://schemas.microsoft.com/office/drawing/2014/main" val="631079797"/>
                    </a:ext>
                  </a:extLst>
                </a:gridCol>
                <a:gridCol w="597682">
                  <a:extLst>
                    <a:ext uri="{9D8B030D-6E8A-4147-A177-3AD203B41FA5}">
                      <a16:colId xmlns="" xmlns:a16="http://schemas.microsoft.com/office/drawing/2014/main" val="308787855"/>
                    </a:ext>
                  </a:extLst>
                </a:gridCol>
                <a:gridCol w="522816">
                  <a:extLst>
                    <a:ext uri="{9D8B030D-6E8A-4147-A177-3AD203B41FA5}">
                      <a16:colId xmlns="" xmlns:a16="http://schemas.microsoft.com/office/drawing/2014/main" val="3508982912"/>
                    </a:ext>
                  </a:extLst>
                </a:gridCol>
                <a:gridCol w="488502">
                  <a:extLst>
                    <a:ext uri="{9D8B030D-6E8A-4147-A177-3AD203B41FA5}">
                      <a16:colId xmlns="" xmlns:a16="http://schemas.microsoft.com/office/drawing/2014/main" val="1481393494"/>
                    </a:ext>
                  </a:extLst>
                </a:gridCol>
                <a:gridCol w="865310">
                  <a:extLst>
                    <a:ext uri="{9D8B030D-6E8A-4147-A177-3AD203B41FA5}">
                      <a16:colId xmlns="" xmlns:a16="http://schemas.microsoft.com/office/drawing/2014/main" val="2116244874"/>
                    </a:ext>
                  </a:extLst>
                </a:gridCol>
                <a:gridCol w="865310">
                  <a:extLst>
                    <a:ext uri="{9D8B030D-6E8A-4147-A177-3AD203B41FA5}">
                      <a16:colId xmlns="" xmlns:a16="http://schemas.microsoft.com/office/drawing/2014/main" val="2496640819"/>
                    </a:ext>
                  </a:extLst>
                </a:gridCol>
                <a:gridCol w="976031">
                  <a:extLst>
                    <a:ext uri="{9D8B030D-6E8A-4147-A177-3AD203B41FA5}">
                      <a16:colId xmlns="" xmlns:a16="http://schemas.microsoft.com/office/drawing/2014/main" val="1055177474"/>
                    </a:ext>
                  </a:extLst>
                </a:gridCol>
                <a:gridCol w="885934">
                  <a:extLst>
                    <a:ext uri="{9D8B030D-6E8A-4147-A177-3AD203B41FA5}">
                      <a16:colId xmlns="" xmlns:a16="http://schemas.microsoft.com/office/drawing/2014/main" val="1184326143"/>
                    </a:ext>
                  </a:extLst>
                </a:gridCol>
              </a:tblGrid>
              <a:tr h="489563">
                <a:tc>
                  <a:txBody>
                    <a:bodyPr/>
                    <a:lstStyle/>
                    <a:p>
                      <a:r>
                        <a:rPr lang="it-IT" sz="900" b="1" dirty="0"/>
                        <a:t>Eta0</a:t>
                      </a:r>
                    </a:p>
                  </a:txBody>
                  <a:tcPr>
                    <a:solidFill>
                      <a:schemeClr val="tx2"/>
                    </a:solidFill>
                  </a:tcPr>
                </a:tc>
                <a:tc>
                  <a:txBody>
                    <a:bodyPr/>
                    <a:lstStyle/>
                    <a:p>
                      <a:r>
                        <a:rPr lang="it-IT" sz="900" b="1" dirty="0" err="1"/>
                        <a:t>EtaFinal</a:t>
                      </a:r>
                      <a:endParaRPr lang="it-IT" sz="900" b="1" dirty="0"/>
                    </a:p>
                  </a:txBody>
                  <a:tcP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1" dirty="0"/>
                        <a:t>Lambda</a:t>
                      </a:r>
                    </a:p>
                    <a:p>
                      <a:endParaRPr lang="it-IT" sz="900" b="1" dirty="0"/>
                    </a:p>
                  </a:txBody>
                  <a:tcPr>
                    <a:solidFill>
                      <a:schemeClr val="tx2"/>
                    </a:solidFill>
                  </a:tcPr>
                </a:tc>
                <a:tc>
                  <a:txBody>
                    <a:bodyPr/>
                    <a:lstStyle/>
                    <a:p>
                      <a:r>
                        <a:rPr lang="it-IT" sz="900" b="1" dirty="0"/>
                        <a:t>Alfa</a:t>
                      </a:r>
                    </a:p>
                  </a:txBody>
                  <a:tcPr>
                    <a:solidFill>
                      <a:schemeClr val="tx2"/>
                    </a:solidFill>
                  </a:tcPr>
                </a:tc>
                <a:tc>
                  <a:txBody>
                    <a:bodyPr/>
                    <a:lstStyle/>
                    <a:p>
                      <a:r>
                        <a:rPr lang="it-IT" sz="900" b="1" dirty="0" err="1"/>
                        <a:t>Weight_Init</a:t>
                      </a:r>
                      <a:endParaRPr lang="it-IT" sz="900" b="1" dirty="0"/>
                    </a:p>
                  </a:txBody>
                  <a:tcPr>
                    <a:solidFill>
                      <a:schemeClr val="tx2"/>
                    </a:solidFill>
                  </a:tcPr>
                </a:tc>
                <a:tc>
                  <a:txBody>
                    <a:bodyPr/>
                    <a:lstStyle/>
                    <a:p>
                      <a:r>
                        <a:rPr lang="it-IT" sz="900" b="1" dirty="0" err="1"/>
                        <a:t>Epochs</a:t>
                      </a:r>
                      <a:endParaRPr lang="it-IT" sz="900" b="1" dirty="0"/>
                    </a:p>
                  </a:txBody>
                  <a:tcPr>
                    <a:solidFill>
                      <a:schemeClr val="tx2"/>
                    </a:solidFill>
                  </a:tcPr>
                </a:tc>
                <a:tc>
                  <a:txBody>
                    <a:bodyPr/>
                    <a:lstStyle/>
                    <a:p>
                      <a:r>
                        <a:rPr lang="it-IT" sz="900" b="1" dirty="0" err="1"/>
                        <a:t>Restart</a:t>
                      </a:r>
                      <a:endParaRPr lang="it-IT" sz="900" b="1" dirty="0"/>
                    </a:p>
                  </a:txBody>
                  <a:tcPr>
                    <a:solidFill>
                      <a:schemeClr val="tx2"/>
                    </a:solidFill>
                  </a:tcPr>
                </a:tc>
                <a:tc>
                  <a:txBody>
                    <a:bodyPr/>
                    <a:lstStyle/>
                    <a:p>
                      <a:r>
                        <a:rPr lang="it-IT" sz="900" b="1" dirty="0"/>
                        <a:t>Batch</a:t>
                      </a:r>
                    </a:p>
                  </a:txBody>
                  <a:tcPr>
                    <a:solidFill>
                      <a:schemeClr val="tx2"/>
                    </a:solidFill>
                  </a:tcPr>
                </a:tc>
                <a:tc>
                  <a:txBody>
                    <a:bodyPr/>
                    <a:lstStyle/>
                    <a:p>
                      <a:r>
                        <a:rPr lang="it-IT" sz="900" b="1" dirty="0"/>
                        <a:t>Tau</a:t>
                      </a:r>
                    </a:p>
                  </a:txBody>
                  <a:tcPr>
                    <a:solidFill>
                      <a:schemeClr val="tx2"/>
                    </a:solidFill>
                  </a:tcPr>
                </a:tc>
                <a:tc>
                  <a:txBody>
                    <a:bodyPr/>
                    <a:lstStyle/>
                    <a:p>
                      <a:r>
                        <a:rPr lang="it-IT" sz="900" b="1" dirty="0" err="1"/>
                        <a:t>TR_Error</a:t>
                      </a:r>
                      <a:r>
                        <a:rPr lang="it-IT" sz="900" b="1" dirty="0"/>
                        <a:t> (MSE)</a:t>
                      </a:r>
                    </a:p>
                  </a:txBody>
                  <a:tcP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1" dirty="0" err="1"/>
                        <a:t>TR_Error</a:t>
                      </a:r>
                      <a:r>
                        <a:rPr lang="it-IT" sz="900" b="1" dirty="0"/>
                        <a:t> (MEE)</a:t>
                      </a:r>
                    </a:p>
                    <a:p>
                      <a:endParaRPr lang="it-IT" sz="900" b="1" dirty="0"/>
                    </a:p>
                  </a:txBody>
                  <a:tcP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1" dirty="0" err="1"/>
                        <a:t>VAL_Error</a:t>
                      </a:r>
                      <a:r>
                        <a:rPr lang="it-IT" sz="900" b="1" dirty="0"/>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1" dirty="0"/>
                        <a:t>(MSE)</a:t>
                      </a:r>
                    </a:p>
                    <a:p>
                      <a:endParaRPr lang="it-IT" sz="900" b="1" dirty="0"/>
                    </a:p>
                  </a:txBody>
                  <a:tcP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1" dirty="0" err="1"/>
                        <a:t>VAL_Error</a:t>
                      </a:r>
                      <a:r>
                        <a:rPr lang="it-IT" sz="900" b="1" dirty="0"/>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1" dirty="0"/>
                        <a:t>(MEE)</a:t>
                      </a:r>
                    </a:p>
                    <a:p>
                      <a:endParaRPr lang="it-IT" sz="900" b="1" dirty="0"/>
                    </a:p>
                  </a:txBody>
                  <a:tcPr>
                    <a:solidFill>
                      <a:schemeClr val="tx2"/>
                    </a:solidFill>
                  </a:tcPr>
                </a:tc>
                <a:extLst>
                  <a:ext uri="{0D108BD9-81ED-4DB2-BD59-A6C34878D82A}">
                    <a16:rowId xmlns="" xmlns:a16="http://schemas.microsoft.com/office/drawing/2014/main" val="1201224141"/>
                  </a:ext>
                </a:extLst>
              </a:tr>
              <a:tr h="300172">
                <a:tc>
                  <a:txBody>
                    <a:bodyPr/>
                    <a:lstStyle/>
                    <a:p>
                      <a:r>
                        <a:rPr lang="it-IT" sz="1000" dirty="0"/>
                        <a:t>0.01</a:t>
                      </a:r>
                    </a:p>
                  </a:txBody>
                  <a:tcPr/>
                </a:tc>
                <a:tc>
                  <a:txBody>
                    <a:bodyPr/>
                    <a:lstStyle/>
                    <a:p>
                      <a:r>
                        <a:rPr lang="it-IT" sz="1000" dirty="0"/>
                        <a:t>0.01</a:t>
                      </a:r>
                    </a:p>
                  </a:txBody>
                  <a:tcPr/>
                </a:tc>
                <a:tc>
                  <a:txBody>
                    <a:bodyPr/>
                    <a:lstStyle/>
                    <a:p>
                      <a:r>
                        <a:rPr lang="it-IT" sz="1000" dirty="0"/>
                        <a:t>0.00001</a:t>
                      </a:r>
                    </a:p>
                  </a:txBody>
                  <a:tcPr/>
                </a:tc>
                <a:tc>
                  <a:txBody>
                    <a:bodyPr/>
                    <a:lstStyle/>
                    <a:p>
                      <a:r>
                        <a:rPr lang="it-IT" sz="1000" dirty="0"/>
                        <a:t>0.6</a:t>
                      </a:r>
                    </a:p>
                  </a:txBody>
                  <a:tcPr/>
                </a:tc>
                <a:tc>
                  <a:txBody>
                    <a:bodyPr/>
                    <a:lstStyle/>
                    <a:p>
                      <a:r>
                        <a:rPr lang="it-IT" sz="1000" dirty="0" err="1"/>
                        <a:t>xavier</a:t>
                      </a:r>
                      <a:endParaRPr lang="it-IT" sz="1000" dirty="0"/>
                    </a:p>
                  </a:txBody>
                  <a:tcPr/>
                </a:tc>
                <a:tc>
                  <a:txBody>
                    <a:bodyPr/>
                    <a:lstStyle/>
                    <a:p>
                      <a:r>
                        <a:rPr lang="it-IT" sz="1000" dirty="0"/>
                        <a:t>1000</a:t>
                      </a:r>
                    </a:p>
                  </a:txBody>
                  <a:tcPr/>
                </a:tc>
                <a:tc>
                  <a:txBody>
                    <a:bodyPr/>
                    <a:lstStyle/>
                    <a:p>
                      <a:r>
                        <a:rPr lang="it-IT" sz="1000" dirty="0"/>
                        <a:t>20</a:t>
                      </a:r>
                    </a:p>
                  </a:txBody>
                  <a:tcPr/>
                </a:tc>
                <a:tc>
                  <a:txBody>
                    <a:bodyPr/>
                    <a:lstStyle/>
                    <a:p>
                      <a:r>
                        <a:rPr lang="it-IT" sz="1000" dirty="0"/>
                        <a:t>64</a:t>
                      </a:r>
                    </a:p>
                  </a:txBody>
                  <a:tcPr/>
                </a:tc>
                <a:tc>
                  <a:txBody>
                    <a:bodyPr/>
                    <a:lstStyle/>
                    <a:p>
                      <a:r>
                        <a:rPr lang="it-IT" sz="1000" dirty="0"/>
                        <a:t>1000</a:t>
                      </a:r>
                    </a:p>
                  </a:txBody>
                  <a:tcPr/>
                </a:tc>
                <a:tc>
                  <a:txBody>
                    <a:bodyPr/>
                    <a:lstStyle/>
                    <a:p>
                      <a:r>
                        <a:rPr lang="it-IT" sz="1000" dirty="0"/>
                        <a:t>0.296</a:t>
                      </a:r>
                    </a:p>
                  </a:txBody>
                  <a:tcPr/>
                </a:tc>
                <a:tc>
                  <a:txBody>
                    <a:bodyPr/>
                    <a:lstStyle/>
                    <a:p>
                      <a:r>
                        <a:rPr lang="it-IT" sz="1000" dirty="0"/>
                        <a:t>0.841</a:t>
                      </a:r>
                    </a:p>
                  </a:txBody>
                  <a:tcPr/>
                </a:tc>
                <a:tc>
                  <a:txBody>
                    <a:bodyPr/>
                    <a:lstStyle/>
                    <a:p>
                      <a:r>
                        <a:rPr lang="it-IT" sz="1000" dirty="0"/>
                        <a:t>0.314</a:t>
                      </a:r>
                    </a:p>
                  </a:txBody>
                  <a:tcPr/>
                </a:tc>
                <a:tc>
                  <a:txBody>
                    <a:bodyPr/>
                    <a:lstStyle/>
                    <a:p>
                      <a:r>
                        <a:rPr lang="it-IT" sz="1000" dirty="0"/>
                        <a:t>0.879</a:t>
                      </a:r>
                    </a:p>
                  </a:txBody>
                  <a:tcPr/>
                </a:tc>
                <a:extLst>
                  <a:ext uri="{0D108BD9-81ED-4DB2-BD59-A6C34878D82A}">
                    <a16:rowId xmlns="" xmlns:a16="http://schemas.microsoft.com/office/drawing/2014/main" val="418523280"/>
                  </a:ext>
                </a:extLst>
              </a:tr>
              <a:tr h="300172">
                <a:tc>
                  <a:txBody>
                    <a:bodyPr/>
                    <a:lstStyle/>
                    <a:p>
                      <a:r>
                        <a:rPr lang="it-IT" sz="1000" dirty="0"/>
                        <a:t>0.01</a:t>
                      </a:r>
                    </a:p>
                  </a:txBody>
                  <a:tcPr/>
                </a:tc>
                <a:tc>
                  <a:txBody>
                    <a:bodyPr/>
                    <a:lstStyle/>
                    <a:p>
                      <a:r>
                        <a:rPr lang="it-IT" sz="1000" dirty="0"/>
                        <a:t>0.001</a:t>
                      </a:r>
                    </a:p>
                  </a:txBody>
                  <a:tcPr/>
                </a:tc>
                <a:tc>
                  <a:txBody>
                    <a:bodyPr/>
                    <a:lstStyle/>
                    <a:p>
                      <a:r>
                        <a:rPr lang="it-IT" sz="1000" dirty="0"/>
                        <a:t>0.000001</a:t>
                      </a:r>
                    </a:p>
                  </a:txBody>
                  <a:tcPr/>
                </a:tc>
                <a:tc>
                  <a:txBody>
                    <a:bodyPr/>
                    <a:lstStyle/>
                    <a:p>
                      <a:r>
                        <a:rPr lang="it-IT" sz="1000" dirty="0"/>
                        <a:t>0.6</a:t>
                      </a:r>
                    </a:p>
                  </a:txBody>
                  <a:tcPr/>
                </a:tc>
                <a:tc>
                  <a:txBody>
                    <a:bodyPr/>
                    <a:lstStyle/>
                    <a:p>
                      <a:r>
                        <a:rPr lang="it-IT" sz="1000" dirty="0" err="1"/>
                        <a:t>xavier</a:t>
                      </a:r>
                      <a:endParaRPr lang="it-IT" sz="1000" dirty="0"/>
                    </a:p>
                  </a:txBody>
                  <a:tcPr/>
                </a:tc>
                <a:tc>
                  <a:txBody>
                    <a:bodyPr/>
                    <a:lstStyle/>
                    <a:p>
                      <a:r>
                        <a:rPr lang="it-IT" sz="1000" dirty="0"/>
                        <a:t>1000</a:t>
                      </a:r>
                    </a:p>
                  </a:txBody>
                  <a:tcPr/>
                </a:tc>
                <a:tc>
                  <a:txBody>
                    <a:bodyPr/>
                    <a:lstStyle/>
                    <a:p>
                      <a:r>
                        <a:rPr lang="it-IT" sz="1000" dirty="0"/>
                        <a:t>20</a:t>
                      </a:r>
                    </a:p>
                  </a:txBody>
                  <a:tcPr/>
                </a:tc>
                <a:tc>
                  <a:txBody>
                    <a:bodyPr/>
                    <a:lstStyle/>
                    <a:p>
                      <a:r>
                        <a:rPr lang="it-IT" sz="1000" dirty="0"/>
                        <a:t>None</a:t>
                      </a:r>
                    </a:p>
                  </a:txBody>
                  <a:tcPr/>
                </a:tc>
                <a:tc>
                  <a:txBody>
                    <a:bodyPr/>
                    <a:lstStyle/>
                    <a:p>
                      <a:r>
                        <a:rPr lang="it-IT" sz="1000" dirty="0"/>
                        <a:t>1000</a:t>
                      </a:r>
                    </a:p>
                  </a:txBody>
                  <a:tcPr/>
                </a:tc>
                <a:tc>
                  <a:txBody>
                    <a:bodyPr/>
                    <a:lstStyle/>
                    <a:p>
                      <a:r>
                        <a:rPr lang="it-IT" sz="1000" dirty="0"/>
                        <a:t>0.305</a:t>
                      </a:r>
                    </a:p>
                  </a:txBody>
                  <a:tcPr/>
                </a:tc>
                <a:tc>
                  <a:txBody>
                    <a:bodyPr/>
                    <a:lstStyle/>
                    <a:p>
                      <a:r>
                        <a:rPr lang="it-IT" sz="1000" dirty="0"/>
                        <a:t>0.911</a:t>
                      </a:r>
                    </a:p>
                  </a:txBody>
                  <a:tcPr/>
                </a:tc>
                <a:tc>
                  <a:txBody>
                    <a:bodyPr/>
                    <a:lstStyle/>
                    <a:p>
                      <a:r>
                        <a:rPr lang="it-IT" sz="1000" dirty="0"/>
                        <a:t>0.398</a:t>
                      </a:r>
                    </a:p>
                  </a:txBody>
                  <a:tcPr/>
                </a:tc>
                <a:tc>
                  <a:txBody>
                    <a:bodyPr/>
                    <a:lstStyle/>
                    <a:p>
                      <a:r>
                        <a:rPr lang="it-IT" sz="1000" dirty="0"/>
                        <a:t>0.888</a:t>
                      </a:r>
                    </a:p>
                  </a:txBody>
                  <a:tcPr/>
                </a:tc>
                <a:extLst>
                  <a:ext uri="{0D108BD9-81ED-4DB2-BD59-A6C34878D82A}">
                    <a16:rowId xmlns="" xmlns:a16="http://schemas.microsoft.com/office/drawing/2014/main" val="2100752445"/>
                  </a:ext>
                </a:extLst>
              </a:tr>
            </a:tbl>
          </a:graphicData>
        </a:graphic>
      </p:graphicFrame>
      <p:sp>
        <p:nvSpPr>
          <p:cNvPr id="5" name="Segnaposto testo 2">
            <a:extLst>
              <a:ext uri="{FF2B5EF4-FFF2-40B4-BE49-F238E27FC236}">
                <a16:creationId xmlns="" xmlns:a16="http://schemas.microsoft.com/office/drawing/2014/main" id="{C623BA24-46FF-0B8A-C012-8E71718EE844}"/>
              </a:ext>
            </a:extLst>
          </p:cNvPr>
          <p:cNvSpPr>
            <a:spLocks noGrp="1"/>
          </p:cNvSpPr>
          <p:nvPr>
            <p:ph type="body" idx="1"/>
          </p:nvPr>
        </p:nvSpPr>
        <p:spPr>
          <a:xfrm>
            <a:off x="1629210" y="2891732"/>
            <a:ext cx="6540049" cy="1606002"/>
          </a:xfrm>
        </p:spPr>
        <p:txBody>
          <a:bodyPr>
            <a:normAutofit/>
          </a:bodyPr>
          <a:lstStyle/>
          <a:p>
            <a:pPr marL="596900" lvl="1" indent="0">
              <a:buNone/>
            </a:pPr>
            <a:r>
              <a:rPr lang="it-IT" sz="800" dirty="0"/>
              <a:t>	</a:t>
            </a:r>
            <a:endParaRPr lang="it-IT" dirty="0"/>
          </a:p>
          <a:p>
            <a:endParaRPr lang="it-IT"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4741" y="2627739"/>
            <a:ext cx="2555113" cy="1930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39521" y="2620228"/>
            <a:ext cx="2479088" cy="1877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CasellaDiTesto 1">
            <a:extLst>
              <a:ext uri="{FF2B5EF4-FFF2-40B4-BE49-F238E27FC236}">
                <a16:creationId xmlns="" xmlns:a16="http://schemas.microsoft.com/office/drawing/2014/main" id="{F7E1E47C-E7B7-B368-99B6-26A90376A3AA}"/>
              </a:ext>
            </a:extLst>
          </p:cNvPr>
          <p:cNvSpPr txBox="1"/>
          <p:nvPr/>
        </p:nvSpPr>
        <p:spPr>
          <a:xfrm>
            <a:off x="2377440" y="4568875"/>
            <a:ext cx="4671312" cy="523220"/>
          </a:xfrm>
          <a:prstGeom prst="rect">
            <a:avLst/>
          </a:prstGeom>
          <a:noFill/>
        </p:spPr>
        <p:txBody>
          <a:bodyPr wrap="square">
            <a:spAutoFit/>
          </a:bodyPr>
          <a:lstStyle/>
          <a:p>
            <a:pPr marL="0" lvl="0" indent="0" algn="l" rtl="0">
              <a:spcBef>
                <a:spcPts val="1200"/>
              </a:spcBef>
              <a:spcAft>
                <a:spcPts val="1200"/>
              </a:spcAft>
              <a:buNone/>
            </a:pPr>
            <a:r>
              <a:rPr lang="it-IT" dirty="0"/>
              <a:t>Figure 5. Plot of </a:t>
            </a:r>
            <a:r>
              <a:rPr lang="it-IT" dirty="0" smtClean="0"/>
              <a:t>MEE &amp; </a:t>
            </a:r>
            <a:r>
              <a:rPr lang="it-IT" dirty="0"/>
              <a:t>MSE for ML </a:t>
            </a:r>
            <a:r>
              <a:rPr lang="it-IT" dirty="0" smtClean="0"/>
              <a:t>Cup, </a:t>
            </a:r>
            <a:r>
              <a:rPr lang="it-IT" dirty="0"/>
              <a:t>Architecture </a:t>
            </a:r>
            <a:r>
              <a:rPr lang="it-IT" dirty="0" smtClean="0"/>
              <a:t>1, </a:t>
            </a:r>
            <a:r>
              <a:rPr lang="it-IT" dirty="0"/>
              <a:t>best result (Training VS Validation)</a:t>
            </a:r>
          </a:p>
        </p:txBody>
      </p:sp>
      <p:sp>
        <p:nvSpPr>
          <p:cNvPr id="6" name="CasellaDiTesto 5">
            <a:extLst>
              <a:ext uri="{FF2B5EF4-FFF2-40B4-BE49-F238E27FC236}">
                <a16:creationId xmlns="" xmlns:a16="http://schemas.microsoft.com/office/drawing/2014/main" id="{DA7CFF07-F942-A14F-3019-6AD20C4C23AB}"/>
              </a:ext>
            </a:extLst>
          </p:cNvPr>
          <p:cNvSpPr txBox="1"/>
          <p:nvPr/>
        </p:nvSpPr>
        <p:spPr>
          <a:xfrm>
            <a:off x="1525713" y="1074082"/>
            <a:ext cx="6643546" cy="307777"/>
          </a:xfrm>
          <a:prstGeom prst="rect">
            <a:avLst/>
          </a:prstGeom>
          <a:noFill/>
        </p:spPr>
        <p:txBody>
          <a:bodyPr wrap="square">
            <a:spAutoFit/>
          </a:bodyPr>
          <a:lstStyle/>
          <a:p>
            <a:pPr marL="0" lvl="0" indent="0" algn="l" rtl="0">
              <a:spcBef>
                <a:spcPts val="1200"/>
              </a:spcBef>
              <a:spcAft>
                <a:spcPts val="1200"/>
              </a:spcAft>
              <a:buNone/>
            </a:pPr>
            <a:r>
              <a:rPr lang="it-IT" dirty="0" err="1">
                <a:solidFill>
                  <a:schemeClr val="tx1"/>
                </a:solidFill>
              </a:rPr>
              <a:t>Table</a:t>
            </a:r>
            <a:r>
              <a:rPr lang="it-IT" dirty="0">
                <a:solidFill>
                  <a:schemeClr val="tx1"/>
                </a:solidFill>
              </a:rPr>
              <a:t> 2. </a:t>
            </a:r>
            <a:r>
              <a:rPr lang="it-IT" dirty="0" err="1">
                <a:solidFill>
                  <a:schemeClr val="tx1"/>
                </a:solidFill>
              </a:rPr>
              <a:t>Hyperparameters</a:t>
            </a:r>
            <a:r>
              <a:rPr lang="it-IT" dirty="0">
                <a:solidFill>
                  <a:schemeClr val="tx1"/>
                </a:solidFill>
              </a:rPr>
              <a:t> and TR/VAL </a:t>
            </a:r>
            <a:r>
              <a:rPr lang="it-IT" dirty="0" err="1">
                <a:solidFill>
                  <a:schemeClr val="tx1"/>
                </a:solidFill>
              </a:rPr>
              <a:t>error</a:t>
            </a:r>
            <a:r>
              <a:rPr lang="it-IT" dirty="0">
                <a:solidFill>
                  <a:schemeClr val="tx1"/>
                </a:solidFill>
              </a:rPr>
              <a:t> for best models with Architecture 1</a:t>
            </a:r>
          </a:p>
        </p:txBody>
      </p:sp>
    </p:spTree>
    <p:extLst>
      <p:ext uri="{BB962C8B-B14F-4D97-AF65-F5344CB8AC3E}">
        <p14:creationId xmlns:p14="http://schemas.microsoft.com/office/powerpoint/2010/main" val="386266009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 xmlns:a16="http://schemas.microsoft.com/office/drawing/2014/main" id="{2B5DFCBD-549E-64E9-577A-2222A38E749A}"/>
            </a:ext>
          </a:extLst>
        </p:cNvPr>
        <p:cNvGrpSpPr/>
        <p:nvPr/>
      </p:nvGrpSpPr>
      <p:grpSpPr>
        <a:xfrm>
          <a:off x="0" y="0"/>
          <a:ext cx="0" cy="0"/>
          <a:chOff x="0" y="0"/>
          <a:chExt cx="0" cy="0"/>
        </a:xfrm>
      </p:grpSpPr>
      <p:sp>
        <p:nvSpPr>
          <p:cNvPr id="109" name="Google Shape;109;p20">
            <a:extLst>
              <a:ext uri="{FF2B5EF4-FFF2-40B4-BE49-F238E27FC236}">
                <a16:creationId xmlns="" xmlns:a16="http://schemas.microsoft.com/office/drawing/2014/main" id="{D1E3BC5E-0F32-426E-E9DD-B0E66BB7451F}"/>
              </a:ext>
            </a:extLst>
          </p:cNvPr>
          <p:cNvSpPr txBox="1">
            <a:spLocks noGrp="1"/>
          </p:cNvSpPr>
          <p:nvPr>
            <p:ph type="title"/>
          </p:nvPr>
        </p:nvSpPr>
        <p:spPr>
          <a:xfrm>
            <a:off x="311700" y="455299"/>
            <a:ext cx="8520600" cy="500198"/>
          </a:xfrm>
          <a:prstGeom prst="rect">
            <a:avLst/>
          </a:prstGeom>
        </p:spPr>
        <p:txBody>
          <a:bodyPr spcFirstLastPara="1" wrap="square" lIns="91425" tIns="91425" rIns="91425" bIns="91425" anchor="t" anchorCtr="0">
            <a:normAutofit fontScale="90000"/>
          </a:bodyPr>
          <a:lstStyle/>
          <a:p>
            <a:pPr>
              <a:buSzPct val="39285"/>
            </a:pPr>
            <a:r>
              <a:rPr lang="it-IT" sz="2800" b="1" dirty="0"/>
              <a:t>Architecture 2: [12,8,3] / [</a:t>
            </a:r>
            <a:r>
              <a:rPr lang="it-IT" sz="2800" b="1" dirty="0" err="1"/>
              <a:t>ELU,Linear</a:t>
            </a:r>
            <a:r>
              <a:rPr lang="it-IT" sz="2800" b="1" dirty="0"/>
              <a:t>] </a:t>
            </a:r>
            <a:br>
              <a:rPr lang="it-IT" sz="2800" b="1" dirty="0"/>
            </a:br>
            <a:endParaRPr sz="1600" b="1" dirty="0"/>
          </a:p>
        </p:txBody>
      </p:sp>
      <p:sp>
        <p:nvSpPr>
          <p:cNvPr id="111" name="Google Shape;111;p20">
            <a:extLst>
              <a:ext uri="{FF2B5EF4-FFF2-40B4-BE49-F238E27FC236}">
                <a16:creationId xmlns="" xmlns:a16="http://schemas.microsoft.com/office/drawing/2014/main" id="{54FC7A38-D8F3-A03C-5C9E-3F22C017D7AF}"/>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15</a:t>
            </a:fld>
            <a:endParaRPr/>
          </a:p>
        </p:txBody>
      </p:sp>
      <p:graphicFrame>
        <p:nvGraphicFramePr>
          <p:cNvPr id="6" name="Tabella 5">
            <a:extLst>
              <a:ext uri="{FF2B5EF4-FFF2-40B4-BE49-F238E27FC236}">
                <a16:creationId xmlns="" xmlns:a16="http://schemas.microsoft.com/office/drawing/2014/main" id="{BF8B4863-F33D-9F92-1690-90E5DC370066}"/>
              </a:ext>
            </a:extLst>
          </p:cNvPr>
          <p:cNvGraphicFramePr>
            <a:graphicFrameLocks noGrp="1"/>
          </p:cNvGraphicFramePr>
          <p:nvPr>
            <p:extLst>
              <p:ext uri="{D42A27DB-BD31-4B8C-83A1-F6EECF244321}">
                <p14:modId xmlns:p14="http://schemas.microsoft.com/office/powerpoint/2010/main" val="1665408016"/>
              </p:ext>
            </p:extLst>
          </p:nvPr>
        </p:nvGraphicFramePr>
        <p:xfrm>
          <a:off x="99884" y="1295639"/>
          <a:ext cx="8944231" cy="1403436"/>
        </p:xfrm>
        <a:graphic>
          <a:graphicData uri="http://schemas.openxmlformats.org/drawingml/2006/table">
            <a:tbl>
              <a:tblPr firstRow="1" bandRow="1">
                <a:tableStyleId>{5940675A-B579-460E-94D1-54222C63F5DA}</a:tableStyleId>
              </a:tblPr>
              <a:tblGrid>
                <a:gridCol w="449580">
                  <a:extLst>
                    <a:ext uri="{9D8B030D-6E8A-4147-A177-3AD203B41FA5}">
                      <a16:colId xmlns="" xmlns:a16="http://schemas.microsoft.com/office/drawing/2014/main" val="731556087"/>
                    </a:ext>
                  </a:extLst>
                </a:gridCol>
                <a:gridCol w="659130">
                  <a:extLst>
                    <a:ext uri="{9D8B030D-6E8A-4147-A177-3AD203B41FA5}">
                      <a16:colId xmlns="" xmlns:a16="http://schemas.microsoft.com/office/drawing/2014/main" val="2288799742"/>
                    </a:ext>
                  </a:extLst>
                </a:gridCol>
                <a:gridCol w="652780">
                  <a:extLst>
                    <a:ext uri="{9D8B030D-6E8A-4147-A177-3AD203B41FA5}">
                      <a16:colId xmlns="" xmlns:a16="http://schemas.microsoft.com/office/drawing/2014/main" val="416376318"/>
                    </a:ext>
                  </a:extLst>
                </a:gridCol>
                <a:gridCol w="430530">
                  <a:extLst>
                    <a:ext uri="{9D8B030D-6E8A-4147-A177-3AD203B41FA5}">
                      <a16:colId xmlns="" xmlns:a16="http://schemas.microsoft.com/office/drawing/2014/main" val="2127937263"/>
                    </a:ext>
                  </a:extLst>
                </a:gridCol>
                <a:gridCol w="830580">
                  <a:extLst>
                    <a:ext uri="{9D8B030D-6E8A-4147-A177-3AD203B41FA5}">
                      <a16:colId xmlns="" xmlns:a16="http://schemas.microsoft.com/office/drawing/2014/main" val="2095147630"/>
                    </a:ext>
                  </a:extLst>
                </a:gridCol>
                <a:gridCol w="627380">
                  <a:extLst>
                    <a:ext uri="{9D8B030D-6E8A-4147-A177-3AD203B41FA5}">
                      <a16:colId xmlns="" xmlns:a16="http://schemas.microsoft.com/office/drawing/2014/main" val="631079797"/>
                    </a:ext>
                  </a:extLst>
                </a:gridCol>
                <a:gridCol w="608330">
                  <a:extLst>
                    <a:ext uri="{9D8B030D-6E8A-4147-A177-3AD203B41FA5}">
                      <a16:colId xmlns="" xmlns:a16="http://schemas.microsoft.com/office/drawing/2014/main" val="308787855"/>
                    </a:ext>
                  </a:extLst>
                </a:gridCol>
                <a:gridCol w="532130">
                  <a:extLst>
                    <a:ext uri="{9D8B030D-6E8A-4147-A177-3AD203B41FA5}">
                      <a16:colId xmlns="" xmlns:a16="http://schemas.microsoft.com/office/drawing/2014/main" val="3508982912"/>
                    </a:ext>
                  </a:extLst>
                </a:gridCol>
                <a:gridCol w="497205">
                  <a:extLst>
                    <a:ext uri="{9D8B030D-6E8A-4147-A177-3AD203B41FA5}">
                      <a16:colId xmlns="" xmlns:a16="http://schemas.microsoft.com/office/drawing/2014/main" val="1481393494"/>
                    </a:ext>
                  </a:extLst>
                </a:gridCol>
                <a:gridCol w="880725">
                  <a:extLst>
                    <a:ext uri="{9D8B030D-6E8A-4147-A177-3AD203B41FA5}">
                      <a16:colId xmlns="" xmlns:a16="http://schemas.microsoft.com/office/drawing/2014/main" val="2116244874"/>
                    </a:ext>
                  </a:extLst>
                </a:gridCol>
                <a:gridCol w="880725">
                  <a:extLst>
                    <a:ext uri="{9D8B030D-6E8A-4147-A177-3AD203B41FA5}">
                      <a16:colId xmlns="" xmlns:a16="http://schemas.microsoft.com/office/drawing/2014/main" val="2496640819"/>
                    </a:ext>
                  </a:extLst>
                </a:gridCol>
                <a:gridCol w="993419">
                  <a:extLst>
                    <a:ext uri="{9D8B030D-6E8A-4147-A177-3AD203B41FA5}">
                      <a16:colId xmlns="" xmlns:a16="http://schemas.microsoft.com/office/drawing/2014/main" val="1055177474"/>
                    </a:ext>
                  </a:extLst>
                </a:gridCol>
                <a:gridCol w="901717">
                  <a:extLst>
                    <a:ext uri="{9D8B030D-6E8A-4147-A177-3AD203B41FA5}">
                      <a16:colId xmlns="" xmlns:a16="http://schemas.microsoft.com/office/drawing/2014/main" val="1184326143"/>
                    </a:ext>
                  </a:extLst>
                </a:gridCol>
              </a:tblGrid>
              <a:tr h="489563">
                <a:tc>
                  <a:txBody>
                    <a:bodyPr/>
                    <a:lstStyle/>
                    <a:p>
                      <a:r>
                        <a:rPr lang="it-IT" sz="900" b="1" dirty="0"/>
                        <a:t>Eta0</a:t>
                      </a:r>
                    </a:p>
                  </a:txBody>
                  <a:tcPr>
                    <a:solidFill>
                      <a:schemeClr val="tx2"/>
                    </a:solidFill>
                  </a:tcPr>
                </a:tc>
                <a:tc>
                  <a:txBody>
                    <a:bodyPr/>
                    <a:lstStyle/>
                    <a:p>
                      <a:r>
                        <a:rPr lang="it-IT" sz="900" b="1" dirty="0" err="1"/>
                        <a:t>EtaFinal</a:t>
                      </a:r>
                      <a:endParaRPr lang="it-IT" sz="900" b="1" dirty="0"/>
                    </a:p>
                  </a:txBody>
                  <a:tcP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1" dirty="0"/>
                        <a:t>Lambda</a:t>
                      </a:r>
                    </a:p>
                    <a:p>
                      <a:endParaRPr lang="it-IT" sz="900" b="1" dirty="0"/>
                    </a:p>
                  </a:txBody>
                  <a:tcPr>
                    <a:solidFill>
                      <a:schemeClr val="tx2"/>
                    </a:solidFill>
                  </a:tcPr>
                </a:tc>
                <a:tc>
                  <a:txBody>
                    <a:bodyPr/>
                    <a:lstStyle/>
                    <a:p>
                      <a:r>
                        <a:rPr lang="it-IT" sz="900" b="1" dirty="0"/>
                        <a:t>Alfa</a:t>
                      </a:r>
                    </a:p>
                  </a:txBody>
                  <a:tcPr>
                    <a:solidFill>
                      <a:schemeClr val="tx2"/>
                    </a:solidFill>
                  </a:tcPr>
                </a:tc>
                <a:tc>
                  <a:txBody>
                    <a:bodyPr/>
                    <a:lstStyle/>
                    <a:p>
                      <a:r>
                        <a:rPr lang="it-IT" sz="900" b="1" dirty="0" err="1"/>
                        <a:t>Weight_Init</a:t>
                      </a:r>
                      <a:endParaRPr lang="it-IT" sz="900" b="1" dirty="0"/>
                    </a:p>
                  </a:txBody>
                  <a:tcPr>
                    <a:solidFill>
                      <a:schemeClr val="tx2"/>
                    </a:solidFill>
                  </a:tcPr>
                </a:tc>
                <a:tc>
                  <a:txBody>
                    <a:bodyPr/>
                    <a:lstStyle/>
                    <a:p>
                      <a:r>
                        <a:rPr lang="it-IT" sz="900" b="1" dirty="0" err="1"/>
                        <a:t>Epochs</a:t>
                      </a:r>
                      <a:endParaRPr lang="it-IT" sz="900" b="1" dirty="0"/>
                    </a:p>
                  </a:txBody>
                  <a:tcPr>
                    <a:solidFill>
                      <a:schemeClr val="tx2"/>
                    </a:solidFill>
                  </a:tcPr>
                </a:tc>
                <a:tc>
                  <a:txBody>
                    <a:bodyPr/>
                    <a:lstStyle/>
                    <a:p>
                      <a:r>
                        <a:rPr lang="it-IT" sz="900" b="1" dirty="0" err="1"/>
                        <a:t>Restart</a:t>
                      </a:r>
                      <a:endParaRPr lang="it-IT" sz="900" b="1" dirty="0"/>
                    </a:p>
                  </a:txBody>
                  <a:tcPr>
                    <a:solidFill>
                      <a:schemeClr val="tx2"/>
                    </a:solidFill>
                  </a:tcPr>
                </a:tc>
                <a:tc>
                  <a:txBody>
                    <a:bodyPr/>
                    <a:lstStyle/>
                    <a:p>
                      <a:r>
                        <a:rPr lang="it-IT" sz="900" b="1" dirty="0"/>
                        <a:t>Batch</a:t>
                      </a:r>
                    </a:p>
                  </a:txBody>
                  <a:tcPr>
                    <a:solidFill>
                      <a:schemeClr val="tx2"/>
                    </a:solidFill>
                  </a:tcPr>
                </a:tc>
                <a:tc>
                  <a:txBody>
                    <a:bodyPr/>
                    <a:lstStyle/>
                    <a:p>
                      <a:r>
                        <a:rPr lang="it-IT" sz="900" b="1" dirty="0"/>
                        <a:t>Tau</a:t>
                      </a:r>
                    </a:p>
                  </a:txBody>
                  <a:tcPr>
                    <a:solidFill>
                      <a:schemeClr val="tx2"/>
                    </a:solidFill>
                  </a:tcPr>
                </a:tc>
                <a:tc>
                  <a:txBody>
                    <a:bodyPr/>
                    <a:lstStyle/>
                    <a:p>
                      <a:r>
                        <a:rPr lang="it-IT" sz="900" b="1" dirty="0" err="1"/>
                        <a:t>TR_Error</a:t>
                      </a:r>
                      <a:r>
                        <a:rPr lang="it-IT" sz="900" b="1" dirty="0"/>
                        <a:t> (MSE)</a:t>
                      </a:r>
                    </a:p>
                  </a:txBody>
                  <a:tcP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1" dirty="0" err="1"/>
                        <a:t>TR_Error</a:t>
                      </a:r>
                      <a:r>
                        <a:rPr lang="it-IT" sz="900" b="1" dirty="0"/>
                        <a:t> (MEE)</a:t>
                      </a:r>
                    </a:p>
                    <a:p>
                      <a:endParaRPr lang="it-IT" sz="900" b="1" dirty="0"/>
                    </a:p>
                  </a:txBody>
                  <a:tcP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1" dirty="0" err="1"/>
                        <a:t>VAL_Error</a:t>
                      </a:r>
                      <a:r>
                        <a:rPr lang="it-IT" sz="900" b="1" dirty="0"/>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1" dirty="0"/>
                        <a:t>(MSE)</a:t>
                      </a:r>
                    </a:p>
                    <a:p>
                      <a:endParaRPr lang="it-IT" sz="900" b="1" dirty="0"/>
                    </a:p>
                  </a:txBody>
                  <a:tcP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1" dirty="0" err="1"/>
                        <a:t>VAL_Error</a:t>
                      </a:r>
                      <a:r>
                        <a:rPr lang="it-IT" sz="900" b="1" dirty="0"/>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1" dirty="0"/>
                        <a:t>(MEE)</a:t>
                      </a:r>
                    </a:p>
                    <a:p>
                      <a:endParaRPr lang="it-IT" sz="900" b="1" dirty="0"/>
                    </a:p>
                  </a:txBody>
                  <a:tcPr>
                    <a:solidFill>
                      <a:schemeClr val="tx2"/>
                    </a:solidFill>
                  </a:tcPr>
                </a:tc>
                <a:extLst>
                  <a:ext uri="{0D108BD9-81ED-4DB2-BD59-A6C34878D82A}">
                    <a16:rowId xmlns="" xmlns:a16="http://schemas.microsoft.com/office/drawing/2014/main" val="1201224141"/>
                  </a:ext>
                </a:extLst>
              </a:tr>
              <a:tr h="300172">
                <a:tc>
                  <a:txBody>
                    <a:bodyPr/>
                    <a:lstStyle/>
                    <a:p>
                      <a:r>
                        <a:rPr lang="it-IT" sz="1000" dirty="0" smtClean="0"/>
                        <a:t>0.01</a:t>
                      </a:r>
                      <a:endParaRPr lang="it-IT" sz="1000" dirty="0"/>
                    </a:p>
                  </a:txBody>
                  <a:tcPr/>
                </a:tc>
                <a:tc>
                  <a:txBody>
                    <a:bodyPr/>
                    <a:lstStyle/>
                    <a:p>
                      <a:r>
                        <a:rPr lang="it-IT" sz="1000" dirty="0"/>
                        <a:t>0.01</a:t>
                      </a:r>
                    </a:p>
                  </a:txBody>
                  <a:tcPr/>
                </a:tc>
                <a:tc>
                  <a:txBody>
                    <a:bodyPr/>
                    <a:lstStyle/>
                    <a:p>
                      <a:r>
                        <a:rPr lang="it-IT" sz="1000" dirty="0"/>
                        <a:t>0.00001</a:t>
                      </a:r>
                    </a:p>
                  </a:txBody>
                  <a:tcPr/>
                </a:tc>
                <a:tc>
                  <a:txBody>
                    <a:bodyPr/>
                    <a:lstStyle/>
                    <a:p>
                      <a:r>
                        <a:rPr lang="it-IT" sz="1000" dirty="0"/>
                        <a:t>0.5</a:t>
                      </a:r>
                    </a:p>
                  </a:txBody>
                  <a:tcPr/>
                </a:tc>
                <a:tc>
                  <a:txBody>
                    <a:bodyPr/>
                    <a:lstStyle/>
                    <a:p>
                      <a:r>
                        <a:rPr lang="it-IT" sz="1000" dirty="0" err="1"/>
                        <a:t>xavier</a:t>
                      </a:r>
                      <a:endParaRPr lang="it-IT" sz="1000" dirty="0"/>
                    </a:p>
                  </a:txBody>
                  <a:tcPr/>
                </a:tc>
                <a:tc>
                  <a:txBody>
                    <a:bodyPr/>
                    <a:lstStyle/>
                    <a:p>
                      <a:r>
                        <a:rPr lang="it-IT" sz="1000" dirty="0"/>
                        <a:t>1000</a:t>
                      </a:r>
                    </a:p>
                  </a:txBody>
                  <a:tcPr/>
                </a:tc>
                <a:tc>
                  <a:txBody>
                    <a:bodyPr/>
                    <a:lstStyle/>
                    <a:p>
                      <a:r>
                        <a:rPr lang="it-IT" sz="1000" dirty="0"/>
                        <a:t>20</a:t>
                      </a:r>
                    </a:p>
                  </a:txBody>
                  <a:tcPr/>
                </a:tc>
                <a:tc>
                  <a:txBody>
                    <a:bodyPr/>
                    <a:lstStyle/>
                    <a:p>
                      <a:r>
                        <a:rPr lang="it-IT" sz="1000" dirty="0"/>
                        <a:t>None</a:t>
                      </a:r>
                    </a:p>
                  </a:txBody>
                  <a:tcPr/>
                </a:tc>
                <a:tc>
                  <a:txBody>
                    <a:bodyPr/>
                    <a:lstStyle/>
                    <a:p>
                      <a:r>
                        <a:rPr lang="it-IT" sz="1000" dirty="0"/>
                        <a:t>1000</a:t>
                      </a:r>
                    </a:p>
                  </a:txBody>
                  <a:tcPr/>
                </a:tc>
                <a:tc>
                  <a:txBody>
                    <a:bodyPr/>
                    <a:lstStyle/>
                    <a:p>
                      <a:r>
                        <a:rPr lang="it-IT" sz="1000" dirty="0"/>
                        <a:t>0.254</a:t>
                      </a:r>
                    </a:p>
                  </a:txBody>
                  <a:tcPr/>
                </a:tc>
                <a:tc>
                  <a:txBody>
                    <a:bodyPr/>
                    <a:lstStyle/>
                    <a:p>
                      <a:r>
                        <a:rPr lang="it-IT" sz="1000" dirty="0"/>
                        <a:t>0.766</a:t>
                      </a:r>
                    </a:p>
                  </a:txBody>
                  <a:tcPr/>
                </a:tc>
                <a:tc>
                  <a:txBody>
                    <a:bodyPr/>
                    <a:lstStyle/>
                    <a:p>
                      <a:r>
                        <a:rPr lang="it-IT" sz="1000" dirty="0"/>
                        <a:t>0.285</a:t>
                      </a:r>
                    </a:p>
                  </a:txBody>
                  <a:tcPr/>
                </a:tc>
                <a:tc>
                  <a:txBody>
                    <a:bodyPr/>
                    <a:lstStyle/>
                    <a:p>
                      <a:r>
                        <a:rPr lang="it-IT" sz="1000" dirty="0"/>
                        <a:t>0.802</a:t>
                      </a:r>
                    </a:p>
                  </a:txBody>
                  <a:tcPr/>
                </a:tc>
                <a:extLst>
                  <a:ext uri="{0D108BD9-81ED-4DB2-BD59-A6C34878D82A}">
                    <a16:rowId xmlns="" xmlns:a16="http://schemas.microsoft.com/office/drawing/2014/main" val="418523280"/>
                  </a:ext>
                </a:extLst>
              </a:tr>
              <a:tr h="300172">
                <a:tc>
                  <a:txBody>
                    <a:bodyPr/>
                    <a:lstStyle/>
                    <a:p>
                      <a:r>
                        <a:rPr lang="it-IT" sz="1000" dirty="0"/>
                        <a:t>0.01</a:t>
                      </a:r>
                    </a:p>
                  </a:txBody>
                  <a:tcPr/>
                </a:tc>
                <a:tc>
                  <a:txBody>
                    <a:bodyPr/>
                    <a:lstStyle/>
                    <a:p>
                      <a:r>
                        <a:rPr lang="it-IT" sz="1000" dirty="0"/>
                        <a:t>0.01</a:t>
                      </a:r>
                    </a:p>
                  </a:txBody>
                  <a:tcPr/>
                </a:tc>
                <a:tc>
                  <a:txBody>
                    <a:bodyPr/>
                    <a:lstStyle/>
                    <a:p>
                      <a:r>
                        <a:rPr lang="it-IT" sz="1000" dirty="0"/>
                        <a:t>0.0001</a:t>
                      </a:r>
                    </a:p>
                  </a:txBody>
                  <a:tcPr/>
                </a:tc>
                <a:tc>
                  <a:txBody>
                    <a:bodyPr/>
                    <a:lstStyle/>
                    <a:p>
                      <a:r>
                        <a:rPr lang="it-IT" sz="1000" dirty="0"/>
                        <a:t>0.5</a:t>
                      </a:r>
                    </a:p>
                  </a:txBody>
                  <a:tcPr/>
                </a:tc>
                <a:tc>
                  <a:txBody>
                    <a:bodyPr/>
                    <a:lstStyle/>
                    <a:p>
                      <a:r>
                        <a:rPr lang="it-IT" sz="1000" dirty="0" err="1"/>
                        <a:t>xavier</a:t>
                      </a:r>
                      <a:endParaRPr lang="it-IT" sz="1000" dirty="0"/>
                    </a:p>
                  </a:txBody>
                  <a:tcPr/>
                </a:tc>
                <a:tc>
                  <a:txBody>
                    <a:bodyPr/>
                    <a:lstStyle/>
                    <a:p>
                      <a:r>
                        <a:rPr lang="it-IT" sz="1000" dirty="0"/>
                        <a:t>1000</a:t>
                      </a:r>
                    </a:p>
                  </a:txBody>
                  <a:tcPr/>
                </a:tc>
                <a:tc>
                  <a:txBody>
                    <a:bodyPr/>
                    <a:lstStyle/>
                    <a:p>
                      <a:r>
                        <a:rPr lang="it-IT" sz="1000" dirty="0"/>
                        <a:t>20</a:t>
                      </a:r>
                    </a:p>
                  </a:txBody>
                  <a:tcPr/>
                </a:tc>
                <a:tc>
                  <a:txBody>
                    <a:bodyPr/>
                    <a:lstStyle/>
                    <a:p>
                      <a:r>
                        <a:rPr lang="it-IT" sz="1000" dirty="0"/>
                        <a:t>64</a:t>
                      </a:r>
                    </a:p>
                  </a:txBody>
                  <a:tcPr/>
                </a:tc>
                <a:tc>
                  <a:txBody>
                    <a:bodyPr/>
                    <a:lstStyle/>
                    <a:p>
                      <a:r>
                        <a:rPr lang="it-IT" sz="1000" dirty="0"/>
                        <a:t>1000</a:t>
                      </a:r>
                    </a:p>
                  </a:txBody>
                  <a:tcPr/>
                </a:tc>
                <a:tc>
                  <a:txBody>
                    <a:bodyPr/>
                    <a:lstStyle/>
                    <a:p>
                      <a:r>
                        <a:rPr lang="it-IT" sz="1000" dirty="0"/>
                        <a:t>0.257</a:t>
                      </a:r>
                    </a:p>
                  </a:txBody>
                  <a:tcPr/>
                </a:tc>
                <a:tc>
                  <a:txBody>
                    <a:bodyPr/>
                    <a:lstStyle/>
                    <a:p>
                      <a:r>
                        <a:rPr lang="it-IT" sz="1000" dirty="0"/>
                        <a:t>0.766</a:t>
                      </a:r>
                    </a:p>
                  </a:txBody>
                  <a:tcPr/>
                </a:tc>
                <a:tc>
                  <a:txBody>
                    <a:bodyPr/>
                    <a:lstStyle/>
                    <a:p>
                      <a:r>
                        <a:rPr lang="it-IT" sz="1000" dirty="0"/>
                        <a:t>0.287</a:t>
                      </a:r>
                    </a:p>
                  </a:txBody>
                  <a:tcPr/>
                </a:tc>
                <a:tc>
                  <a:txBody>
                    <a:bodyPr/>
                    <a:lstStyle/>
                    <a:p>
                      <a:r>
                        <a:rPr lang="it-IT" sz="1000" dirty="0"/>
                        <a:t>0.806</a:t>
                      </a:r>
                    </a:p>
                  </a:txBody>
                  <a:tcPr/>
                </a:tc>
                <a:extLst>
                  <a:ext uri="{0D108BD9-81ED-4DB2-BD59-A6C34878D82A}">
                    <a16:rowId xmlns="" xmlns:a16="http://schemas.microsoft.com/office/drawing/2014/main" val="3214706188"/>
                  </a:ext>
                </a:extLst>
              </a:tr>
              <a:tr h="300172">
                <a:tc>
                  <a:txBody>
                    <a:bodyPr/>
                    <a:lstStyle/>
                    <a:p>
                      <a:r>
                        <a:rPr lang="it-IT" sz="1000" dirty="0"/>
                        <a:t>0.01</a:t>
                      </a:r>
                    </a:p>
                  </a:txBody>
                  <a:tcPr/>
                </a:tc>
                <a:tc>
                  <a:txBody>
                    <a:bodyPr/>
                    <a:lstStyle/>
                    <a:p>
                      <a:r>
                        <a:rPr lang="it-IT" sz="1000" dirty="0"/>
                        <a:t>0.01</a:t>
                      </a:r>
                    </a:p>
                  </a:txBody>
                  <a:tcPr/>
                </a:tc>
                <a:tc>
                  <a:txBody>
                    <a:bodyPr/>
                    <a:lstStyle/>
                    <a:p>
                      <a:r>
                        <a:rPr lang="it-IT" sz="1000" dirty="0"/>
                        <a:t>0.00001</a:t>
                      </a:r>
                    </a:p>
                  </a:txBody>
                  <a:tcPr/>
                </a:tc>
                <a:tc>
                  <a:txBody>
                    <a:bodyPr/>
                    <a:lstStyle/>
                    <a:p>
                      <a:r>
                        <a:rPr lang="it-IT" sz="1000" dirty="0"/>
                        <a:t>0.5</a:t>
                      </a:r>
                    </a:p>
                  </a:txBody>
                  <a:tcPr/>
                </a:tc>
                <a:tc>
                  <a:txBody>
                    <a:bodyPr/>
                    <a:lstStyle/>
                    <a:p>
                      <a:r>
                        <a:rPr lang="it-IT" sz="1000" dirty="0" err="1"/>
                        <a:t>xavier</a:t>
                      </a:r>
                      <a:endParaRPr lang="it-IT" sz="1000" dirty="0"/>
                    </a:p>
                  </a:txBody>
                  <a:tcPr/>
                </a:tc>
                <a:tc>
                  <a:txBody>
                    <a:bodyPr/>
                    <a:lstStyle/>
                    <a:p>
                      <a:r>
                        <a:rPr lang="it-IT" sz="1000" dirty="0"/>
                        <a:t>1000</a:t>
                      </a:r>
                    </a:p>
                  </a:txBody>
                  <a:tcPr/>
                </a:tc>
                <a:tc>
                  <a:txBody>
                    <a:bodyPr/>
                    <a:lstStyle/>
                    <a:p>
                      <a:r>
                        <a:rPr lang="it-IT" sz="1000" dirty="0"/>
                        <a:t>20</a:t>
                      </a:r>
                    </a:p>
                  </a:txBody>
                  <a:tcPr/>
                </a:tc>
                <a:tc>
                  <a:txBody>
                    <a:bodyPr/>
                    <a:lstStyle/>
                    <a:p>
                      <a:r>
                        <a:rPr lang="it-IT" sz="1000" dirty="0"/>
                        <a:t>32</a:t>
                      </a:r>
                    </a:p>
                  </a:txBody>
                  <a:tcPr/>
                </a:tc>
                <a:tc>
                  <a:txBody>
                    <a:bodyPr/>
                    <a:lstStyle/>
                    <a:p>
                      <a:r>
                        <a:rPr lang="it-IT" sz="1000" dirty="0"/>
                        <a:t>1000</a:t>
                      </a:r>
                    </a:p>
                  </a:txBody>
                  <a:tcPr/>
                </a:tc>
                <a:tc>
                  <a:txBody>
                    <a:bodyPr/>
                    <a:lstStyle/>
                    <a:p>
                      <a:r>
                        <a:rPr lang="it-IT" sz="1000" dirty="0"/>
                        <a:t>0.253</a:t>
                      </a:r>
                    </a:p>
                  </a:txBody>
                  <a:tcPr/>
                </a:tc>
                <a:tc>
                  <a:txBody>
                    <a:bodyPr/>
                    <a:lstStyle/>
                    <a:p>
                      <a:r>
                        <a:rPr lang="it-IT" sz="1000" dirty="0"/>
                        <a:t>0.763</a:t>
                      </a:r>
                    </a:p>
                  </a:txBody>
                  <a:tcPr/>
                </a:tc>
                <a:tc>
                  <a:txBody>
                    <a:bodyPr/>
                    <a:lstStyle/>
                    <a:p>
                      <a:r>
                        <a:rPr lang="it-IT" sz="1000" dirty="0"/>
                        <a:t>0.288</a:t>
                      </a:r>
                    </a:p>
                  </a:txBody>
                  <a:tcPr/>
                </a:tc>
                <a:tc>
                  <a:txBody>
                    <a:bodyPr/>
                    <a:lstStyle/>
                    <a:p>
                      <a:r>
                        <a:rPr lang="it-IT" sz="1000" dirty="0"/>
                        <a:t>0.806</a:t>
                      </a:r>
                    </a:p>
                  </a:txBody>
                  <a:tcPr/>
                </a:tc>
                <a:extLst>
                  <a:ext uri="{0D108BD9-81ED-4DB2-BD59-A6C34878D82A}">
                    <a16:rowId xmlns="" xmlns:a16="http://schemas.microsoft.com/office/drawing/2014/main" val="3752235479"/>
                  </a:ext>
                </a:extLst>
              </a:tr>
            </a:tbl>
          </a:graphicData>
        </a:graphic>
      </p:graphicFrame>
      <p:pic>
        <p:nvPicPr>
          <p:cNvPr id="7" name="Immagine 6" descr="Immagine che contiene testo, schermata, linea, Diagramma&#10;&#10;Descrizione generata automaticamente">
            <a:extLst>
              <a:ext uri="{FF2B5EF4-FFF2-40B4-BE49-F238E27FC236}">
                <a16:creationId xmlns="" xmlns:a16="http://schemas.microsoft.com/office/drawing/2014/main" id="{0CFB5FDF-EB45-BFAE-F45A-6E600E7945C5}"/>
              </a:ext>
            </a:extLst>
          </p:cNvPr>
          <p:cNvPicPr>
            <a:picLocks noChangeAspect="1"/>
          </p:cNvPicPr>
          <p:nvPr/>
        </p:nvPicPr>
        <p:blipFill>
          <a:blip r:embed="rId3"/>
          <a:srcRect t="-3767"/>
          <a:stretch/>
        </p:blipFill>
        <p:spPr>
          <a:xfrm>
            <a:off x="1080895" y="2632482"/>
            <a:ext cx="2437844" cy="1834539"/>
          </a:xfrm>
          <a:prstGeom prst="rect">
            <a:avLst/>
          </a:prstGeom>
        </p:spPr>
      </p:pic>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69853" y="2699075"/>
            <a:ext cx="2379170" cy="1789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CasellaDiTesto 2">
            <a:extLst>
              <a:ext uri="{FF2B5EF4-FFF2-40B4-BE49-F238E27FC236}">
                <a16:creationId xmlns="" xmlns:a16="http://schemas.microsoft.com/office/drawing/2014/main" id="{FCF7ABB3-3B6E-C744-0BAE-567192D3104D}"/>
              </a:ext>
            </a:extLst>
          </p:cNvPr>
          <p:cNvSpPr txBox="1"/>
          <p:nvPr/>
        </p:nvSpPr>
        <p:spPr>
          <a:xfrm>
            <a:off x="2377439" y="4568875"/>
            <a:ext cx="4665257" cy="523220"/>
          </a:xfrm>
          <a:prstGeom prst="rect">
            <a:avLst/>
          </a:prstGeom>
          <a:noFill/>
        </p:spPr>
        <p:txBody>
          <a:bodyPr wrap="square">
            <a:spAutoFit/>
          </a:bodyPr>
          <a:lstStyle/>
          <a:p>
            <a:pPr marL="0" lvl="0" indent="0" algn="l" rtl="0">
              <a:spcBef>
                <a:spcPts val="1200"/>
              </a:spcBef>
              <a:spcAft>
                <a:spcPts val="1200"/>
              </a:spcAft>
              <a:buNone/>
            </a:pPr>
            <a:r>
              <a:rPr lang="it-IT" dirty="0"/>
              <a:t>Figure 6. Plot of MEE &amp; </a:t>
            </a:r>
            <a:r>
              <a:rPr lang="it-IT" dirty="0" smtClean="0"/>
              <a:t>MSE </a:t>
            </a:r>
            <a:r>
              <a:rPr lang="it-IT" dirty="0"/>
              <a:t>for ML </a:t>
            </a:r>
            <a:r>
              <a:rPr lang="it-IT" dirty="0" smtClean="0"/>
              <a:t>Cup, </a:t>
            </a:r>
            <a:r>
              <a:rPr lang="it-IT" dirty="0"/>
              <a:t>Architecture </a:t>
            </a:r>
            <a:r>
              <a:rPr lang="it-IT" dirty="0" smtClean="0"/>
              <a:t>2, </a:t>
            </a:r>
            <a:r>
              <a:rPr lang="it-IT" dirty="0"/>
              <a:t>best result (Training VS Validation)</a:t>
            </a:r>
          </a:p>
        </p:txBody>
      </p:sp>
      <p:sp>
        <p:nvSpPr>
          <p:cNvPr id="5" name="CasellaDiTesto 4">
            <a:extLst>
              <a:ext uri="{FF2B5EF4-FFF2-40B4-BE49-F238E27FC236}">
                <a16:creationId xmlns="" xmlns:a16="http://schemas.microsoft.com/office/drawing/2014/main" id="{161C27A0-AC39-64C8-1281-F4134E3D7DE1}"/>
              </a:ext>
            </a:extLst>
          </p:cNvPr>
          <p:cNvSpPr txBox="1"/>
          <p:nvPr/>
        </p:nvSpPr>
        <p:spPr>
          <a:xfrm>
            <a:off x="1095615" y="971679"/>
            <a:ext cx="7376843" cy="307777"/>
          </a:xfrm>
          <a:prstGeom prst="rect">
            <a:avLst/>
          </a:prstGeom>
          <a:noFill/>
        </p:spPr>
        <p:txBody>
          <a:bodyPr wrap="square">
            <a:spAutoFit/>
          </a:bodyPr>
          <a:lstStyle/>
          <a:p>
            <a:r>
              <a:rPr lang="it-IT" sz="1400" dirty="0" err="1">
                <a:solidFill>
                  <a:schemeClr val="tx1"/>
                </a:solidFill>
              </a:rPr>
              <a:t>Table</a:t>
            </a:r>
            <a:r>
              <a:rPr lang="it-IT" sz="1400" dirty="0">
                <a:solidFill>
                  <a:schemeClr val="tx1"/>
                </a:solidFill>
              </a:rPr>
              <a:t> 3. </a:t>
            </a:r>
            <a:r>
              <a:rPr lang="it-IT" sz="1400" dirty="0" err="1">
                <a:solidFill>
                  <a:schemeClr val="tx1"/>
                </a:solidFill>
              </a:rPr>
              <a:t>Hyperparameters</a:t>
            </a:r>
            <a:r>
              <a:rPr lang="it-IT" sz="1400" dirty="0">
                <a:solidFill>
                  <a:schemeClr val="tx1"/>
                </a:solidFill>
              </a:rPr>
              <a:t> and TR/VAL </a:t>
            </a:r>
            <a:r>
              <a:rPr lang="it-IT" sz="1400" dirty="0" err="1">
                <a:solidFill>
                  <a:schemeClr val="tx1"/>
                </a:solidFill>
              </a:rPr>
              <a:t>error</a:t>
            </a:r>
            <a:r>
              <a:rPr lang="it-IT" sz="1400" dirty="0">
                <a:solidFill>
                  <a:schemeClr val="tx1"/>
                </a:solidFill>
              </a:rPr>
              <a:t> for best models with Architecture </a:t>
            </a:r>
            <a:r>
              <a:rPr lang="it-IT" dirty="0">
                <a:solidFill>
                  <a:schemeClr val="tx1"/>
                </a:solidFill>
              </a:rPr>
              <a:t>2</a:t>
            </a:r>
            <a:endParaRPr lang="en-US" dirty="0"/>
          </a:p>
        </p:txBody>
      </p:sp>
    </p:spTree>
    <p:extLst>
      <p:ext uri="{BB962C8B-B14F-4D97-AF65-F5344CB8AC3E}">
        <p14:creationId xmlns:p14="http://schemas.microsoft.com/office/powerpoint/2010/main" val="133430746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 xmlns:a16="http://schemas.microsoft.com/office/drawing/2014/main" id="{426BC04C-018A-BD0A-E0B9-4FE8ECB2C4EC}"/>
            </a:ext>
          </a:extLst>
        </p:cNvPr>
        <p:cNvGrpSpPr/>
        <p:nvPr/>
      </p:nvGrpSpPr>
      <p:grpSpPr>
        <a:xfrm>
          <a:off x="0" y="0"/>
          <a:ext cx="0" cy="0"/>
          <a:chOff x="0" y="0"/>
          <a:chExt cx="0" cy="0"/>
        </a:xfrm>
      </p:grpSpPr>
      <p:sp>
        <p:nvSpPr>
          <p:cNvPr id="109" name="Google Shape;109;p20">
            <a:extLst>
              <a:ext uri="{FF2B5EF4-FFF2-40B4-BE49-F238E27FC236}">
                <a16:creationId xmlns="" xmlns:a16="http://schemas.microsoft.com/office/drawing/2014/main" id="{53715267-7063-032E-06EA-D00116FC1FEE}"/>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it-IT" sz="2800" b="1" dirty="0"/>
              <a:t>Architecture 3: [12,24,3] / [</a:t>
            </a:r>
            <a:r>
              <a:rPr lang="it-IT" b="1" dirty="0" err="1"/>
              <a:t>ELU</a:t>
            </a:r>
            <a:r>
              <a:rPr lang="it-IT" sz="2800" b="1" dirty="0" err="1"/>
              <a:t>,Linear</a:t>
            </a:r>
            <a:r>
              <a:rPr lang="it-IT" sz="2800" b="1" dirty="0"/>
              <a:t>] </a:t>
            </a:r>
            <a:br>
              <a:rPr lang="it-IT" sz="2800" b="1" dirty="0"/>
            </a:br>
            <a:endParaRPr b="1" dirty="0"/>
          </a:p>
        </p:txBody>
      </p:sp>
      <p:sp>
        <p:nvSpPr>
          <p:cNvPr id="111" name="Google Shape;111;p20">
            <a:extLst>
              <a:ext uri="{FF2B5EF4-FFF2-40B4-BE49-F238E27FC236}">
                <a16:creationId xmlns="" xmlns:a16="http://schemas.microsoft.com/office/drawing/2014/main" id="{707E64C4-D949-ECEE-EC01-B0AF1C190575}"/>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16</a:t>
            </a:fld>
            <a:endParaRPr/>
          </a:p>
        </p:txBody>
      </p:sp>
      <p:graphicFrame>
        <p:nvGraphicFramePr>
          <p:cNvPr id="4" name="Tabella 3">
            <a:extLst>
              <a:ext uri="{FF2B5EF4-FFF2-40B4-BE49-F238E27FC236}">
                <a16:creationId xmlns="" xmlns:a16="http://schemas.microsoft.com/office/drawing/2014/main" id="{CDC07B00-9938-30FB-BEA4-0D827FC90FC8}"/>
              </a:ext>
            </a:extLst>
          </p:cNvPr>
          <p:cNvGraphicFramePr>
            <a:graphicFrameLocks noGrp="1"/>
          </p:cNvGraphicFramePr>
          <p:nvPr>
            <p:extLst>
              <p:ext uri="{D42A27DB-BD31-4B8C-83A1-F6EECF244321}">
                <p14:modId xmlns:p14="http://schemas.microsoft.com/office/powerpoint/2010/main" val="3111133198"/>
              </p:ext>
            </p:extLst>
          </p:nvPr>
        </p:nvGraphicFramePr>
        <p:xfrm>
          <a:off x="88772" y="1168314"/>
          <a:ext cx="8966456" cy="1403436"/>
        </p:xfrm>
        <a:graphic>
          <a:graphicData uri="http://schemas.openxmlformats.org/drawingml/2006/table">
            <a:tbl>
              <a:tblPr firstRow="1" bandRow="1">
                <a:tableStyleId>{5940675A-B579-460E-94D1-54222C63F5DA}</a:tableStyleId>
              </a:tblPr>
              <a:tblGrid>
                <a:gridCol w="449580">
                  <a:extLst>
                    <a:ext uri="{9D8B030D-6E8A-4147-A177-3AD203B41FA5}">
                      <a16:colId xmlns="" xmlns:a16="http://schemas.microsoft.com/office/drawing/2014/main" val="731556087"/>
                    </a:ext>
                  </a:extLst>
                </a:gridCol>
                <a:gridCol w="659130">
                  <a:extLst>
                    <a:ext uri="{9D8B030D-6E8A-4147-A177-3AD203B41FA5}">
                      <a16:colId xmlns="" xmlns:a16="http://schemas.microsoft.com/office/drawing/2014/main" val="2288799742"/>
                    </a:ext>
                  </a:extLst>
                </a:gridCol>
                <a:gridCol w="652780">
                  <a:extLst>
                    <a:ext uri="{9D8B030D-6E8A-4147-A177-3AD203B41FA5}">
                      <a16:colId xmlns="" xmlns:a16="http://schemas.microsoft.com/office/drawing/2014/main" val="416376318"/>
                    </a:ext>
                  </a:extLst>
                </a:gridCol>
                <a:gridCol w="430530">
                  <a:extLst>
                    <a:ext uri="{9D8B030D-6E8A-4147-A177-3AD203B41FA5}">
                      <a16:colId xmlns="" xmlns:a16="http://schemas.microsoft.com/office/drawing/2014/main" val="2127937263"/>
                    </a:ext>
                  </a:extLst>
                </a:gridCol>
                <a:gridCol w="830580">
                  <a:extLst>
                    <a:ext uri="{9D8B030D-6E8A-4147-A177-3AD203B41FA5}">
                      <a16:colId xmlns="" xmlns:a16="http://schemas.microsoft.com/office/drawing/2014/main" val="2095147630"/>
                    </a:ext>
                  </a:extLst>
                </a:gridCol>
                <a:gridCol w="627380">
                  <a:extLst>
                    <a:ext uri="{9D8B030D-6E8A-4147-A177-3AD203B41FA5}">
                      <a16:colId xmlns="" xmlns:a16="http://schemas.microsoft.com/office/drawing/2014/main" val="631079797"/>
                    </a:ext>
                  </a:extLst>
                </a:gridCol>
                <a:gridCol w="608330">
                  <a:extLst>
                    <a:ext uri="{9D8B030D-6E8A-4147-A177-3AD203B41FA5}">
                      <a16:colId xmlns="" xmlns:a16="http://schemas.microsoft.com/office/drawing/2014/main" val="308787855"/>
                    </a:ext>
                  </a:extLst>
                </a:gridCol>
                <a:gridCol w="532130">
                  <a:extLst>
                    <a:ext uri="{9D8B030D-6E8A-4147-A177-3AD203B41FA5}">
                      <a16:colId xmlns="" xmlns:a16="http://schemas.microsoft.com/office/drawing/2014/main" val="3508982912"/>
                    </a:ext>
                  </a:extLst>
                </a:gridCol>
                <a:gridCol w="523639">
                  <a:extLst>
                    <a:ext uri="{9D8B030D-6E8A-4147-A177-3AD203B41FA5}">
                      <a16:colId xmlns="" xmlns:a16="http://schemas.microsoft.com/office/drawing/2014/main" val="1481393494"/>
                    </a:ext>
                  </a:extLst>
                </a:gridCol>
                <a:gridCol w="876516">
                  <a:extLst>
                    <a:ext uri="{9D8B030D-6E8A-4147-A177-3AD203B41FA5}">
                      <a16:colId xmlns="" xmlns:a16="http://schemas.microsoft.com/office/drawing/2014/main" val="2116244874"/>
                    </a:ext>
                  </a:extLst>
                </a:gridCol>
                <a:gridCol w="880725">
                  <a:extLst>
                    <a:ext uri="{9D8B030D-6E8A-4147-A177-3AD203B41FA5}">
                      <a16:colId xmlns="" xmlns:a16="http://schemas.microsoft.com/office/drawing/2014/main" val="2496640819"/>
                    </a:ext>
                  </a:extLst>
                </a:gridCol>
                <a:gridCol w="993419">
                  <a:extLst>
                    <a:ext uri="{9D8B030D-6E8A-4147-A177-3AD203B41FA5}">
                      <a16:colId xmlns="" xmlns:a16="http://schemas.microsoft.com/office/drawing/2014/main" val="1055177474"/>
                    </a:ext>
                  </a:extLst>
                </a:gridCol>
                <a:gridCol w="901717">
                  <a:extLst>
                    <a:ext uri="{9D8B030D-6E8A-4147-A177-3AD203B41FA5}">
                      <a16:colId xmlns="" xmlns:a16="http://schemas.microsoft.com/office/drawing/2014/main" val="1184326143"/>
                    </a:ext>
                  </a:extLst>
                </a:gridCol>
              </a:tblGrid>
              <a:tr h="489563">
                <a:tc>
                  <a:txBody>
                    <a:bodyPr/>
                    <a:lstStyle/>
                    <a:p>
                      <a:r>
                        <a:rPr lang="it-IT" sz="900" b="1" dirty="0"/>
                        <a:t>Eta0</a:t>
                      </a:r>
                    </a:p>
                  </a:txBody>
                  <a:tcPr>
                    <a:solidFill>
                      <a:schemeClr val="tx2"/>
                    </a:solidFill>
                  </a:tcPr>
                </a:tc>
                <a:tc>
                  <a:txBody>
                    <a:bodyPr/>
                    <a:lstStyle/>
                    <a:p>
                      <a:r>
                        <a:rPr lang="it-IT" sz="900" b="1" dirty="0" err="1"/>
                        <a:t>EtaFinal</a:t>
                      </a:r>
                      <a:endParaRPr lang="it-IT" sz="900" b="1" dirty="0"/>
                    </a:p>
                  </a:txBody>
                  <a:tcP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1" dirty="0"/>
                        <a:t>Lambda</a:t>
                      </a:r>
                    </a:p>
                    <a:p>
                      <a:endParaRPr lang="it-IT" sz="900" b="1" dirty="0"/>
                    </a:p>
                  </a:txBody>
                  <a:tcPr>
                    <a:solidFill>
                      <a:schemeClr val="tx2"/>
                    </a:solidFill>
                  </a:tcPr>
                </a:tc>
                <a:tc>
                  <a:txBody>
                    <a:bodyPr/>
                    <a:lstStyle/>
                    <a:p>
                      <a:r>
                        <a:rPr lang="it-IT" sz="900" b="1" dirty="0"/>
                        <a:t>Alfa</a:t>
                      </a:r>
                    </a:p>
                  </a:txBody>
                  <a:tcPr>
                    <a:solidFill>
                      <a:schemeClr val="tx2"/>
                    </a:solidFill>
                  </a:tcPr>
                </a:tc>
                <a:tc>
                  <a:txBody>
                    <a:bodyPr/>
                    <a:lstStyle/>
                    <a:p>
                      <a:r>
                        <a:rPr lang="it-IT" sz="900" b="1" dirty="0" err="1"/>
                        <a:t>Weight_Init</a:t>
                      </a:r>
                      <a:endParaRPr lang="it-IT" sz="900" b="1" dirty="0"/>
                    </a:p>
                  </a:txBody>
                  <a:tcPr>
                    <a:solidFill>
                      <a:schemeClr val="tx2"/>
                    </a:solidFill>
                  </a:tcPr>
                </a:tc>
                <a:tc>
                  <a:txBody>
                    <a:bodyPr/>
                    <a:lstStyle/>
                    <a:p>
                      <a:r>
                        <a:rPr lang="it-IT" sz="900" b="1" dirty="0" err="1"/>
                        <a:t>Epochs</a:t>
                      </a:r>
                      <a:endParaRPr lang="it-IT" sz="900" b="1" dirty="0"/>
                    </a:p>
                  </a:txBody>
                  <a:tcPr>
                    <a:solidFill>
                      <a:schemeClr val="tx2"/>
                    </a:solidFill>
                  </a:tcPr>
                </a:tc>
                <a:tc>
                  <a:txBody>
                    <a:bodyPr/>
                    <a:lstStyle/>
                    <a:p>
                      <a:r>
                        <a:rPr lang="it-IT" sz="900" b="1" dirty="0" err="1"/>
                        <a:t>Restart</a:t>
                      </a:r>
                      <a:endParaRPr lang="it-IT" sz="900" b="1" dirty="0"/>
                    </a:p>
                  </a:txBody>
                  <a:tcPr>
                    <a:solidFill>
                      <a:schemeClr val="tx2"/>
                    </a:solidFill>
                  </a:tcPr>
                </a:tc>
                <a:tc>
                  <a:txBody>
                    <a:bodyPr/>
                    <a:lstStyle/>
                    <a:p>
                      <a:r>
                        <a:rPr lang="it-IT" sz="900" b="1" dirty="0"/>
                        <a:t>Batch</a:t>
                      </a:r>
                    </a:p>
                  </a:txBody>
                  <a:tcPr>
                    <a:solidFill>
                      <a:schemeClr val="tx2"/>
                    </a:solidFill>
                  </a:tcPr>
                </a:tc>
                <a:tc>
                  <a:txBody>
                    <a:bodyPr/>
                    <a:lstStyle/>
                    <a:p>
                      <a:r>
                        <a:rPr lang="it-IT" sz="900" b="1" dirty="0"/>
                        <a:t>Tau</a:t>
                      </a:r>
                    </a:p>
                  </a:txBody>
                  <a:tcPr>
                    <a:solidFill>
                      <a:schemeClr val="tx2"/>
                    </a:solidFill>
                  </a:tcPr>
                </a:tc>
                <a:tc>
                  <a:txBody>
                    <a:bodyPr/>
                    <a:lstStyle/>
                    <a:p>
                      <a:r>
                        <a:rPr lang="it-IT" sz="900" b="1" dirty="0" err="1"/>
                        <a:t>TR_Error</a:t>
                      </a:r>
                      <a:r>
                        <a:rPr lang="it-IT" sz="900" b="1" dirty="0"/>
                        <a:t> (MSE)</a:t>
                      </a:r>
                    </a:p>
                  </a:txBody>
                  <a:tcP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1" dirty="0" err="1"/>
                        <a:t>TR_Error</a:t>
                      </a:r>
                      <a:r>
                        <a:rPr lang="it-IT" sz="900" b="1" dirty="0"/>
                        <a:t> (MEE)</a:t>
                      </a:r>
                    </a:p>
                    <a:p>
                      <a:endParaRPr lang="it-IT" sz="900" b="1" dirty="0"/>
                    </a:p>
                  </a:txBody>
                  <a:tcP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1" dirty="0" err="1"/>
                        <a:t>VAL_Error</a:t>
                      </a:r>
                      <a:r>
                        <a:rPr lang="it-IT" sz="900" b="1" dirty="0"/>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1" dirty="0"/>
                        <a:t>(MSE)</a:t>
                      </a:r>
                    </a:p>
                    <a:p>
                      <a:endParaRPr lang="it-IT" sz="900" b="1" dirty="0"/>
                    </a:p>
                  </a:txBody>
                  <a:tcP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1" dirty="0" err="1"/>
                        <a:t>VAL_Error</a:t>
                      </a:r>
                      <a:r>
                        <a:rPr lang="it-IT" sz="900" b="1" dirty="0"/>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1" dirty="0"/>
                        <a:t>(MEE)</a:t>
                      </a:r>
                    </a:p>
                    <a:p>
                      <a:endParaRPr lang="it-IT" sz="900" b="1" dirty="0"/>
                    </a:p>
                  </a:txBody>
                  <a:tcPr>
                    <a:solidFill>
                      <a:schemeClr val="tx2"/>
                    </a:solidFill>
                  </a:tcPr>
                </a:tc>
                <a:extLst>
                  <a:ext uri="{0D108BD9-81ED-4DB2-BD59-A6C34878D82A}">
                    <a16:rowId xmlns="" xmlns:a16="http://schemas.microsoft.com/office/drawing/2014/main" val="1201224141"/>
                  </a:ext>
                </a:extLst>
              </a:tr>
              <a:tr h="300172">
                <a:tc>
                  <a:txBody>
                    <a:bodyPr/>
                    <a:lstStyle/>
                    <a:p>
                      <a:r>
                        <a:rPr lang="it-IT" sz="1000" dirty="0">
                          <a:solidFill>
                            <a:schemeClr val="tx1"/>
                          </a:solidFill>
                        </a:rPr>
                        <a:t>0.01</a:t>
                      </a:r>
                    </a:p>
                  </a:txBody>
                  <a:tcPr/>
                </a:tc>
                <a:tc>
                  <a:txBody>
                    <a:bodyPr/>
                    <a:lstStyle/>
                    <a:p>
                      <a:r>
                        <a:rPr lang="it-IT" sz="1000" dirty="0">
                          <a:solidFill>
                            <a:schemeClr val="tx1"/>
                          </a:solidFill>
                        </a:rPr>
                        <a:t>0.01</a:t>
                      </a:r>
                    </a:p>
                  </a:txBody>
                  <a:tcPr/>
                </a:tc>
                <a:tc>
                  <a:txBody>
                    <a:bodyPr/>
                    <a:lstStyle/>
                    <a:p>
                      <a:r>
                        <a:rPr lang="it-IT" sz="1000" dirty="0">
                          <a:solidFill>
                            <a:schemeClr val="tx1"/>
                          </a:solidFill>
                        </a:rPr>
                        <a:t>0.0001</a:t>
                      </a:r>
                    </a:p>
                  </a:txBody>
                  <a:tcPr/>
                </a:tc>
                <a:tc>
                  <a:txBody>
                    <a:bodyPr/>
                    <a:lstStyle/>
                    <a:p>
                      <a:r>
                        <a:rPr lang="it-IT" sz="1000" dirty="0">
                          <a:solidFill>
                            <a:schemeClr val="tx1"/>
                          </a:solidFill>
                        </a:rPr>
                        <a:t>0.5</a:t>
                      </a:r>
                    </a:p>
                  </a:txBody>
                  <a:tcPr/>
                </a:tc>
                <a:tc>
                  <a:txBody>
                    <a:bodyPr/>
                    <a:lstStyle/>
                    <a:p>
                      <a:r>
                        <a:rPr lang="it-IT" sz="1000" dirty="0" err="1">
                          <a:solidFill>
                            <a:schemeClr val="tx1"/>
                          </a:solidFill>
                        </a:rPr>
                        <a:t>xavier</a:t>
                      </a:r>
                      <a:endParaRPr lang="it-IT" sz="1000" dirty="0">
                        <a:solidFill>
                          <a:schemeClr val="tx1"/>
                        </a:solidFill>
                      </a:endParaRPr>
                    </a:p>
                  </a:txBody>
                  <a:tcPr/>
                </a:tc>
                <a:tc>
                  <a:txBody>
                    <a:bodyPr/>
                    <a:lstStyle/>
                    <a:p>
                      <a:r>
                        <a:rPr lang="it-IT" sz="1000" dirty="0">
                          <a:solidFill>
                            <a:schemeClr val="tx1"/>
                          </a:solidFill>
                        </a:rPr>
                        <a:t>1000</a:t>
                      </a:r>
                    </a:p>
                  </a:txBody>
                  <a:tcPr/>
                </a:tc>
                <a:tc>
                  <a:txBody>
                    <a:bodyPr/>
                    <a:lstStyle/>
                    <a:p>
                      <a:r>
                        <a:rPr lang="it-IT" sz="1000" dirty="0">
                          <a:solidFill>
                            <a:schemeClr val="tx1"/>
                          </a:solidFill>
                        </a:rPr>
                        <a:t>20</a:t>
                      </a:r>
                    </a:p>
                  </a:txBody>
                  <a:tcPr/>
                </a:tc>
                <a:tc>
                  <a:txBody>
                    <a:bodyPr/>
                    <a:lstStyle/>
                    <a:p>
                      <a:r>
                        <a:rPr lang="it-IT" sz="1000" dirty="0">
                          <a:solidFill>
                            <a:schemeClr val="tx1"/>
                          </a:solidFill>
                        </a:rPr>
                        <a:t>None</a:t>
                      </a:r>
                    </a:p>
                  </a:txBody>
                  <a:tcPr/>
                </a:tc>
                <a:tc>
                  <a:txBody>
                    <a:bodyPr/>
                    <a:lstStyle/>
                    <a:p>
                      <a:r>
                        <a:rPr lang="it-IT" sz="1000" dirty="0">
                          <a:solidFill>
                            <a:schemeClr val="tx1"/>
                          </a:solidFill>
                        </a:rPr>
                        <a:t>1000</a:t>
                      </a:r>
                    </a:p>
                  </a:txBody>
                  <a:tcPr/>
                </a:tc>
                <a:tc>
                  <a:txBody>
                    <a:bodyPr/>
                    <a:lstStyle/>
                    <a:p>
                      <a:r>
                        <a:rPr lang="en-US" sz="1000" dirty="0">
                          <a:solidFill>
                            <a:schemeClr val="tx1"/>
                          </a:solidFill>
                        </a:rPr>
                        <a:t>0.24</a:t>
                      </a:r>
                      <a:endParaRPr lang="it-IT" sz="1000" dirty="0">
                        <a:solidFill>
                          <a:schemeClr val="tx1"/>
                        </a:solidFill>
                      </a:endParaRPr>
                    </a:p>
                  </a:txBody>
                  <a:tcPr/>
                </a:tc>
                <a:tc>
                  <a:txBody>
                    <a:bodyPr/>
                    <a:lstStyle/>
                    <a:p>
                      <a:r>
                        <a:rPr lang="it-IT" sz="1000" dirty="0">
                          <a:solidFill>
                            <a:schemeClr val="tx1"/>
                          </a:solidFill>
                        </a:rPr>
                        <a:t>0.736</a:t>
                      </a:r>
                    </a:p>
                  </a:txBody>
                  <a:tcPr/>
                </a:tc>
                <a:tc>
                  <a:txBody>
                    <a:bodyPr/>
                    <a:lstStyle/>
                    <a:p>
                      <a:r>
                        <a:rPr lang="it-IT" sz="1000" dirty="0">
                          <a:solidFill>
                            <a:schemeClr val="tx1"/>
                          </a:solidFill>
                        </a:rPr>
                        <a:t>0.274</a:t>
                      </a:r>
                    </a:p>
                  </a:txBody>
                  <a:tcPr/>
                </a:tc>
                <a:tc>
                  <a:txBody>
                    <a:bodyPr/>
                    <a:lstStyle/>
                    <a:p>
                      <a:r>
                        <a:rPr lang="en-US" sz="1000" dirty="0">
                          <a:solidFill>
                            <a:schemeClr val="tx1"/>
                          </a:solidFill>
                        </a:rPr>
                        <a:t>0.788</a:t>
                      </a:r>
                      <a:endParaRPr lang="it-IT" sz="1000" dirty="0">
                        <a:solidFill>
                          <a:schemeClr val="tx1"/>
                        </a:solidFill>
                      </a:endParaRPr>
                    </a:p>
                  </a:txBody>
                  <a:tcPr/>
                </a:tc>
                <a:extLst>
                  <a:ext uri="{0D108BD9-81ED-4DB2-BD59-A6C34878D82A}">
                    <a16:rowId xmlns="" xmlns:a16="http://schemas.microsoft.com/office/drawing/2014/main" val="418523280"/>
                  </a:ext>
                </a:extLst>
              </a:tr>
              <a:tr h="300172">
                <a:tc>
                  <a:txBody>
                    <a:bodyPr/>
                    <a:lstStyle/>
                    <a:p>
                      <a:r>
                        <a:rPr lang="it-IT" sz="1000" dirty="0"/>
                        <a:t>0.01</a:t>
                      </a:r>
                    </a:p>
                  </a:txBody>
                  <a:tcPr/>
                </a:tc>
                <a:tc>
                  <a:txBody>
                    <a:bodyPr/>
                    <a:lstStyle/>
                    <a:p>
                      <a:r>
                        <a:rPr lang="it-IT" sz="1000" dirty="0"/>
                        <a:t>0.01</a:t>
                      </a:r>
                    </a:p>
                  </a:txBody>
                  <a:tcPr/>
                </a:tc>
                <a:tc>
                  <a:txBody>
                    <a:bodyPr/>
                    <a:lstStyle/>
                    <a:p>
                      <a:r>
                        <a:rPr lang="es-ES" sz="1000" dirty="0"/>
                        <a:t>0.0001</a:t>
                      </a:r>
                      <a:endParaRPr lang="en-US" sz="1000" dirty="0"/>
                    </a:p>
                  </a:txBody>
                  <a:tcPr/>
                </a:tc>
                <a:tc>
                  <a:txBody>
                    <a:bodyPr/>
                    <a:lstStyle/>
                    <a:p>
                      <a:r>
                        <a:rPr lang="it-IT" sz="1000" dirty="0"/>
                        <a:t>0.5</a:t>
                      </a:r>
                      <a:endParaRPr lang="en-US" sz="1000" dirty="0"/>
                    </a:p>
                  </a:txBody>
                  <a:tcPr/>
                </a:tc>
                <a:tc>
                  <a:txBody>
                    <a:bodyPr/>
                    <a:lstStyle/>
                    <a:p>
                      <a:r>
                        <a:rPr lang="it-IT" sz="1000" dirty="0">
                          <a:effectLst/>
                        </a:rPr>
                        <a:t>xavier</a:t>
                      </a:r>
                      <a:endParaRPr lang="en-US" sz="1000" dirty="0">
                        <a:effectLst/>
                      </a:endParaRPr>
                    </a:p>
                  </a:txBody>
                  <a:tcPr/>
                </a:tc>
                <a:tc>
                  <a:txBody>
                    <a:bodyPr/>
                    <a:lstStyle/>
                    <a:p>
                      <a:r>
                        <a:rPr lang="it-IT" sz="1000" dirty="0"/>
                        <a:t>1000</a:t>
                      </a:r>
                      <a:endParaRPr lang="en-US" sz="1000" dirty="0"/>
                    </a:p>
                  </a:txBody>
                  <a:tcPr/>
                </a:tc>
                <a:tc>
                  <a:txBody>
                    <a:bodyPr/>
                    <a:lstStyle/>
                    <a:p>
                      <a:r>
                        <a:rPr lang="it-IT" sz="1000" dirty="0"/>
                        <a:t>20</a:t>
                      </a:r>
                      <a:endParaRPr lang="en-US" sz="1000" dirty="0"/>
                    </a:p>
                  </a:txBody>
                  <a:tcPr/>
                </a:tc>
                <a:tc>
                  <a:txBody>
                    <a:bodyPr/>
                    <a:lstStyle/>
                    <a:p>
                      <a:r>
                        <a:rPr lang="it-IT" sz="1000" dirty="0"/>
                        <a:t>64</a:t>
                      </a:r>
                      <a:endParaRPr lang="en-US" sz="1000" dirty="0"/>
                    </a:p>
                  </a:txBody>
                  <a:tcPr/>
                </a:tc>
                <a:tc>
                  <a:txBody>
                    <a:bodyPr/>
                    <a:lstStyle/>
                    <a:p>
                      <a:r>
                        <a:rPr lang="it-IT" sz="1000" dirty="0"/>
                        <a:t>1000</a:t>
                      </a:r>
                      <a:endParaRPr lang="en-US" sz="1000" dirty="0"/>
                    </a:p>
                  </a:txBody>
                  <a:tcPr/>
                </a:tc>
                <a:tc>
                  <a:txBody>
                    <a:bodyPr/>
                    <a:lstStyle/>
                    <a:p>
                      <a:r>
                        <a:rPr lang="es-ES" sz="1000" dirty="0"/>
                        <a:t>0.25</a:t>
                      </a:r>
                      <a:endParaRPr lang="it-IT" sz="1000" dirty="0"/>
                    </a:p>
                  </a:txBody>
                  <a:tcPr/>
                </a:tc>
                <a:tc>
                  <a:txBody>
                    <a:bodyPr/>
                    <a:lstStyle/>
                    <a:p>
                      <a:r>
                        <a:rPr lang="it-IT" sz="1000" dirty="0"/>
                        <a:t>0.741</a:t>
                      </a:r>
                    </a:p>
                  </a:txBody>
                  <a:tcPr/>
                </a:tc>
                <a:tc>
                  <a:txBody>
                    <a:bodyPr/>
                    <a:lstStyle/>
                    <a:p>
                      <a:r>
                        <a:rPr lang="it-IT" sz="1000" dirty="0"/>
                        <a:t>0.277</a:t>
                      </a:r>
                    </a:p>
                  </a:txBody>
                  <a:tcPr/>
                </a:tc>
                <a:tc>
                  <a:txBody>
                    <a:bodyPr/>
                    <a:lstStyle/>
                    <a:p>
                      <a:r>
                        <a:rPr lang="es-ES" sz="1000" dirty="0">
                          <a:solidFill>
                            <a:schemeClr val="tx1"/>
                          </a:solidFill>
                        </a:rPr>
                        <a:t>0.8</a:t>
                      </a:r>
                      <a:endParaRPr lang="it-IT" sz="1000" dirty="0">
                        <a:solidFill>
                          <a:schemeClr val="tx1"/>
                        </a:solidFill>
                      </a:endParaRPr>
                    </a:p>
                  </a:txBody>
                  <a:tcPr/>
                </a:tc>
                <a:extLst>
                  <a:ext uri="{0D108BD9-81ED-4DB2-BD59-A6C34878D82A}">
                    <a16:rowId xmlns="" xmlns:a16="http://schemas.microsoft.com/office/drawing/2014/main" val="1367908808"/>
                  </a:ext>
                </a:extLst>
              </a:tr>
              <a:tr h="300172">
                <a:tc>
                  <a:txBody>
                    <a:bodyPr/>
                    <a:lstStyle/>
                    <a:p>
                      <a:r>
                        <a:rPr lang="it-IT" sz="1000" dirty="0"/>
                        <a:t>0.01</a:t>
                      </a:r>
                    </a:p>
                  </a:txBody>
                  <a:tcPr/>
                </a:tc>
                <a:tc>
                  <a:txBody>
                    <a:bodyPr/>
                    <a:lstStyle/>
                    <a:p>
                      <a:r>
                        <a:rPr lang="it-IT" sz="1000" dirty="0"/>
                        <a:t>0.01</a:t>
                      </a:r>
                    </a:p>
                  </a:txBody>
                  <a:tcPr/>
                </a:tc>
                <a:tc>
                  <a:txBody>
                    <a:bodyPr/>
                    <a:lstStyle/>
                    <a:p>
                      <a:r>
                        <a:rPr lang="es-ES" sz="1000" dirty="0"/>
                        <a:t>0</a:t>
                      </a:r>
                      <a:endParaRPr lang="en-US" sz="1000" dirty="0"/>
                    </a:p>
                  </a:txBody>
                  <a:tcPr/>
                </a:tc>
                <a:tc>
                  <a:txBody>
                    <a:bodyPr/>
                    <a:lstStyle/>
                    <a:p>
                      <a:r>
                        <a:rPr lang="it-IT" sz="1000" dirty="0"/>
                        <a:t>0.5</a:t>
                      </a:r>
                      <a:endParaRPr lang="en-US" sz="1000" dirty="0"/>
                    </a:p>
                  </a:txBody>
                  <a:tcPr/>
                </a:tc>
                <a:tc>
                  <a:txBody>
                    <a:bodyPr/>
                    <a:lstStyle/>
                    <a:p>
                      <a:r>
                        <a:rPr lang="it-IT" sz="1000" dirty="0"/>
                        <a:t>xavier</a:t>
                      </a:r>
                      <a:endParaRPr lang="en-US" sz="1000" dirty="0"/>
                    </a:p>
                  </a:txBody>
                  <a:tcPr/>
                </a:tc>
                <a:tc>
                  <a:txBody>
                    <a:bodyPr/>
                    <a:lstStyle/>
                    <a:p>
                      <a:r>
                        <a:rPr lang="it-IT" sz="1000" dirty="0"/>
                        <a:t>1000</a:t>
                      </a:r>
                      <a:endParaRPr lang="en-US" sz="1000" dirty="0"/>
                    </a:p>
                  </a:txBody>
                  <a:tcPr/>
                </a:tc>
                <a:tc>
                  <a:txBody>
                    <a:bodyPr/>
                    <a:lstStyle/>
                    <a:p>
                      <a:r>
                        <a:rPr lang="it-IT" sz="1000" dirty="0"/>
                        <a:t>20</a:t>
                      </a:r>
                      <a:endParaRPr lang="en-US" sz="1000" dirty="0"/>
                    </a:p>
                  </a:txBody>
                  <a:tcPr/>
                </a:tc>
                <a:tc>
                  <a:txBody>
                    <a:bodyPr/>
                    <a:lstStyle/>
                    <a:p>
                      <a:r>
                        <a:rPr lang="it-IT" sz="1000" dirty="0"/>
                        <a:t>32</a:t>
                      </a:r>
                      <a:endParaRPr lang="en-US" sz="1000" dirty="0"/>
                    </a:p>
                  </a:txBody>
                  <a:tcPr/>
                </a:tc>
                <a:tc>
                  <a:txBody>
                    <a:bodyPr/>
                    <a:lstStyle/>
                    <a:p>
                      <a:r>
                        <a:rPr lang="it-IT" sz="1000" dirty="0"/>
                        <a:t>1000</a:t>
                      </a:r>
                      <a:endParaRPr lang="en-US" sz="1000" dirty="0"/>
                    </a:p>
                  </a:txBody>
                  <a:tcPr/>
                </a:tc>
                <a:tc>
                  <a:txBody>
                    <a:bodyPr/>
                    <a:lstStyle/>
                    <a:p>
                      <a:r>
                        <a:rPr lang="es-ES" sz="1000" dirty="0"/>
                        <a:t>0.247</a:t>
                      </a:r>
                      <a:endParaRPr lang="it-IT" sz="1000" dirty="0"/>
                    </a:p>
                  </a:txBody>
                  <a:tcPr/>
                </a:tc>
                <a:tc>
                  <a:txBody>
                    <a:bodyPr/>
                    <a:lstStyle/>
                    <a:p>
                      <a:r>
                        <a:rPr lang="it-IT" sz="1000" dirty="0"/>
                        <a:t>0.730</a:t>
                      </a:r>
                    </a:p>
                  </a:txBody>
                  <a:tcPr/>
                </a:tc>
                <a:tc>
                  <a:txBody>
                    <a:bodyPr/>
                    <a:lstStyle/>
                    <a:p>
                      <a:r>
                        <a:rPr lang="it-IT" sz="1000" dirty="0"/>
                        <a:t>0.276</a:t>
                      </a:r>
                    </a:p>
                  </a:txBody>
                  <a:tcPr/>
                </a:tc>
                <a:tc>
                  <a:txBody>
                    <a:bodyPr/>
                    <a:lstStyle/>
                    <a:p>
                      <a:r>
                        <a:rPr lang="es-ES" sz="1000" dirty="0">
                          <a:solidFill>
                            <a:schemeClr val="tx1"/>
                          </a:solidFill>
                        </a:rPr>
                        <a:t>0.792</a:t>
                      </a:r>
                      <a:endParaRPr lang="it-IT" sz="1000" dirty="0">
                        <a:solidFill>
                          <a:schemeClr val="tx1"/>
                        </a:solidFill>
                      </a:endParaRPr>
                    </a:p>
                  </a:txBody>
                  <a:tcPr/>
                </a:tc>
                <a:extLst>
                  <a:ext uri="{0D108BD9-81ED-4DB2-BD59-A6C34878D82A}">
                    <a16:rowId xmlns="" xmlns:a16="http://schemas.microsoft.com/office/drawing/2014/main" val="1540368628"/>
                  </a:ext>
                </a:extLst>
              </a:tr>
            </a:tbl>
          </a:graphicData>
        </a:graphic>
      </p:graphicFrame>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4566" y="2591475"/>
            <a:ext cx="2695210" cy="2028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4226" y="2631311"/>
            <a:ext cx="2721840" cy="2031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CasellaDiTesto 1">
            <a:extLst>
              <a:ext uri="{FF2B5EF4-FFF2-40B4-BE49-F238E27FC236}">
                <a16:creationId xmlns="" xmlns:a16="http://schemas.microsoft.com/office/drawing/2014/main" id="{F4E25899-E5D2-A27A-2901-69EE45432E64}"/>
              </a:ext>
            </a:extLst>
          </p:cNvPr>
          <p:cNvSpPr txBox="1"/>
          <p:nvPr/>
        </p:nvSpPr>
        <p:spPr>
          <a:xfrm>
            <a:off x="2286000" y="4620280"/>
            <a:ext cx="4738530" cy="523220"/>
          </a:xfrm>
          <a:prstGeom prst="rect">
            <a:avLst/>
          </a:prstGeom>
          <a:noFill/>
        </p:spPr>
        <p:txBody>
          <a:bodyPr wrap="square">
            <a:spAutoFit/>
          </a:bodyPr>
          <a:lstStyle/>
          <a:p>
            <a:pPr marL="0" lvl="0" indent="0" algn="l" rtl="0">
              <a:spcBef>
                <a:spcPts val="1200"/>
              </a:spcBef>
              <a:spcAft>
                <a:spcPts val="1200"/>
              </a:spcAft>
              <a:buNone/>
            </a:pPr>
            <a:r>
              <a:rPr lang="it-IT" dirty="0"/>
              <a:t>Figure </a:t>
            </a:r>
            <a:r>
              <a:rPr lang="it-IT" dirty="0" smtClean="0"/>
              <a:t>7. </a:t>
            </a:r>
            <a:r>
              <a:rPr lang="it-IT" dirty="0"/>
              <a:t>Plot of MEE </a:t>
            </a:r>
            <a:r>
              <a:rPr lang="it-IT" dirty="0" smtClean="0"/>
              <a:t>&amp; </a:t>
            </a:r>
            <a:r>
              <a:rPr lang="it-IT" dirty="0"/>
              <a:t>MSE for ML </a:t>
            </a:r>
            <a:r>
              <a:rPr lang="it-IT" dirty="0" smtClean="0"/>
              <a:t>Cup, </a:t>
            </a:r>
            <a:r>
              <a:rPr lang="it-IT" dirty="0"/>
              <a:t>Architecture </a:t>
            </a:r>
            <a:r>
              <a:rPr lang="it-IT" dirty="0" smtClean="0"/>
              <a:t>3, </a:t>
            </a:r>
            <a:r>
              <a:rPr lang="it-IT" dirty="0"/>
              <a:t>best result (Training VS Validation)</a:t>
            </a:r>
          </a:p>
        </p:txBody>
      </p:sp>
      <p:sp>
        <p:nvSpPr>
          <p:cNvPr id="3" name="CasellaDiTesto 2">
            <a:extLst>
              <a:ext uri="{FF2B5EF4-FFF2-40B4-BE49-F238E27FC236}">
                <a16:creationId xmlns="" xmlns:a16="http://schemas.microsoft.com/office/drawing/2014/main" id="{20A849E8-657A-2922-1870-FE262E33239C}"/>
              </a:ext>
            </a:extLst>
          </p:cNvPr>
          <p:cNvSpPr txBox="1"/>
          <p:nvPr/>
        </p:nvSpPr>
        <p:spPr>
          <a:xfrm>
            <a:off x="1167534" y="892573"/>
            <a:ext cx="7376843" cy="307777"/>
          </a:xfrm>
          <a:prstGeom prst="rect">
            <a:avLst/>
          </a:prstGeom>
          <a:noFill/>
        </p:spPr>
        <p:txBody>
          <a:bodyPr wrap="square">
            <a:spAutoFit/>
          </a:bodyPr>
          <a:lstStyle/>
          <a:p>
            <a:r>
              <a:rPr lang="it-IT" sz="1400" dirty="0" err="1">
                <a:solidFill>
                  <a:schemeClr val="tx1"/>
                </a:solidFill>
              </a:rPr>
              <a:t>Table</a:t>
            </a:r>
            <a:r>
              <a:rPr lang="it-IT" sz="1400" dirty="0">
                <a:solidFill>
                  <a:schemeClr val="tx1"/>
                </a:solidFill>
              </a:rPr>
              <a:t> 4. </a:t>
            </a:r>
            <a:r>
              <a:rPr lang="it-IT" sz="1400" dirty="0" err="1">
                <a:solidFill>
                  <a:schemeClr val="tx1"/>
                </a:solidFill>
              </a:rPr>
              <a:t>Hyperparameters</a:t>
            </a:r>
            <a:r>
              <a:rPr lang="it-IT" sz="1400" dirty="0">
                <a:solidFill>
                  <a:schemeClr val="tx1"/>
                </a:solidFill>
              </a:rPr>
              <a:t> and TR/VAL </a:t>
            </a:r>
            <a:r>
              <a:rPr lang="it-IT" sz="1400" dirty="0" err="1">
                <a:solidFill>
                  <a:schemeClr val="tx1"/>
                </a:solidFill>
              </a:rPr>
              <a:t>error</a:t>
            </a:r>
            <a:r>
              <a:rPr lang="it-IT" sz="1400" dirty="0">
                <a:solidFill>
                  <a:schemeClr val="tx1"/>
                </a:solidFill>
              </a:rPr>
              <a:t> for best models with Architecture </a:t>
            </a:r>
            <a:r>
              <a:rPr lang="it-IT" dirty="0">
                <a:solidFill>
                  <a:schemeClr val="tx1"/>
                </a:solidFill>
              </a:rPr>
              <a:t>3</a:t>
            </a:r>
            <a:endParaRPr lang="en-US" dirty="0"/>
          </a:p>
        </p:txBody>
      </p:sp>
    </p:spTree>
    <p:extLst>
      <p:ext uri="{BB962C8B-B14F-4D97-AF65-F5344CB8AC3E}">
        <p14:creationId xmlns:p14="http://schemas.microsoft.com/office/powerpoint/2010/main" val="417874598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 xmlns:a16="http://schemas.microsoft.com/office/drawing/2014/main" id="{36F72A2A-8E16-A841-FA46-646BBAD95E81}"/>
            </a:ext>
          </a:extLst>
        </p:cNvPr>
        <p:cNvGrpSpPr/>
        <p:nvPr/>
      </p:nvGrpSpPr>
      <p:grpSpPr>
        <a:xfrm>
          <a:off x="0" y="0"/>
          <a:ext cx="0" cy="0"/>
          <a:chOff x="0" y="0"/>
          <a:chExt cx="0" cy="0"/>
        </a:xfrm>
      </p:grpSpPr>
      <p:sp>
        <p:nvSpPr>
          <p:cNvPr id="109" name="Google Shape;109;p20">
            <a:extLst>
              <a:ext uri="{FF2B5EF4-FFF2-40B4-BE49-F238E27FC236}">
                <a16:creationId xmlns="" xmlns:a16="http://schemas.microsoft.com/office/drawing/2014/main" id="{EC1D8DA6-ECBB-2F87-67C5-6E72677E3AE0}"/>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lvl="0">
              <a:buSzPct val="39285"/>
            </a:pPr>
            <a:r>
              <a:rPr lang="it-IT" b="1" dirty="0"/>
              <a:t>Architecture 4: [12,7,5,3] / [ELU,ELU,Linear]</a:t>
            </a:r>
            <a:r>
              <a:rPr lang="it-IT" sz="1100" b="1" dirty="0"/>
              <a:t/>
            </a:r>
            <a:br>
              <a:rPr lang="it-IT" sz="1100" b="1" dirty="0"/>
            </a:br>
            <a:endParaRPr b="1" dirty="0"/>
          </a:p>
        </p:txBody>
      </p:sp>
      <p:sp>
        <p:nvSpPr>
          <p:cNvPr id="111" name="Google Shape;111;p20">
            <a:extLst>
              <a:ext uri="{FF2B5EF4-FFF2-40B4-BE49-F238E27FC236}">
                <a16:creationId xmlns="" xmlns:a16="http://schemas.microsoft.com/office/drawing/2014/main" id="{0CA53C7C-DB62-4FC5-9E67-DC5258A4ED69}"/>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17</a:t>
            </a:fld>
            <a:endParaRPr/>
          </a:p>
        </p:txBody>
      </p:sp>
      <p:graphicFrame>
        <p:nvGraphicFramePr>
          <p:cNvPr id="6" name="Tabella 5">
            <a:extLst>
              <a:ext uri="{FF2B5EF4-FFF2-40B4-BE49-F238E27FC236}">
                <a16:creationId xmlns="" xmlns:a16="http://schemas.microsoft.com/office/drawing/2014/main" id="{096FFDC2-A4E3-2E72-06A7-0411872DB991}"/>
              </a:ext>
            </a:extLst>
          </p:cNvPr>
          <p:cNvGraphicFramePr>
            <a:graphicFrameLocks noGrp="1"/>
          </p:cNvGraphicFramePr>
          <p:nvPr>
            <p:extLst>
              <p:ext uri="{D42A27DB-BD31-4B8C-83A1-F6EECF244321}">
                <p14:modId xmlns:p14="http://schemas.microsoft.com/office/powerpoint/2010/main" val="2285099616"/>
              </p:ext>
            </p:extLst>
          </p:nvPr>
        </p:nvGraphicFramePr>
        <p:xfrm>
          <a:off x="236722" y="1166521"/>
          <a:ext cx="8670555" cy="1499627"/>
        </p:xfrm>
        <a:graphic>
          <a:graphicData uri="http://schemas.openxmlformats.org/drawingml/2006/table">
            <a:tbl>
              <a:tblPr firstRow="1" bandRow="1">
                <a:tableStyleId>{5940675A-B579-460E-94D1-54222C63F5DA}</a:tableStyleId>
              </a:tblPr>
              <a:tblGrid>
                <a:gridCol w="486699">
                  <a:extLst>
                    <a:ext uri="{9D8B030D-6E8A-4147-A177-3AD203B41FA5}">
                      <a16:colId xmlns="" xmlns:a16="http://schemas.microsoft.com/office/drawing/2014/main" val="731556087"/>
                    </a:ext>
                  </a:extLst>
                </a:gridCol>
                <a:gridCol w="638107">
                  <a:extLst>
                    <a:ext uri="{9D8B030D-6E8A-4147-A177-3AD203B41FA5}">
                      <a16:colId xmlns="" xmlns:a16="http://schemas.microsoft.com/office/drawing/2014/main" val="2288799742"/>
                    </a:ext>
                  </a:extLst>
                </a:gridCol>
                <a:gridCol w="709601">
                  <a:extLst>
                    <a:ext uri="{9D8B030D-6E8A-4147-A177-3AD203B41FA5}">
                      <a16:colId xmlns="" xmlns:a16="http://schemas.microsoft.com/office/drawing/2014/main" val="416376318"/>
                    </a:ext>
                  </a:extLst>
                </a:gridCol>
                <a:gridCol w="426811">
                  <a:extLst>
                    <a:ext uri="{9D8B030D-6E8A-4147-A177-3AD203B41FA5}">
                      <a16:colId xmlns="" xmlns:a16="http://schemas.microsoft.com/office/drawing/2014/main" val="2127937263"/>
                    </a:ext>
                  </a:extLst>
                </a:gridCol>
                <a:gridCol w="823406">
                  <a:extLst>
                    <a:ext uri="{9D8B030D-6E8A-4147-A177-3AD203B41FA5}">
                      <a16:colId xmlns="" xmlns:a16="http://schemas.microsoft.com/office/drawing/2014/main" val="2095147630"/>
                    </a:ext>
                  </a:extLst>
                </a:gridCol>
                <a:gridCol w="621961">
                  <a:extLst>
                    <a:ext uri="{9D8B030D-6E8A-4147-A177-3AD203B41FA5}">
                      <a16:colId xmlns="" xmlns:a16="http://schemas.microsoft.com/office/drawing/2014/main" val="631079797"/>
                    </a:ext>
                  </a:extLst>
                </a:gridCol>
                <a:gridCol w="603075">
                  <a:extLst>
                    <a:ext uri="{9D8B030D-6E8A-4147-A177-3AD203B41FA5}">
                      <a16:colId xmlns="" xmlns:a16="http://schemas.microsoft.com/office/drawing/2014/main" val="308787855"/>
                    </a:ext>
                  </a:extLst>
                </a:gridCol>
                <a:gridCol w="527534">
                  <a:extLst>
                    <a:ext uri="{9D8B030D-6E8A-4147-A177-3AD203B41FA5}">
                      <a16:colId xmlns="" xmlns:a16="http://schemas.microsoft.com/office/drawing/2014/main" val="3508982912"/>
                    </a:ext>
                  </a:extLst>
                </a:gridCol>
                <a:gridCol w="492910">
                  <a:extLst>
                    <a:ext uri="{9D8B030D-6E8A-4147-A177-3AD203B41FA5}">
                      <a16:colId xmlns="" xmlns:a16="http://schemas.microsoft.com/office/drawing/2014/main" val="1481393494"/>
                    </a:ext>
                  </a:extLst>
                </a:gridCol>
                <a:gridCol w="873117">
                  <a:extLst>
                    <a:ext uri="{9D8B030D-6E8A-4147-A177-3AD203B41FA5}">
                      <a16:colId xmlns="" xmlns:a16="http://schemas.microsoft.com/office/drawing/2014/main" val="2116244874"/>
                    </a:ext>
                  </a:extLst>
                </a:gridCol>
                <a:gridCol w="873117">
                  <a:extLst>
                    <a:ext uri="{9D8B030D-6E8A-4147-A177-3AD203B41FA5}">
                      <a16:colId xmlns="" xmlns:a16="http://schemas.microsoft.com/office/drawing/2014/main" val="2496640819"/>
                    </a:ext>
                  </a:extLst>
                </a:gridCol>
                <a:gridCol w="791189">
                  <a:extLst>
                    <a:ext uri="{9D8B030D-6E8A-4147-A177-3AD203B41FA5}">
                      <a16:colId xmlns="" xmlns:a16="http://schemas.microsoft.com/office/drawing/2014/main" val="1055177474"/>
                    </a:ext>
                  </a:extLst>
                </a:gridCol>
                <a:gridCol w="803028">
                  <a:extLst>
                    <a:ext uri="{9D8B030D-6E8A-4147-A177-3AD203B41FA5}">
                      <a16:colId xmlns="" xmlns:a16="http://schemas.microsoft.com/office/drawing/2014/main" val="1184326143"/>
                    </a:ext>
                  </a:extLst>
                </a:gridCol>
              </a:tblGrid>
              <a:tr h="520501">
                <a:tc>
                  <a:txBody>
                    <a:bodyPr/>
                    <a:lstStyle/>
                    <a:p>
                      <a:r>
                        <a:rPr lang="it-IT" sz="900" b="1" dirty="0"/>
                        <a:t>Eta0</a:t>
                      </a:r>
                    </a:p>
                  </a:txBody>
                  <a:tcPr>
                    <a:solidFill>
                      <a:schemeClr val="tx2"/>
                    </a:solidFill>
                  </a:tcPr>
                </a:tc>
                <a:tc>
                  <a:txBody>
                    <a:bodyPr/>
                    <a:lstStyle/>
                    <a:p>
                      <a:r>
                        <a:rPr lang="it-IT" sz="900" b="1" dirty="0" err="1"/>
                        <a:t>EtaFinal</a:t>
                      </a:r>
                      <a:endParaRPr lang="it-IT" sz="900" b="1" dirty="0"/>
                    </a:p>
                  </a:txBody>
                  <a:tcP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1" dirty="0"/>
                        <a:t>Lambda</a:t>
                      </a:r>
                    </a:p>
                    <a:p>
                      <a:endParaRPr lang="it-IT" sz="900" b="1" dirty="0"/>
                    </a:p>
                  </a:txBody>
                  <a:tcPr>
                    <a:solidFill>
                      <a:schemeClr val="tx2"/>
                    </a:solidFill>
                  </a:tcPr>
                </a:tc>
                <a:tc>
                  <a:txBody>
                    <a:bodyPr/>
                    <a:lstStyle/>
                    <a:p>
                      <a:r>
                        <a:rPr lang="it-IT" sz="900" b="1" dirty="0"/>
                        <a:t>Alfa</a:t>
                      </a:r>
                    </a:p>
                  </a:txBody>
                  <a:tcPr>
                    <a:solidFill>
                      <a:schemeClr val="tx2"/>
                    </a:solidFill>
                  </a:tcPr>
                </a:tc>
                <a:tc>
                  <a:txBody>
                    <a:bodyPr/>
                    <a:lstStyle/>
                    <a:p>
                      <a:r>
                        <a:rPr lang="it-IT" sz="900" b="1" dirty="0" err="1"/>
                        <a:t>Weight_Init</a:t>
                      </a:r>
                      <a:endParaRPr lang="it-IT" sz="900" b="1" dirty="0"/>
                    </a:p>
                  </a:txBody>
                  <a:tcPr>
                    <a:solidFill>
                      <a:schemeClr val="tx2"/>
                    </a:solidFill>
                  </a:tcPr>
                </a:tc>
                <a:tc>
                  <a:txBody>
                    <a:bodyPr/>
                    <a:lstStyle/>
                    <a:p>
                      <a:r>
                        <a:rPr lang="it-IT" sz="900" b="1" dirty="0" err="1"/>
                        <a:t>Epochs</a:t>
                      </a:r>
                      <a:endParaRPr lang="it-IT" sz="900" b="1" dirty="0"/>
                    </a:p>
                  </a:txBody>
                  <a:tcPr>
                    <a:solidFill>
                      <a:schemeClr val="tx2"/>
                    </a:solidFill>
                  </a:tcPr>
                </a:tc>
                <a:tc>
                  <a:txBody>
                    <a:bodyPr/>
                    <a:lstStyle/>
                    <a:p>
                      <a:r>
                        <a:rPr lang="it-IT" sz="900" b="1" dirty="0" err="1"/>
                        <a:t>Restart</a:t>
                      </a:r>
                      <a:endParaRPr lang="it-IT" sz="900" b="1" dirty="0"/>
                    </a:p>
                  </a:txBody>
                  <a:tcPr>
                    <a:solidFill>
                      <a:schemeClr val="tx2"/>
                    </a:solidFill>
                  </a:tcPr>
                </a:tc>
                <a:tc>
                  <a:txBody>
                    <a:bodyPr/>
                    <a:lstStyle/>
                    <a:p>
                      <a:r>
                        <a:rPr lang="it-IT" sz="900" b="1" dirty="0"/>
                        <a:t>Batch</a:t>
                      </a:r>
                    </a:p>
                  </a:txBody>
                  <a:tcPr>
                    <a:solidFill>
                      <a:schemeClr val="tx2"/>
                    </a:solidFill>
                  </a:tcPr>
                </a:tc>
                <a:tc>
                  <a:txBody>
                    <a:bodyPr/>
                    <a:lstStyle/>
                    <a:p>
                      <a:r>
                        <a:rPr lang="it-IT" sz="900" b="1" dirty="0"/>
                        <a:t>Tau</a:t>
                      </a:r>
                    </a:p>
                  </a:txBody>
                  <a:tcPr>
                    <a:solidFill>
                      <a:schemeClr val="tx2"/>
                    </a:solidFill>
                  </a:tcPr>
                </a:tc>
                <a:tc>
                  <a:txBody>
                    <a:bodyPr/>
                    <a:lstStyle/>
                    <a:p>
                      <a:r>
                        <a:rPr lang="it-IT" sz="900" b="1" dirty="0" err="1"/>
                        <a:t>TR_Error</a:t>
                      </a:r>
                      <a:r>
                        <a:rPr lang="it-IT" sz="900" b="1" dirty="0"/>
                        <a:t> (MSE)</a:t>
                      </a:r>
                    </a:p>
                  </a:txBody>
                  <a:tcP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1" dirty="0" err="1"/>
                        <a:t>TR_Error</a:t>
                      </a:r>
                      <a:r>
                        <a:rPr lang="it-IT" sz="900" b="1" dirty="0"/>
                        <a:t> (MEE)</a:t>
                      </a:r>
                    </a:p>
                    <a:p>
                      <a:endParaRPr lang="it-IT" sz="900" b="1" dirty="0"/>
                    </a:p>
                  </a:txBody>
                  <a:tcP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1" dirty="0" err="1"/>
                        <a:t>VAL_Error</a:t>
                      </a:r>
                      <a:r>
                        <a:rPr lang="it-IT" sz="900" b="1" dirty="0"/>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1" dirty="0"/>
                        <a:t>(MSE)</a:t>
                      </a:r>
                    </a:p>
                    <a:p>
                      <a:endParaRPr lang="it-IT" sz="900" b="1" dirty="0"/>
                    </a:p>
                  </a:txBody>
                  <a:tcP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1" dirty="0" err="1"/>
                        <a:t>VAL_Error</a:t>
                      </a:r>
                      <a:r>
                        <a:rPr lang="it-IT" sz="900" b="1" dirty="0"/>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1" dirty="0"/>
                        <a:t>(MEE)</a:t>
                      </a:r>
                    </a:p>
                    <a:p>
                      <a:endParaRPr lang="it-IT" sz="900" b="1" dirty="0"/>
                    </a:p>
                  </a:txBody>
                  <a:tcPr>
                    <a:solidFill>
                      <a:schemeClr val="tx2"/>
                    </a:solidFill>
                  </a:tcPr>
                </a:tc>
                <a:extLst>
                  <a:ext uri="{0D108BD9-81ED-4DB2-BD59-A6C34878D82A}">
                    <a16:rowId xmlns="" xmlns:a16="http://schemas.microsoft.com/office/drawing/2014/main" val="1201224141"/>
                  </a:ext>
                </a:extLst>
              </a:tr>
              <a:tr h="489563">
                <a:tc>
                  <a:txBody>
                    <a:bodyPr/>
                    <a:lstStyle/>
                    <a:p>
                      <a:r>
                        <a:rPr lang="it-IT" sz="900" b="0" dirty="0"/>
                        <a:t>0.01</a:t>
                      </a:r>
                    </a:p>
                  </a:txBody>
                  <a:tcPr>
                    <a:noFill/>
                  </a:tcPr>
                </a:tc>
                <a:tc>
                  <a:txBody>
                    <a:bodyPr/>
                    <a:lstStyle/>
                    <a:p>
                      <a:r>
                        <a:rPr lang="es-ES" sz="900" b="0" dirty="0"/>
                        <a:t>0.001</a:t>
                      </a:r>
                      <a:endParaRPr lang="it-IT" sz="900" b="0" dirty="0"/>
                    </a:p>
                  </a:txBody>
                  <a:tcPr>
                    <a:noFill/>
                  </a:tcPr>
                </a:tc>
                <a:tc>
                  <a:txBody>
                    <a:bodyPr/>
                    <a:lstStyle/>
                    <a:p>
                      <a:r>
                        <a:rPr lang="it-IT" sz="900" b="0" dirty="0"/>
                        <a:t>0.00001</a:t>
                      </a:r>
                    </a:p>
                  </a:txBody>
                  <a:tcPr>
                    <a:noFill/>
                  </a:tcPr>
                </a:tc>
                <a:tc>
                  <a:txBody>
                    <a:bodyPr/>
                    <a:lstStyle/>
                    <a:p>
                      <a:r>
                        <a:rPr lang="it-IT" sz="900" b="0" dirty="0"/>
                        <a:t>0.6</a:t>
                      </a:r>
                    </a:p>
                  </a:txBody>
                  <a:tcPr>
                    <a:noFill/>
                  </a:tcPr>
                </a:tc>
                <a:tc>
                  <a:txBody>
                    <a:bodyPr/>
                    <a:lstStyle/>
                    <a:p>
                      <a:r>
                        <a:rPr lang="it-IT" sz="900" b="0" dirty="0"/>
                        <a:t>xavier</a:t>
                      </a:r>
                    </a:p>
                  </a:txBody>
                  <a:tcPr>
                    <a:noFill/>
                  </a:tcPr>
                </a:tc>
                <a:tc>
                  <a:txBody>
                    <a:bodyPr/>
                    <a:lstStyle/>
                    <a:p>
                      <a:r>
                        <a:rPr lang="it-IT" sz="900" b="0" dirty="0"/>
                        <a:t>1000</a:t>
                      </a:r>
                    </a:p>
                  </a:txBody>
                  <a:tcPr>
                    <a:noFill/>
                  </a:tcPr>
                </a:tc>
                <a:tc>
                  <a:txBody>
                    <a:bodyPr/>
                    <a:lstStyle/>
                    <a:p>
                      <a:r>
                        <a:rPr lang="it-IT" sz="900" b="0" dirty="0"/>
                        <a:t>20</a:t>
                      </a:r>
                    </a:p>
                  </a:txBody>
                  <a:tcPr>
                    <a:noFill/>
                  </a:tcPr>
                </a:tc>
                <a:tc>
                  <a:txBody>
                    <a:bodyPr/>
                    <a:lstStyle/>
                    <a:p>
                      <a:r>
                        <a:rPr lang="it-IT" sz="900" b="0" dirty="0"/>
                        <a:t>64</a:t>
                      </a:r>
                    </a:p>
                  </a:txBody>
                  <a:tcPr>
                    <a:noFill/>
                  </a:tcPr>
                </a:tc>
                <a:tc>
                  <a:txBody>
                    <a:bodyPr/>
                    <a:lstStyle/>
                    <a:p>
                      <a:r>
                        <a:rPr lang="it-IT" sz="900" b="0" dirty="0"/>
                        <a:t>1000</a:t>
                      </a:r>
                    </a:p>
                  </a:txBody>
                  <a:tcPr>
                    <a:noFill/>
                  </a:tcPr>
                </a:tc>
                <a:tc>
                  <a:txBody>
                    <a:bodyPr/>
                    <a:lstStyle/>
                    <a:p>
                      <a:r>
                        <a:rPr lang="es-ES" sz="900" b="0" dirty="0"/>
                        <a:t>0.26</a:t>
                      </a:r>
                      <a:endParaRPr lang="it-IT" sz="900" b="0" dirty="0"/>
                    </a:p>
                  </a:txBody>
                  <a:tcPr>
                    <a:noFill/>
                  </a:tcPr>
                </a:tc>
                <a:tc>
                  <a:txBody>
                    <a:bodyPr/>
                    <a:lstStyle/>
                    <a:p>
                      <a:r>
                        <a:rPr lang="it-IT" sz="900" b="0" dirty="0"/>
                        <a:t>0.78</a:t>
                      </a:r>
                    </a:p>
                  </a:txBody>
                  <a:tcPr>
                    <a:noFill/>
                  </a:tcPr>
                </a:tc>
                <a:tc>
                  <a:txBody>
                    <a:bodyPr/>
                    <a:lstStyle/>
                    <a:p>
                      <a:r>
                        <a:rPr lang="it-IT" sz="900" b="0" dirty="0">
                          <a:solidFill>
                            <a:schemeClr val="tx1"/>
                          </a:solidFill>
                        </a:rPr>
                        <a:t>0.29</a:t>
                      </a:r>
                    </a:p>
                  </a:txBody>
                  <a:tcPr>
                    <a:noFill/>
                  </a:tcPr>
                </a:tc>
                <a:tc>
                  <a:txBody>
                    <a:bodyPr/>
                    <a:lstStyle/>
                    <a:p>
                      <a:r>
                        <a:rPr lang="es-ES" sz="900" b="0" dirty="0"/>
                        <a:t>0.83</a:t>
                      </a:r>
                      <a:endParaRPr lang="it-IT" sz="900" b="0" dirty="0"/>
                    </a:p>
                  </a:txBody>
                  <a:tcPr>
                    <a:noFill/>
                  </a:tcPr>
                </a:tc>
                <a:extLst>
                  <a:ext uri="{0D108BD9-81ED-4DB2-BD59-A6C34878D82A}">
                    <a16:rowId xmlns="" xmlns:a16="http://schemas.microsoft.com/office/drawing/2014/main" val="10001"/>
                  </a:ext>
                </a:extLst>
              </a:tr>
              <a:tr h="489563">
                <a:tc>
                  <a:txBody>
                    <a:bodyPr/>
                    <a:lstStyle/>
                    <a:p>
                      <a:r>
                        <a:rPr lang="es-ES" sz="900" b="0" dirty="0"/>
                        <a:t>0.001</a:t>
                      </a:r>
                      <a:endParaRPr lang="it-IT" sz="900" b="0" dirty="0"/>
                    </a:p>
                  </a:txBody>
                  <a:tcPr>
                    <a:noFill/>
                  </a:tcPr>
                </a:tc>
                <a:tc>
                  <a:txBody>
                    <a:bodyPr/>
                    <a:lstStyle/>
                    <a:p>
                      <a:r>
                        <a:rPr lang="es-ES" sz="900" b="0" dirty="0"/>
                        <a:t>0.001</a:t>
                      </a:r>
                      <a:endParaRPr lang="it-IT" sz="900" b="0" dirty="0"/>
                    </a:p>
                  </a:txBody>
                  <a:tcPr>
                    <a:noFill/>
                  </a:tcPr>
                </a:tc>
                <a:tc>
                  <a:txBody>
                    <a:bodyPr/>
                    <a:lstStyle/>
                    <a:p>
                      <a:r>
                        <a:rPr lang="it-IT" sz="900" b="0" dirty="0"/>
                        <a:t>0.00001</a:t>
                      </a:r>
                    </a:p>
                  </a:txBody>
                  <a:tcPr>
                    <a:noFill/>
                  </a:tcPr>
                </a:tc>
                <a:tc>
                  <a:txBody>
                    <a:bodyPr/>
                    <a:lstStyle/>
                    <a:p>
                      <a:r>
                        <a:rPr lang="it-IT" sz="900" b="0" dirty="0"/>
                        <a:t>0.6</a:t>
                      </a:r>
                    </a:p>
                  </a:txBody>
                  <a:tcPr>
                    <a:noFill/>
                  </a:tcPr>
                </a:tc>
                <a:tc>
                  <a:txBody>
                    <a:bodyPr/>
                    <a:lstStyle/>
                    <a:p>
                      <a:r>
                        <a:rPr lang="it-IT" sz="900" b="0" dirty="0"/>
                        <a:t>xavier</a:t>
                      </a:r>
                    </a:p>
                  </a:txBody>
                  <a:tcPr>
                    <a:noFill/>
                  </a:tcPr>
                </a:tc>
                <a:tc>
                  <a:txBody>
                    <a:bodyPr/>
                    <a:lstStyle/>
                    <a:p>
                      <a:r>
                        <a:rPr lang="it-IT" sz="900" b="0" dirty="0"/>
                        <a:t>1000</a:t>
                      </a:r>
                    </a:p>
                  </a:txBody>
                  <a:tcPr>
                    <a:noFill/>
                  </a:tcPr>
                </a:tc>
                <a:tc>
                  <a:txBody>
                    <a:bodyPr/>
                    <a:lstStyle/>
                    <a:p>
                      <a:r>
                        <a:rPr lang="it-IT" sz="900" b="0" dirty="0"/>
                        <a:t>20</a:t>
                      </a:r>
                    </a:p>
                  </a:txBody>
                  <a:tcPr>
                    <a:noFill/>
                  </a:tcPr>
                </a:tc>
                <a:tc>
                  <a:txBody>
                    <a:bodyPr/>
                    <a:lstStyle/>
                    <a:p>
                      <a:r>
                        <a:rPr lang="it-IT" sz="900" b="0" dirty="0"/>
                        <a:t>64</a:t>
                      </a:r>
                    </a:p>
                  </a:txBody>
                  <a:tcPr>
                    <a:noFill/>
                  </a:tcPr>
                </a:tc>
                <a:tc>
                  <a:txBody>
                    <a:bodyPr/>
                    <a:lstStyle/>
                    <a:p>
                      <a:r>
                        <a:rPr lang="it-IT" sz="900" b="0" dirty="0"/>
                        <a:t>1000</a:t>
                      </a:r>
                    </a:p>
                  </a:txBody>
                  <a:tcPr>
                    <a:noFill/>
                  </a:tcPr>
                </a:tc>
                <a:tc>
                  <a:txBody>
                    <a:bodyPr/>
                    <a:lstStyle/>
                    <a:p>
                      <a:r>
                        <a:rPr lang="es-ES" sz="900" b="0" dirty="0"/>
                        <a:t>0.54</a:t>
                      </a:r>
                      <a:endParaRPr lang="it-IT" sz="900" b="0" dirty="0"/>
                    </a:p>
                  </a:txBody>
                  <a:tcPr>
                    <a:noFill/>
                  </a:tcPr>
                </a:tc>
                <a:tc>
                  <a:txBody>
                    <a:bodyPr/>
                    <a:lstStyle/>
                    <a:p>
                      <a:r>
                        <a:rPr lang="it-IT" sz="900" b="0" dirty="0"/>
                        <a:t> 1.10</a:t>
                      </a:r>
                    </a:p>
                  </a:txBody>
                  <a:tcPr>
                    <a:noFill/>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0" dirty="0">
                          <a:solidFill>
                            <a:srgbClr val="FF0000"/>
                          </a:solidFill>
                        </a:rPr>
                        <a:t> </a:t>
                      </a:r>
                      <a:r>
                        <a:rPr lang="it-IT" sz="900" b="0" dirty="0">
                          <a:solidFill>
                            <a:schemeClr val="tx1"/>
                          </a:solidFill>
                        </a:rPr>
                        <a:t>0.52</a:t>
                      </a:r>
                    </a:p>
                    <a:p>
                      <a:endParaRPr lang="it-IT" sz="900" b="0" dirty="0">
                        <a:solidFill>
                          <a:srgbClr val="FF0000"/>
                        </a:solidFill>
                      </a:endParaRPr>
                    </a:p>
                  </a:txBody>
                  <a:tcPr>
                    <a:noFill/>
                  </a:tcPr>
                </a:tc>
                <a:tc>
                  <a:txBody>
                    <a:bodyPr/>
                    <a:lstStyle/>
                    <a:p>
                      <a:r>
                        <a:rPr lang="es-ES" sz="900" b="0" dirty="0"/>
                        <a:t>1.20</a:t>
                      </a:r>
                      <a:endParaRPr lang="it-IT" sz="900" b="0" dirty="0"/>
                    </a:p>
                  </a:txBody>
                  <a:tcPr>
                    <a:noFill/>
                  </a:tcPr>
                </a:tc>
                <a:extLst>
                  <a:ext uri="{0D108BD9-81ED-4DB2-BD59-A6C34878D82A}">
                    <a16:rowId xmlns="" xmlns:a16="http://schemas.microsoft.com/office/drawing/2014/main" val="10002"/>
                  </a:ext>
                </a:extLst>
              </a:tr>
            </a:tbl>
          </a:graphicData>
        </a:graphic>
      </p:graphicFrame>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9752" y="2711037"/>
            <a:ext cx="2484115" cy="18748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8287" y="2711038"/>
            <a:ext cx="2438154" cy="18311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CasellaDiTesto 1">
            <a:extLst>
              <a:ext uri="{FF2B5EF4-FFF2-40B4-BE49-F238E27FC236}">
                <a16:creationId xmlns="" xmlns:a16="http://schemas.microsoft.com/office/drawing/2014/main" id="{CB77E3B2-D797-487F-A590-D296279858BF}"/>
              </a:ext>
            </a:extLst>
          </p:cNvPr>
          <p:cNvSpPr txBox="1"/>
          <p:nvPr/>
        </p:nvSpPr>
        <p:spPr>
          <a:xfrm>
            <a:off x="811454" y="4568875"/>
            <a:ext cx="7478702" cy="523220"/>
          </a:xfrm>
          <a:prstGeom prst="rect">
            <a:avLst/>
          </a:prstGeom>
          <a:noFill/>
        </p:spPr>
        <p:txBody>
          <a:bodyPr wrap="square">
            <a:spAutoFit/>
          </a:bodyPr>
          <a:lstStyle/>
          <a:p>
            <a:pPr>
              <a:spcBef>
                <a:spcPts val="1200"/>
              </a:spcBef>
              <a:spcAft>
                <a:spcPts val="1200"/>
              </a:spcAft>
            </a:pPr>
            <a:r>
              <a:rPr lang="it-IT" dirty="0"/>
              <a:t>Figure 8</a:t>
            </a:r>
            <a:r>
              <a:rPr lang="it-IT" dirty="0" smtClean="0"/>
              <a:t>. </a:t>
            </a:r>
            <a:r>
              <a:rPr lang="it-IT" dirty="0"/>
              <a:t>Plot of MEE (Training VS </a:t>
            </a:r>
            <a:r>
              <a:rPr lang="it-IT" dirty="0" smtClean="0"/>
              <a:t>Validation) on ML Cup, for two hyperparam. config. with Architecture 4, </a:t>
            </a:r>
            <a:r>
              <a:rPr lang="en-US" dirty="0"/>
              <a:t>the </a:t>
            </a:r>
            <a:r>
              <a:rPr lang="en-US" dirty="0" smtClean="0"/>
              <a:t>one on the left </a:t>
            </a:r>
            <a:r>
              <a:rPr lang="en-US" dirty="0"/>
              <a:t>achieves better results but is unstable</a:t>
            </a:r>
            <a:endParaRPr lang="it-IT" dirty="0"/>
          </a:p>
        </p:txBody>
      </p:sp>
      <p:sp>
        <p:nvSpPr>
          <p:cNvPr id="3" name="CasellaDiTesto 2">
            <a:extLst>
              <a:ext uri="{FF2B5EF4-FFF2-40B4-BE49-F238E27FC236}">
                <a16:creationId xmlns="" xmlns:a16="http://schemas.microsoft.com/office/drawing/2014/main" id="{3221708A-7FC5-BC75-7C00-2E2EA1E584F3}"/>
              </a:ext>
            </a:extLst>
          </p:cNvPr>
          <p:cNvSpPr txBox="1"/>
          <p:nvPr/>
        </p:nvSpPr>
        <p:spPr>
          <a:xfrm>
            <a:off x="1095615" y="858744"/>
            <a:ext cx="7376843" cy="307777"/>
          </a:xfrm>
          <a:prstGeom prst="rect">
            <a:avLst/>
          </a:prstGeom>
          <a:noFill/>
        </p:spPr>
        <p:txBody>
          <a:bodyPr wrap="square">
            <a:spAutoFit/>
          </a:bodyPr>
          <a:lstStyle/>
          <a:p>
            <a:r>
              <a:rPr lang="it-IT" sz="1400" dirty="0" err="1">
                <a:solidFill>
                  <a:schemeClr val="tx1"/>
                </a:solidFill>
              </a:rPr>
              <a:t>Table</a:t>
            </a:r>
            <a:r>
              <a:rPr lang="it-IT" sz="1400" dirty="0">
                <a:solidFill>
                  <a:schemeClr val="tx1"/>
                </a:solidFill>
              </a:rPr>
              <a:t> </a:t>
            </a:r>
            <a:r>
              <a:rPr lang="it-IT" dirty="0">
                <a:solidFill>
                  <a:schemeClr val="tx1"/>
                </a:solidFill>
              </a:rPr>
              <a:t>5</a:t>
            </a:r>
            <a:r>
              <a:rPr lang="it-IT" sz="1400" dirty="0">
                <a:solidFill>
                  <a:schemeClr val="tx1"/>
                </a:solidFill>
              </a:rPr>
              <a:t>. </a:t>
            </a:r>
            <a:r>
              <a:rPr lang="it-IT" sz="1400" dirty="0" err="1">
                <a:solidFill>
                  <a:schemeClr val="tx1"/>
                </a:solidFill>
              </a:rPr>
              <a:t>Hyperparameters</a:t>
            </a:r>
            <a:r>
              <a:rPr lang="it-IT" sz="1400" dirty="0">
                <a:solidFill>
                  <a:schemeClr val="tx1"/>
                </a:solidFill>
              </a:rPr>
              <a:t> and TR/VAL </a:t>
            </a:r>
            <a:r>
              <a:rPr lang="it-IT" sz="1400" dirty="0" err="1">
                <a:solidFill>
                  <a:schemeClr val="tx1"/>
                </a:solidFill>
              </a:rPr>
              <a:t>error</a:t>
            </a:r>
            <a:r>
              <a:rPr lang="it-IT" sz="1400" dirty="0">
                <a:solidFill>
                  <a:schemeClr val="tx1"/>
                </a:solidFill>
              </a:rPr>
              <a:t> for best models with Architecture 4</a:t>
            </a:r>
            <a:endParaRPr lang="en-US" dirty="0"/>
          </a:p>
        </p:txBody>
      </p:sp>
    </p:spTree>
    <p:extLst>
      <p:ext uri="{BB962C8B-B14F-4D97-AF65-F5344CB8AC3E}">
        <p14:creationId xmlns:p14="http://schemas.microsoft.com/office/powerpoint/2010/main" val="84025650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 xmlns:a16="http://schemas.microsoft.com/office/drawing/2014/main" id="{8AC79187-8038-7DE3-229A-602E3D9F43F1}"/>
            </a:ext>
          </a:extLst>
        </p:cNvPr>
        <p:cNvGrpSpPr/>
        <p:nvPr/>
      </p:nvGrpSpPr>
      <p:grpSpPr>
        <a:xfrm>
          <a:off x="0" y="0"/>
          <a:ext cx="0" cy="0"/>
          <a:chOff x="0" y="0"/>
          <a:chExt cx="0" cy="0"/>
        </a:xfrm>
      </p:grpSpPr>
      <p:sp>
        <p:nvSpPr>
          <p:cNvPr id="109" name="Google Shape;109;p20">
            <a:extLst>
              <a:ext uri="{FF2B5EF4-FFF2-40B4-BE49-F238E27FC236}">
                <a16:creationId xmlns="" xmlns:a16="http://schemas.microsoft.com/office/drawing/2014/main" id="{AC2F3FD6-C0C5-6849-3AB3-030D4752ACDE}"/>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lvl="0">
              <a:buSzPct val="39285"/>
            </a:pPr>
            <a:r>
              <a:rPr lang="it-IT" sz="2800" b="1" dirty="0"/>
              <a:t>Architecture </a:t>
            </a:r>
            <a:r>
              <a:rPr lang="it-IT" b="1" dirty="0"/>
              <a:t>5</a:t>
            </a:r>
            <a:r>
              <a:rPr lang="it-IT" sz="2800" b="1" dirty="0"/>
              <a:t>: [12,24,24,3] / [</a:t>
            </a:r>
            <a:r>
              <a:rPr lang="it-IT" b="1" dirty="0" err="1"/>
              <a:t>ELU,</a:t>
            </a:r>
            <a:r>
              <a:rPr lang="it-IT" sz="2800" b="1" dirty="0" err="1"/>
              <a:t>ELU,Linear</a:t>
            </a:r>
            <a:r>
              <a:rPr lang="it-IT" sz="2800" b="1" dirty="0"/>
              <a:t>]</a:t>
            </a:r>
            <a:endParaRPr b="1" dirty="0"/>
          </a:p>
        </p:txBody>
      </p:sp>
      <p:sp>
        <p:nvSpPr>
          <p:cNvPr id="111" name="Google Shape;111;p20">
            <a:extLst>
              <a:ext uri="{FF2B5EF4-FFF2-40B4-BE49-F238E27FC236}">
                <a16:creationId xmlns="" xmlns:a16="http://schemas.microsoft.com/office/drawing/2014/main" id="{715E5D43-88CD-C3BE-3D09-D47D6946BF0E}"/>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18</a:t>
            </a:fld>
            <a:endParaRPr/>
          </a:p>
        </p:txBody>
      </p:sp>
      <p:graphicFrame>
        <p:nvGraphicFramePr>
          <p:cNvPr id="4" name="Tabella 3">
            <a:extLst>
              <a:ext uri="{FF2B5EF4-FFF2-40B4-BE49-F238E27FC236}">
                <a16:creationId xmlns="" xmlns:a16="http://schemas.microsoft.com/office/drawing/2014/main" id="{A6D976A1-9514-2F49-423C-A2A51509C935}"/>
              </a:ext>
            </a:extLst>
          </p:cNvPr>
          <p:cNvGraphicFramePr>
            <a:graphicFrameLocks noGrp="1"/>
          </p:cNvGraphicFramePr>
          <p:nvPr>
            <p:extLst>
              <p:ext uri="{D42A27DB-BD31-4B8C-83A1-F6EECF244321}">
                <p14:modId xmlns:p14="http://schemas.microsoft.com/office/powerpoint/2010/main" val="3794851560"/>
              </p:ext>
            </p:extLst>
          </p:nvPr>
        </p:nvGraphicFramePr>
        <p:xfrm>
          <a:off x="134487" y="1325207"/>
          <a:ext cx="8875025" cy="1199332"/>
        </p:xfrm>
        <a:graphic>
          <a:graphicData uri="http://schemas.openxmlformats.org/drawingml/2006/table">
            <a:tbl>
              <a:tblPr firstRow="1" bandRow="1">
                <a:tableStyleId>{5940675A-B579-460E-94D1-54222C63F5DA}</a:tableStyleId>
              </a:tblPr>
              <a:tblGrid>
                <a:gridCol w="523184">
                  <a:extLst>
                    <a:ext uri="{9D8B030D-6E8A-4147-A177-3AD203B41FA5}">
                      <a16:colId xmlns="" xmlns:a16="http://schemas.microsoft.com/office/drawing/2014/main" val="731556087"/>
                    </a:ext>
                  </a:extLst>
                </a:gridCol>
                <a:gridCol w="648049">
                  <a:extLst>
                    <a:ext uri="{9D8B030D-6E8A-4147-A177-3AD203B41FA5}">
                      <a16:colId xmlns="" xmlns:a16="http://schemas.microsoft.com/office/drawing/2014/main" val="2288799742"/>
                    </a:ext>
                  </a:extLst>
                </a:gridCol>
                <a:gridCol w="641806">
                  <a:extLst>
                    <a:ext uri="{9D8B030D-6E8A-4147-A177-3AD203B41FA5}">
                      <a16:colId xmlns="" xmlns:a16="http://schemas.microsoft.com/office/drawing/2014/main" val="416376318"/>
                    </a:ext>
                  </a:extLst>
                </a:gridCol>
                <a:gridCol w="423292">
                  <a:extLst>
                    <a:ext uri="{9D8B030D-6E8A-4147-A177-3AD203B41FA5}">
                      <a16:colId xmlns="" xmlns:a16="http://schemas.microsoft.com/office/drawing/2014/main" val="2127937263"/>
                    </a:ext>
                  </a:extLst>
                </a:gridCol>
                <a:gridCol w="816616">
                  <a:extLst>
                    <a:ext uri="{9D8B030D-6E8A-4147-A177-3AD203B41FA5}">
                      <a16:colId xmlns="" xmlns:a16="http://schemas.microsoft.com/office/drawing/2014/main" val="2095147630"/>
                    </a:ext>
                  </a:extLst>
                </a:gridCol>
                <a:gridCol w="616833">
                  <a:extLst>
                    <a:ext uri="{9D8B030D-6E8A-4147-A177-3AD203B41FA5}">
                      <a16:colId xmlns="" xmlns:a16="http://schemas.microsoft.com/office/drawing/2014/main" val="631079797"/>
                    </a:ext>
                  </a:extLst>
                </a:gridCol>
                <a:gridCol w="598103">
                  <a:extLst>
                    <a:ext uri="{9D8B030D-6E8A-4147-A177-3AD203B41FA5}">
                      <a16:colId xmlns="" xmlns:a16="http://schemas.microsoft.com/office/drawing/2014/main" val="308787855"/>
                    </a:ext>
                  </a:extLst>
                </a:gridCol>
                <a:gridCol w="523184">
                  <a:extLst>
                    <a:ext uri="{9D8B030D-6E8A-4147-A177-3AD203B41FA5}">
                      <a16:colId xmlns="" xmlns:a16="http://schemas.microsoft.com/office/drawing/2014/main" val="3508982912"/>
                    </a:ext>
                  </a:extLst>
                </a:gridCol>
                <a:gridCol w="488846">
                  <a:extLst>
                    <a:ext uri="{9D8B030D-6E8A-4147-A177-3AD203B41FA5}">
                      <a16:colId xmlns="" xmlns:a16="http://schemas.microsoft.com/office/drawing/2014/main" val="1481393494"/>
                    </a:ext>
                  </a:extLst>
                </a:gridCol>
                <a:gridCol w="865918">
                  <a:extLst>
                    <a:ext uri="{9D8B030D-6E8A-4147-A177-3AD203B41FA5}">
                      <a16:colId xmlns="" xmlns:a16="http://schemas.microsoft.com/office/drawing/2014/main" val="2116244874"/>
                    </a:ext>
                  </a:extLst>
                </a:gridCol>
                <a:gridCol w="865918">
                  <a:extLst>
                    <a:ext uri="{9D8B030D-6E8A-4147-A177-3AD203B41FA5}">
                      <a16:colId xmlns="" xmlns:a16="http://schemas.microsoft.com/office/drawing/2014/main" val="2496640819"/>
                    </a:ext>
                  </a:extLst>
                </a:gridCol>
                <a:gridCol w="835050">
                  <a:extLst>
                    <a:ext uri="{9D8B030D-6E8A-4147-A177-3AD203B41FA5}">
                      <a16:colId xmlns="" xmlns:a16="http://schemas.microsoft.com/office/drawing/2014/main" val="1055177474"/>
                    </a:ext>
                  </a:extLst>
                </a:gridCol>
                <a:gridCol w="1028226">
                  <a:extLst>
                    <a:ext uri="{9D8B030D-6E8A-4147-A177-3AD203B41FA5}">
                      <a16:colId xmlns="" xmlns:a16="http://schemas.microsoft.com/office/drawing/2014/main" val="1184326143"/>
                    </a:ext>
                  </a:extLst>
                </a:gridCol>
              </a:tblGrid>
              <a:tr h="489563">
                <a:tc>
                  <a:txBody>
                    <a:bodyPr/>
                    <a:lstStyle/>
                    <a:p>
                      <a:r>
                        <a:rPr lang="it-IT" sz="900" b="1" dirty="0"/>
                        <a:t>Eta0</a:t>
                      </a:r>
                    </a:p>
                  </a:txBody>
                  <a:tcPr>
                    <a:solidFill>
                      <a:schemeClr val="tx2"/>
                    </a:solidFill>
                  </a:tcPr>
                </a:tc>
                <a:tc>
                  <a:txBody>
                    <a:bodyPr/>
                    <a:lstStyle/>
                    <a:p>
                      <a:r>
                        <a:rPr lang="it-IT" sz="900" b="1" dirty="0" err="1"/>
                        <a:t>EtaFinal</a:t>
                      </a:r>
                      <a:endParaRPr lang="it-IT" sz="900" b="1" dirty="0"/>
                    </a:p>
                  </a:txBody>
                  <a:tcP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1" dirty="0"/>
                        <a:t>Lambda</a:t>
                      </a:r>
                    </a:p>
                    <a:p>
                      <a:endParaRPr lang="it-IT" sz="900" b="1" dirty="0"/>
                    </a:p>
                  </a:txBody>
                  <a:tcPr>
                    <a:solidFill>
                      <a:schemeClr val="tx2"/>
                    </a:solidFill>
                  </a:tcPr>
                </a:tc>
                <a:tc>
                  <a:txBody>
                    <a:bodyPr/>
                    <a:lstStyle/>
                    <a:p>
                      <a:r>
                        <a:rPr lang="it-IT" sz="900" b="1" dirty="0"/>
                        <a:t>Alfa</a:t>
                      </a:r>
                    </a:p>
                  </a:txBody>
                  <a:tcPr>
                    <a:solidFill>
                      <a:schemeClr val="tx2"/>
                    </a:solidFill>
                  </a:tcPr>
                </a:tc>
                <a:tc>
                  <a:txBody>
                    <a:bodyPr/>
                    <a:lstStyle/>
                    <a:p>
                      <a:r>
                        <a:rPr lang="it-IT" sz="900" b="1" dirty="0" err="1"/>
                        <a:t>Weight_Init</a:t>
                      </a:r>
                      <a:endParaRPr lang="it-IT" sz="900" b="1" dirty="0"/>
                    </a:p>
                  </a:txBody>
                  <a:tcPr>
                    <a:solidFill>
                      <a:schemeClr val="tx2"/>
                    </a:solidFill>
                  </a:tcPr>
                </a:tc>
                <a:tc>
                  <a:txBody>
                    <a:bodyPr/>
                    <a:lstStyle/>
                    <a:p>
                      <a:r>
                        <a:rPr lang="it-IT" sz="900" b="1" dirty="0" err="1"/>
                        <a:t>Epochs</a:t>
                      </a:r>
                      <a:endParaRPr lang="it-IT" sz="900" b="1" dirty="0"/>
                    </a:p>
                  </a:txBody>
                  <a:tcPr>
                    <a:solidFill>
                      <a:schemeClr val="tx2"/>
                    </a:solidFill>
                  </a:tcPr>
                </a:tc>
                <a:tc>
                  <a:txBody>
                    <a:bodyPr/>
                    <a:lstStyle/>
                    <a:p>
                      <a:r>
                        <a:rPr lang="it-IT" sz="900" b="1" dirty="0" err="1"/>
                        <a:t>Restart</a:t>
                      </a:r>
                      <a:endParaRPr lang="it-IT" sz="900" b="1" dirty="0"/>
                    </a:p>
                  </a:txBody>
                  <a:tcPr>
                    <a:solidFill>
                      <a:schemeClr val="tx2"/>
                    </a:solidFill>
                  </a:tcPr>
                </a:tc>
                <a:tc>
                  <a:txBody>
                    <a:bodyPr/>
                    <a:lstStyle/>
                    <a:p>
                      <a:r>
                        <a:rPr lang="it-IT" sz="900" b="1" dirty="0"/>
                        <a:t>Batch</a:t>
                      </a:r>
                    </a:p>
                  </a:txBody>
                  <a:tcPr>
                    <a:solidFill>
                      <a:schemeClr val="tx2"/>
                    </a:solidFill>
                  </a:tcPr>
                </a:tc>
                <a:tc>
                  <a:txBody>
                    <a:bodyPr/>
                    <a:lstStyle/>
                    <a:p>
                      <a:r>
                        <a:rPr lang="it-IT" sz="900" b="1" dirty="0"/>
                        <a:t>Tau</a:t>
                      </a:r>
                    </a:p>
                  </a:txBody>
                  <a:tcPr>
                    <a:solidFill>
                      <a:schemeClr val="tx2"/>
                    </a:solidFill>
                  </a:tcPr>
                </a:tc>
                <a:tc>
                  <a:txBody>
                    <a:bodyPr/>
                    <a:lstStyle/>
                    <a:p>
                      <a:r>
                        <a:rPr lang="it-IT" sz="900" b="1" dirty="0" err="1"/>
                        <a:t>TR_Error</a:t>
                      </a:r>
                      <a:r>
                        <a:rPr lang="it-IT" sz="900" b="1" dirty="0"/>
                        <a:t> (MSE)</a:t>
                      </a:r>
                    </a:p>
                  </a:txBody>
                  <a:tcP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1" dirty="0" err="1"/>
                        <a:t>TR_Error</a:t>
                      </a:r>
                      <a:r>
                        <a:rPr lang="it-IT" sz="900" b="1" dirty="0"/>
                        <a:t> (MEE)</a:t>
                      </a:r>
                    </a:p>
                    <a:p>
                      <a:endParaRPr lang="it-IT" sz="900" b="1" dirty="0"/>
                    </a:p>
                  </a:txBody>
                  <a:tcP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1" dirty="0" err="1"/>
                        <a:t>VAL_Error</a:t>
                      </a:r>
                      <a:r>
                        <a:rPr lang="it-IT" sz="900" b="1" dirty="0"/>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1" dirty="0"/>
                        <a:t>(MSE)</a:t>
                      </a:r>
                    </a:p>
                    <a:p>
                      <a:endParaRPr lang="it-IT" sz="900" b="1" dirty="0"/>
                    </a:p>
                  </a:txBody>
                  <a:tcP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1" dirty="0" err="1"/>
                        <a:t>VAL_Error</a:t>
                      </a:r>
                      <a:r>
                        <a:rPr lang="it-IT" sz="900" b="1" dirty="0"/>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1" dirty="0"/>
                        <a:t>(MEE)</a:t>
                      </a:r>
                    </a:p>
                    <a:p>
                      <a:endParaRPr lang="it-IT" sz="900" b="1" dirty="0"/>
                    </a:p>
                  </a:txBody>
                  <a:tcPr>
                    <a:solidFill>
                      <a:schemeClr val="tx2"/>
                    </a:solidFill>
                  </a:tcPr>
                </a:tc>
                <a:extLst>
                  <a:ext uri="{0D108BD9-81ED-4DB2-BD59-A6C34878D82A}">
                    <a16:rowId xmlns="" xmlns:a16="http://schemas.microsoft.com/office/drawing/2014/main" val="1201224141"/>
                  </a:ext>
                </a:extLst>
              </a:tr>
              <a:tr h="300172">
                <a:tc>
                  <a:txBody>
                    <a:bodyPr/>
                    <a:lstStyle/>
                    <a:p>
                      <a:r>
                        <a:rPr lang="it-IT" sz="1000" dirty="0"/>
                        <a:t>0.015</a:t>
                      </a:r>
                    </a:p>
                  </a:txBody>
                  <a:tcPr/>
                </a:tc>
                <a:tc>
                  <a:txBody>
                    <a:bodyPr/>
                    <a:lstStyle/>
                    <a:p>
                      <a:r>
                        <a:rPr lang="it-IT" sz="1000" dirty="0"/>
                        <a:t>0.015</a:t>
                      </a:r>
                    </a:p>
                  </a:txBody>
                  <a:tcPr/>
                </a:tc>
                <a:tc>
                  <a:txBody>
                    <a:bodyPr/>
                    <a:lstStyle/>
                    <a:p>
                      <a:r>
                        <a:rPr lang="es-ES" sz="1000" dirty="0"/>
                        <a:t>0.0001</a:t>
                      </a:r>
                      <a:endParaRPr lang="it-IT" sz="1000" dirty="0"/>
                    </a:p>
                  </a:txBody>
                  <a:tcPr/>
                </a:tc>
                <a:tc>
                  <a:txBody>
                    <a:bodyPr/>
                    <a:lstStyle/>
                    <a:p>
                      <a:r>
                        <a:rPr lang="it-IT" sz="1000" dirty="0"/>
                        <a:t>0.6</a:t>
                      </a:r>
                    </a:p>
                  </a:txBody>
                  <a:tcPr/>
                </a:tc>
                <a:tc>
                  <a:txBody>
                    <a:bodyPr/>
                    <a:lstStyle/>
                    <a:p>
                      <a:r>
                        <a:rPr lang="es-ES" sz="1000" dirty="0" err="1"/>
                        <a:t>xavier</a:t>
                      </a:r>
                      <a:endParaRPr lang="it-IT" sz="1000" dirty="0"/>
                    </a:p>
                  </a:txBody>
                  <a:tcPr/>
                </a:tc>
                <a:tc>
                  <a:txBody>
                    <a:bodyPr/>
                    <a:lstStyle/>
                    <a:p>
                      <a:r>
                        <a:rPr lang="es-ES" sz="1000" dirty="0"/>
                        <a:t>1000</a:t>
                      </a:r>
                      <a:endParaRPr lang="it-IT" sz="1000" dirty="0"/>
                    </a:p>
                  </a:txBody>
                  <a:tcPr/>
                </a:tc>
                <a:tc>
                  <a:txBody>
                    <a:bodyPr/>
                    <a:lstStyle/>
                    <a:p>
                      <a:r>
                        <a:rPr lang="it-IT" sz="1000" dirty="0"/>
                        <a:t>20</a:t>
                      </a:r>
                    </a:p>
                  </a:txBody>
                  <a:tcPr/>
                </a:tc>
                <a:tc>
                  <a:txBody>
                    <a:bodyPr/>
                    <a:lstStyle/>
                    <a:p>
                      <a:r>
                        <a:rPr lang="it-IT" sz="1000" dirty="0"/>
                        <a:t>64</a:t>
                      </a:r>
                    </a:p>
                  </a:txBody>
                  <a:tcPr/>
                </a:tc>
                <a:tc>
                  <a:txBody>
                    <a:bodyPr/>
                    <a:lstStyle/>
                    <a:p>
                      <a:r>
                        <a:rPr lang="it-IT" sz="1000" dirty="0"/>
                        <a:t>1000</a:t>
                      </a:r>
                    </a:p>
                  </a:txBody>
                  <a:tcPr/>
                </a:tc>
                <a:tc>
                  <a:txBody>
                    <a:bodyPr/>
                    <a:lstStyle/>
                    <a:p>
                      <a:r>
                        <a:rPr lang="es-ES" sz="1000" dirty="0"/>
                        <a:t>0.22</a:t>
                      </a:r>
                      <a:endParaRPr lang="it-IT" sz="1000" dirty="0"/>
                    </a:p>
                  </a:txBody>
                  <a:tcPr/>
                </a:tc>
                <a:tc>
                  <a:txBody>
                    <a:bodyPr/>
                    <a:lstStyle/>
                    <a:p>
                      <a:r>
                        <a:rPr lang="it-IT" sz="1000" dirty="0"/>
                        <a:t>0.69</a:t>
                      </a:r>
                    </a:p>
                  </a:txBody>
                  <a:tcPr/>
                </a:tc>
                <a:tc>
                  <a:txBody>
                    <a:bodyPr/>
                    <a:lstStyle/>
                    <a:p>
                      <a:r>
                        <a:rPr lang="it-IT" sz="1000" dirty="0"/>
                        <a:t>0.29</a:t>
                      </a:r>
                    </a:p>
                  </a:txBody>
                  <a:tcPr/>
                </a:tc>
                <a:tc>
                  <a:txBody>
                    <a:bodyPr/>
                    <a:lstStyle/>
                    <a:p>
                      <a:r>
                        <a:rPr lang="es-ES" sz="1000" dirty="0">
                          <a:solidFill>
                            <a:schemeClr val="tx1"/>
                          </a:solidFill>
                        </a:rPr>
                        <a:t>0.761</a:t>
                      </a:r>
                      <a:endParaRPr lang="it-IT" sz="1000" dirty="0">
                        <a:solidFill>
                          <a:schemeClr val="tx1"/>
                        </a:solidFill>
                      </a:endParaRPr>
                    </a:p>
                  </a:txBody>
                  <a:tcPr/>
                </a:tc>
                <a:extLst>
                  <a:ext uri="{0D108BD9-81ED-4DB2-BD59-A6C34878D82A}">
                    <a16:rowId xmlns="" xmlns:a16="http://schemas.microsoft.com/office/drawing/2014/main" val="418523280"/>
                  </a:ext>
                </a:extLst>
              </a:tr>
              <a:tr h="300172">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b="0" i="0" u="none" strike="noStrike" cap="none" dirty="0">
                          <a:solidFill>
                            <a:schemeClr val="tx1"/>
                          </a:solidFill>
                          <a:effectLst/>
                          <a:latin typeface="+mn-lt"/>
                          <a:ea typeface="+mn-ea"/>
                          <a:cs typeface="+mn-cs"/>
                          <a:sym typeface="Arial"/>
                        </a:rPr>
                        <a:t>0.001</a:t>
                      </a:r>
                    </a:p>
                    <a:p>
                      <a:endParaRPr lang="it-IT" sz="1000" dirty="0"/>
                    </a:p>
                  </a:txBody>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ES" sz="1000" dirty="0"/>
                        <a:t> </a:t>
                      </a:r>
                      <a:r>
                        <a:rPr lang="en-US" sz="1000" b="0" i="0" u="none" strike="noStrike" cap="none" dirty="0">
                          <a:solidFill>
                            <a:schemeClr val="tx1"/>
                          </a:solidFill>
                          <a:effectLst/>
                          <a:latin typeface="+mn-lt"/>
                          <a:ea typeface="+mn-ea"/>
                          <a:cs typeface="+mn-cs"/>
                          <a:sym typeface="Arial"/>
                        </a:rPr>
                        <a:t>0.001</a:t>
                      </a:r>
                    </a:p>
                    <a:p>
                      <a:endParaRPr lang="it-IT" sz="1000" dirty="0"/>
                    </a:p>
                  </a:txBody>
                  <a:tcPr/>
                </a:tc>
                <a:tc>
                  <a:txBody>
                    <a:bodyPr/>
                    <a:lstStyle/>
                    <a:p>
                      <a:r>
                        <a:rPr lang="it-IT" sz="1000" dirty="0"/>
                        <a:t>0.00001</a:t>
                      </a:r>
                    </a:p>
                  </a:txBody>
                  <a:tcPr/>
                </a:tc>
                <a:tc>
                  <a:txBody>
                    <a:bodyPr/>
                    <a:lstStyle/>
                    <a:p>
                      <a:r>
                        <a:rPr lang="it-IT" sz="1000" dirty="0"/>
                        <a:t>0.7</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1000" dirty="0"/>
                        <a:t>xavier</a:t>
                      </a:r>
                    </a:p>
                  </a:txBody>
                  <a:tcPr/>
                </a:tc>
                <a:tc>
                  <a:txBody>
                    <a:bodyPr/>
                    <a:lstStyle/>
                    <a:p>
                      <a:r>
                        <a:rPr lang="it-IT" sz="1000" dirty="0"/>
                        <a:t>1000</a:t>
                      </a:r>
                    </a:p>
                  </a:txBody>
                  <a:tcPr/>
                </a:tc>
                <a:tc>
                  <a:txBody>
                    <a:bodyPr/>
                    <a:lstStyle/>
                    <a:p>
                      <a:r>
                        <a:rPr lang="it-IT" sz="1000" dirty="0"/>
                        <a:t>20</a:t>
                      </a:r>
                    </a:p>
                  </a:txBody>
                  <a:tcPr/>
                </a:tc>
                <a:tc>
                  <a:txBody>
                    <a:bodyPr/>
                    <a:lstStyle/>
                    <a:p>
                      <a:r>
                        <a:rPr lang="it-IT" sz="1000" dirty="0"/>
                        <a:t>32</a:t>
                      </a:r>
                    </a:p>
                  </a:txBody>
                  <a:tcPr/>
                </a:tc>
                <a:tc>
                  <a:txBody>
                    <a:bodyPr/>
                    <a:lstStyle/>
                    <a:p>
                      <a:r>
                        <a:rPr lang="it-IT" sz="1000" dirty="0"/>
                        <a:t>1000</a:t>
                      </a:r>
                    </a:p>
                  </a:txBody>
                  <a:tcPr/>
                </a:tc>
                <a:tc>
                  <a:txBody>
                    <a:bodyPr/>
                    <a:lstStyle/>
                    <a:p>
                      <a:r>
                        <a:rPr lang="it-IT" sz="1000" dirty="0"/>
                        <a:t>0.35</a:t>
                      </a:r>
                    </a:p>
                  </a:txBody>
                  <a:tcPr/>
                </a:tc>
                <a:tc>
                  <a:txBody>
                    <a:bodyPr/>
                    <a:lstStyle/>
                    <a:p>
                      <a:r>
                        <a:rPr lang="it-IT" sz="1000" dirty="0"/>
                        <a:t>0.78</a:t>
                      </a:r>
                    </a:p>
                  </a:txBody>
                  <a:tcPr/>
                </a:tc>
                <a:tc>
                  <a:txBody>
                    <a:bodyPr/>
                    <a:lstStyle/>
                    <a:p>
                      <a:r>
                        <a:rPr lang="it-IT" sz="1000" dirty="0"/>
                        <a:t>0.38</a:t>
                      </a:r>
                    </a:p>
                  </a:txBody>
                  <a:tcPr/>
                </a:tc>
                <a:tc>
                  <a:txBody>
                    <a:bodyPr/>
                    <a:lstStyle/>
                    <a:p>
                      <a:r>
                        <a:rPr lang="it-IT" sz="1000" dirty="0">
                          <a:solidFill>
                            <a:schemeClr val="tx1"/>
                          </a:solidFill>
                        </a:rPr>
                        <a:t>0.85</a:t>
                      </a:r>
                    </a:p>
                  </a:txBody>
                  <a:tcPr/>
                </a:tc>
                <a:extLst>
                  <a:ext uri="{0D108BD9-81ED-4DB2-BD59-A6C34878D82A}">
                    <a16:rowId xmlns="" xmlns:a16="http://schemas.microsoft.com/office/drawing/2014/main" val="3209698052"/>
                  </a:ext>
                </a:extLst>
              </a:tr>
            </a:tbl>
          </a:graphicData>
        </a:graphic>
      </p:graphicFrame>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9443" y="2571750"/>
            <a:ext cx="2806318" cy="2135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9857" y="2573093"/>
            <a:ext cx="2770479" cy="2087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CasellaDiTesto 1">
            <a:extLst>
              <a:ext uri="{FF2B5EF4-FFF2-40B4-BE49-F238E27FC236}">
                <a16:creationId xmlns="" xmlns:a16="http://schemas.microsoft.com/office/drawing/2014/main" id="{6B409A55-18DA-EFF3-E4BE-9BDF5DB30EBA}"/>
              </a:ext>
            </a:extLst>
          </p:cNvPr>
          <p:cNvSpPr txBox="1"/>
          <p:nvPr/>
        </p:nvSpPr>
        <p:spPr>
          <a:xfrm>
            <a:off x="375448" y="4568875"/>
            <a:ext cx="7993431" cy="523220"/>
          </a:xfrm>
          <a:prstGeom prst="rect">
            <a:avLst/>
          </a:prstGeom>
          <a:noFill/>
        </p:spPr>
        <p:txBody>
          <a:bodyPr wrap="square">
            <a:spAutoFit/>
          </a:bodyPr>
          <a:lstStyle/>
          <a:p>
            <a:pPr>
              <a:spcBef>
                <a:spcPts val="1200"/>
              </a:spcBef>
              <a:spcAft>
                <a:spcPts val="1200"/>
              </a:spcAft>
            </a:pPr>
            <a:r>
              <a:rPr lang="it-IT" dirty="0"/>
              <a:t>Figure </a:t>
            </a:r>
            <a:r>
              <a:rPr lang="it-IT" dirty="0" smtClean="0"/>
              <a:t>9. </a:t>
            </a:r>
            <a:r>
              <a:rPr lang="it-IT" dirty="0"/>
              <a:t>Plot of MEE (Training VS Validation) on ML Cup, for two hyperparam. config. with Architecture </a:t>
            </a:r>
            <a:r>
              <a:rPr lang="it-IT" dirty="0" smtClean="0"/>
              <a:t>5, </a:t>
            </a:r>
            <a:r>
              <a:rPr lang="en-US" dirty="0"/>
              <a:t>the one on the left achieves better results but is unstable</a:t>
            </a:r>
            <a:endParaRPr lang="it-IT" dirty="0"/>
          </a:p>
        </p:txBody>
      </p:sp>
      <p:sp>
        <p:nvSpPr>
          <p:cNvPr id="3" name="CasellaDiTesto 2">
            <a:extLst>
              <a:ext uri="{FF2B5EF4-FFF2-40B4-BE49-F238E27FC236}">
                <a16:creationId xmlns="" xmlns:a16="http://schemas.microsoft.com/office/drawing/2014/main" id="{848D7EF3-4F4D-E910-80CA-E2F184EC5787}"/>
              </a:ext>
            </a:extLst>
          </p:cNvPr>
          <p:cNvSpPr txBox="1"/>
          <p:nvPr/>
        </p:nvSpPr>
        <p:spPr>
          <a:xfrm>
            <a:off x="1095615" y="971679"/>
            <a:ext cx="7376843" cy="307777"/>
          </a:xfrm>
          <a:prstGeom prst="rect">
            <a:avLst/>
          </a:prstGeom>
          <a:noFill/>
        </p:spPr>
        <p:txBody>
          <a:bodyPr wrap="square">
            <a:spAutoFit/>
          </a:bodyPr>
          <a:lstStyle/>
          <a:p>
            <a:r>
              <a:rPr lang="it-IT" sz="1400" dirty="0" err="1">
                <a:solidFill>
                  <a:schemeClr val="tx1"/>
                </a:solidFill>
              </a:rPr>
              <a:t>Table</a:t>
            </a:r>
            <a:r>
              <a:rPr lang="it-IT" sz="1400" dirty="0">
                <a:solidFill>
                  <a:schemeClr val="tx1"/>
                </a:solidFill>
              </a:rPr>
              <a:t> 6. </a:t>
            </a:r>
            <a:r>
              <a:rPr lang="it-IT" sz="1400" dirty="0" err="1">
                <a:solidFill>
                  <a:schemeClr val="tx1"/>
                </a:solidFill>
              </a:rPr>
              <a:t>Hyperparameters</a:t>
            </a:r>
            <a:r>
              <a:rPr lang="it-IT" sz="1400" dirty="0">
                <a:solidFill>
                  <a:schemeClr val="tx1"/>
                </a:solidFill>
              </a:rPr>
              <a:t> and TR/VAL </a:t>
            </a:r>
            <a:r>
              <a:rPr lang="it-IT" sz="1400" dirty="0" err="1">
                <a:solidFill>
                  <a:schemeClr val="tx1"/>
                </a:solidFill>
              </a:rPr>
              <a:t>error</a:t>
            </a:r>
            <a:r>
              <a:rPr lang="it-IT" sz="1400" dirty="0">
                <a:solidFill>
                  <a:schemeClr val="tx1"/>
                </a:solidFill>
              </a:rPr>
              <a:t> for best models with Architecture 5</a:t>
            </a:r>
            <a:endParaRPr lang="en-US" dirty="0"/>
          </a:p>
        </p:txBody>
      </p:sp>
    </p:spTree>
    <p:extLst>
      <p:ext uri="{BB962C8B-B14F-4D97-AF65-F5344CB8AC3E}">
        <p14:creationId xmlns:p14="http://schemas.microsoft.com/office/powerpoint/2010/main" val="378882509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 xmlns:a16="http://schemas.microsoft.com/office/drawing/2014/main" id="{67CC5586-60C8-4092-B881-5A1D465A0C31}"/>
            </a:ext>
          </a:extLst>
        </p:cNvPr>
        <p:cNvGrpSpPr/>
        <p:nvPr/>
      </p:nvGrpSpPr>
      <p:grpSpPr>
        <a:xfrm>
          <a:off x="0" y="0"/>
          <a:ext cx="0" cy="0"/>
          <a:chOff x="0" y="0"/>
          <a:chExt cx="0" cy="0"/>
        </a:xfrm>
      </p:grpSpPr>
      <p:sp>
        <p:nvSpPr>
          <p:cNvPr id="109" name="Google Shape;109;p20">
            <a:extLst>
              <a:ext uri="{FF2B5EF4-FFF2-40B4-BE49-F238E27FC236}">
                <a16:creationId xmlns="" xmlns:a16="http://schemas.microsoft.com/office/drawing/2014/main" id="{77814BBB-78D0-FB60-250E-80E98E72EF96}"/>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lvl="0">
              <a:buSzPct val="39285"/>
            </a:pPr>
            <a:r>
              <a:rPr lang="it-IT" b="1" dirty="0"/>
              <a:t>Architecture 6: [12,24,24,24,3] / [ELU,ELU,ELU,Linear]</a:t>
            </a:r>
            <a:r>
              <a:rPr lang="it-IT" b="1" dirty="0">
                <a:solidFill>
                  <a:srgbClr val="FF0000"/>
                </a:solidFill>
              </a:rPr>
              <a:t/>
            </a:r>
            <a:br>
              <a:rPr lang="it-IT" b="1" dirty="0">
                <a:solidFill>
                  <a:srgbClr val="FF0000"/>
                </a:solidFill>
              </a:rPr>
            </a:br>
            <a:endParaRPr b="1" dirty="0"/>
          </a:p>
        </p:txBody>
      </p:sp>
      <p:sp>
        <p:nvSpPr>
          <p:cNvPr id="111" name="Google Shape;111;p20">
            <a:extLst>
              <a:ext uri="{FF2B5EF4-FFF2-40B4-BE49-F238E27FC236}">
                <a16:creationId xmlns="" xmlns:a16="http://schemas.microsoft.com/office/drawing/2014/main" id="{C8CD375A-A78C-3B23-7752-24BD7A6860D4}"/>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19</a:t>
            </a:fld>
            <a:endParaRPr/>
          </a:p>
        </p:txBody>
      </p:sp>
      <p:graphicFrame>
        <p:nvGraphicFramePr>
          <p:cNvPr id="2" name="Tabella 1">
            <a:extLst>
              <a:ext uri="{FF2B5EF4-FFF2-40B4-BE49-F238E27FC236}">
                <a16:creationId xmlns="" xmlns:a16="http://schemas.microsoft.com/office/drawing/2014/main" id="{2274344B-A0F4-B85F-337C-506BEC13583E}"/>
              </a:ext>
            </a:extLst>
          </p:cNvPr>
          <p:cNvGraphicFramePr>
            <a:graphicFrameLocks noGrp="1"/>
          </p:cNvGraphicFramePr>
          <p:nvPr>
            <p:extLst>
              <p:ext uri="{D42A27DB-BD31-4B8C-83A1-F6EECF244321}">
                <p14:modId xmlns:p14="http://schemas.microsoft.com/office/powerpoint/2010/main" val="879014298"/>
              </p:ext>
            </p:extLst>
          </p:nvPr>
        </p:nvGraphicFramePr>
        <p:xfrm>
          <a:off x="104858" y="1214196"/>
          <a:ext cx="8934283" cy="1199332"/>
        </p:xfrm>
        <a:graphic>
          <a:graphicData uri="http://schemas.openxmlformats.org/drawingml/2006/table">
            <a:tbl>
              <a:tblPr firstRow="1" bandRow="1">
                <a:tableStyleId>{5940675A-B579-460E-94D1-54222C63F5DA}</a:tableStyleId>
              </a:tblPr>
              <a:tblGrid>
                <a:gridCol w="532130">
                  <a:extLst>
                    <a:ext uri="{9D8B030D-6E8A-4147-A177-3AD203B41FA5}">
                      <a16:colId xmlns="" xmlns:a16="http://schemas.microsoft.com/office/drawing/2014/main" val="731556087"/>
                    </a:ext>
                  </a:extLst>
                </a:gridCol>
                <a:gridCol w="659130">
                  <a:extLst>
                    <a:ext uri="{9D8B030D-6E8A-4147-A177-3AD203B41FA5}">
                      <a16:colId xmlns="" xmlns:a16="http://schemas.microsoft.com/office/drawing/2014/main" val="2288799742"/>
                    </a:ext>
                  </a:extLst>
                </a:gridCol>
                <a:gridCol w="652780">
                  <a:extLst>
                    <a:ext uri="{9D8B030D-6E8A-4147-A177-3AD203B41FA5}">
                      <a16:colId xmlns="" xmlns:a16="http://schemas.microsoft.com/office/drawing/2014/main" val="416376318"/>
                    </a:ext>
                  </a:extLst>
                </a:gridCol>
                <a:gridCol w="430530">
                  <a:extLst>
                    <a:ext uri="{9D8B030D-6E8A-4147-A177-3AD203B41FA5}">
                      <a16:colId xmlns="" xmlns:a16="http://schemas.microsoft.com/office/drawing/2014/main" val="2127937263"/>
                    </a:ext>
                  </a:extLst>
                </a:gridCol>
                <a:gridCol w="830580">
                  <a:extLst>
                    <a:ext uri="{9D8B030D-6E8A-4147-A177-3AD203B41FA5}">
                      <a16:colId xmlns="" xmlns:a16="http://schemas.microsoft.com/office/drawing/2014/main" val="2095147630"/>
                    </a:ext>
                  </a:extLst>
                </a:gridCol>
                <a:gridCol w="627380">
                  <a:extLst>
                    <a:ext uri="{9D8B030D-6E8A-4147-A177-3AD203B41FA5}">
                      <a16:colId xmlns="" xmlns:a16="http://schemas.microsoft.com/office/drawing/2014/main" val="631079797"/>
                    </a:ext>
                  </a:extLst>
                </a:gridCol>
                <a:gridCol w="608330">
                  <a:extLst>
                    <a:ext uri="{9D8B030D-6E8A-4147-A177-3AD203B41FA5}">
                      <a16:colId xmlns="" xmlns:a16="http://schemas.microsoft.com/office/drawing/2014/main" val="308787855"/>
                    </a:ext>
                  </a:extLst>
                </a:gridCol>
                <a:gridCol w="532130">
                  <a:extLst>
                    <a:ext uri="{9D8B030D-6E8A-4147-A177-3AD203B41FA5}">
                      <a16:colId xmlns="" xmlns:a16="http://schemas.microsoft.com/office/drawing/2014/main" val="3508982912"/>
                    </a:ext>
                  </a:extLst>
                </a:gridCol>
                <a:gridCol w="489986">
                  <a:extLst>
                    <a:ext uri="{9D8B030D-6E8A-4147-A177-3AD203B41FA5}">
                      <a16:colId xmlns="" xmlns:a16="http://schemas.microsoft.com/office/drawing/2014/main" val="1481393494"/>
                    </a:ext>
                  </a:extLst>
                </a:gridCol>
                <a:gridCol w="795446">
                  <a:extLst>
                    <a:ext uri="{9D8B030D-6E8A-4147-A177-3AD203B41FA5}">
                      <a16:colId xmlns="" xmlns:a16="http://schemas.microsoft.com/office/drawing/2014/main" val="2116244874"/>
                    </a:ext>
                  </a:extLst>
                </a:gridCol>
                <a:gridCol w="880725">
                  <a:extLst>
                    <a:ext uri="{9D8B030D-6E8A-4147-A177-3AD203B41FA5}">
                      <a16:colId xmlns="" xmlns:a16="http://schemas.microsoft.com/office/drawing/2014/main" val="2496640819"/>
                    </a:ext>
                  </a:extLst>
                </a:gridCol>
                <a:gridCol w="993419">
                  <a:extLst>
                    <a:ext uri="{9D8B030D-6E8A-4147-A177-3AD203B41FA5}">
                      <a16:colId xmlns="" xmlns:a16="http://schemas.microsoft.com/office/drawing/2014/main" val="1055177474"/>
                    </a:ext>
                  </a:extLst>
                </a:gridCol>
                <a:gridCol w="901717">
                  <a:extLst>
                    <a:ext uri="{9D8B030D-6E8A-4147-A177-3AD203B41FA5}">
                      <a16:colId xmlns="" xmlns:a16="http://schemas.microsoft.com/office/drawing/2014/main" val="1184326143"/>
                    </a:ext>
                  </a:extLst>
                </a:gridCol>
              </a:tblGrid>
              <a:tr h="489563">
                <a:tc>
                  <a:txBody>
                    <a:bodyPr/>
                    <a:lstStyle/>
                    <a:p>
                      <a:r>
                        <a:rPr lang="it-IT" sz="900" b="1" dirty="0"/>
                        <a:t>Eta0</a:t>
                      </a:r>
                    </a:p>
                  </a:txBody>
                  <a:tcPr>
                    <a:solidFill>
                      <a:schemeClr val="tx2"/>
                    </a:solidFill>
                  </a:tcPr>
                </a:tc>
                <a:tc>
                  <a:txBody>
                    <a:bodyPr/>
                    <a:lstStyle/>
                    <a:p>
                      <a:r>
                        <a:rPr lang="it-IT" sz="900" b="1" dirty="0" err="1"/>
                        <a:t>EtaFinal</a:t>
                      </a:r>
                      <a:endParaRPr lang="it-IT" sz="900" b="1" dirty="0"/>
                    </a:p>
                  </a:txBody>
                  <a:tcP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1" dirty="0"/>
                        <a:t>Lambda</a:t>
                      </a:r>
                    </a:p>
                    <a:p>
                      <a:endParaRPr lang="it-IT" sz="900" b="1" dirty="0"/>
                    </a:p>
                  </a:txBody>
                  <a:tcPr>
                    <a:solidFill>
                      <a:schemeClr val="tx2"/>
                    </a:solidFill>
                  </a:tcPr>
                </a:tc>
                <a:tc>
                  <a:txBody>
                    <a:bodyPr/>
                    <a:lstStyle/>
                    <a:p>
                      <a:r>
                        <a:rPr lang="it-IT" sz="900" b="1" dirty="0"/>
                        <a:t>Alfa</a:t>
                      </a:r>
                    </a:p>
                  </a:txBody>
                  <a:tcPr>
                    <a:solidFill>
                      <a:schemeClr val="tx2"/>
                    </a:solidFill>
                  </a:tcPr>
                </a:tc>
                <a:tc>
                  <a:txBody>
                    <a:bodyPr/>
                    <a:lstStyle/>
                    <a:p>
                      <a:r>
                        <a:rPr lang="it-IT" sz="900" b="1" dirty="0" err="1"/>
                        <a:t>Weight_Init</a:t>
                      </a:r>
                      <a:endParaRPr lang="it-IT" sz="900" b="1" dirty="0"/>
                    </a:p>
                  </a:txBody>
                  <a:tcPr>
                    <a:solidFill>
                      <a:schemeClr val="tx2"/>
                    </a:solidFill>
                  </a:tcPr>
                </a:tc>
                <a:tc>
                  <a:txBody>
                    <a:bodyPr/>
                    <a:lstStyle/>
                    <a:p>
                      <a:r>
                        <a:rPr lang="it-IT" sz="900" b="1" dirty="0" err="1"/>
                        <a:t>Epochs</a:t>
                      </a:r>
                      <a:endParaRPr lang="it-IT" sz="900" b="1" dirty="0"/>
                    </a:p>
                  </a:txBody>
                  <a:tcPr>
                    <a:solidFill>
                      <a:schemeClr val="tx2"/>
                    </a:solidFill>
                  </a:tcPr>
                </a:tc>
                <a:tc>
                  <a:txBody>
                    <a:bodyPr/>
                    <a:lstStyle/>
                    <a:p>
                      <a:r>
                        <a:rPr lang="it-IT" sz="900" b="1" dirty="0" err="1"/>
                        <a:t>Restart</a:t>
                      </a:r>
                      <a:endParaRPr lang="it-IT" sz="900" b="1" dirty="0"/>
                    </a:p>
                  </a:txBody>
                  <a:tcPr>
                    <a:solidFill>
                      <a:schemeClr val="tx2"/>
                    </a:solidFill>
                  </a:tcPr>
                </a:tc>
                <a:tc>
                  <a:txBody>
                    <a:bodyPr/>
                    <a:lstStyle/>
                    <a:p>
                      <a:r>
                        <a:rPr lang="it-IT" sz="900" b="1" dirty="0"/>
                        <a:t>Batch</a:t>
                      </a:r>
                    </a:p>
                  </a:txBody>
                  <a:tcPr>
                    <a:solidFill>
                      <a:schemeClr val="tx2"/>
                    </a:solidFill>
                  </a:tcPr>
                </a:tc>
                <a:tc>
                  <a:txBody>
                    <a:bodyPr/>
                    <a:lstStyle/>
                    <a:p>
                      <a:r>
                        <a:rPr lang="it-IT" sz="900" b="1" dirty="0"/>
                        <a:t>Tau</a:t>
                      </a:r>
                    </a:p>
                  </a:txBody>
                  <a:tcPr>
                    <a:solidFill>
                      <a:schemeClr val="tx2"/>
                    </a:solidFill>
                  </a:tcPr>
                </a:tc>
                <a:tc>
                  <a:txBody>
                    <a:bodyPr/>
                    <a:lstStyle/>
                    <a:p>
                      <a:r>
                        <a:rPr lang="it-IT" sz="900" b="1" dirty="0"/>
                        <a:t>TR_Error (MSE)</a:t>
                      </a:r>
                    </a:p>
                  </a:txBody>
                  <a:tcP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1" dirty="0"/>
                        <a:t>TR_Error (MEE)</a:t>
                      </a:r>
                    </a:p>
                    <a:p>
                      <a:endParaRPr lang="it-IT" sz="900" b="1" dirty="0"/>
                    </a:p>
                  </a:txBody>
                  <a:tcP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1" dirty="0"/>
                        <a:t>VAL_Error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1" dirty="0"/>
                        <a:t>(MSE)</a:t>
                      </a:r>
                    </a:p>
                    <a:p>
                      <a:endParaRPr lang="it-IT" sz="900" b="1" dirty="0"/>
                    </a:p>
                  </a:txBody>
                  <a:tcP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1" dirty="0" err="1"/>
                        <a:t>VAL_Error</a:t>
                      </a:r>
                      <a:r>
                        <a:rPr lang="it-IT" sz="900" b="1" dirty="0"/>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1" dirty="0"/>
                        <a:t>(MEE)</a:t>
                      </a:r>
                    </a:p>
                    <a:p>
                      <a:endParaRPr lang="it-IT" sz="900" b="1" dirty="0"/>
                    </a:p>
                  </a:txBody>
                  <a:tcPr>
                    <a:solidFill>
                      <a:schemeClr val="tx2"/>
                    </a:solidFill>
                  </a:tcPr>
                </a:tc>
                <a:extLst>
                  <a:ext uri="{0D108BD9-81ED-4DB2-BD59-A6C34878D82A}">
                    <a16:rowId xmlns="" xmlns:a16="http://schemas.microsoft.com/office/drawing/2014/main" val="1201224141"/>
                  </a:ext>
                </a:extLst>
              </a:tr>
              <a:tr h="300172">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b="0" i="0" u="none" strike="noStrike" cap="none" dirty="0">
                          <a:solidFill>
                            <a:schemeClr val="tx1"/>
                          </a:solidFill>
                          <a:effectLst/>
                          <a:latin typeface="+mn-lt"/>
                          <a:ea typeface="+mn-ea"/>
                          <a:cs typeface="+mn-cs"/>
                          <a:sym typeface="Arial"/>
                        </a:rPr>
                        <a:t>0.001</a:t>
                      </a:r>
                    </a:p>
                    <a:p>
                      <a:endParaRPr lang="it-IT" sz="1000" dirty="0"/>
                    </a:p>
                  </a:txBody>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b="0" i="0" u="none" strike="noStrike" cap="none" dirty="0">
                          <a:solidFill>
                            <a:schemeClr val="tx1"/>
                          </a:solidFill>
                          <a:effectLst/>
                          <a:latin typeface="+mn-lt"/>
                          <a:ea typeface="+mn-ea"/>
                          <a:cs typeface="+mn-cs"/>
                          <a:sym typeface="Arial"/>
                        </a:rPr>
                        <a:t>0.001</a:t>
                      </a:r>
                    </a:p>
                    <a:p>
                      <a:endParaRPr lang="it-IT" sz="1000" dirty="0"/>
                    </a:p>
                  </a:txBody>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b="0" i="0" u="none" strike="noStrike" cap="none" dirty="0">
                          <a:solidFill>
                            <a:schemeClr val="tx1"/>
                          </a:solidFill>
                          <a:effectLst/>
                          <a:latin typeface="+mn-lt"/>
                          <a:ea typeface="+mn-ea"/>
                          <a:cs typeface="+mn-cs"/>
                          <a:sym typeface="Arial"/>
                        </a:rPr>
                        <a:t>0.00001</a:t>
                      </a:r>
                    </a:p>
                    <a:p>
                      <a:endParaRPr lang="it-IT" sz="1000" dirty="0"/>
                    </a:p>
                  </a:txBody>
                  <a:tcPr/>
                </a:tc>
                <a:tc>
                  <a:txBody>
                    <a:bodyPr/>
                    <a:lstStyle/>
                    <a:p>
                      <a:r>
                        <a:rPr lang="it-IT" sz="1000" dirty="0"/>
                        <a:t>0.9</a:t>
                      </a:r>
                    </a:p>
                  </a:txBody>
                  <a:tcPr/>
                </a:tc>
                <a:tc>
                  <a:txBody>
                    <a:bodyPr/>
                    <a:lstStyle/>
                    <a:p>
                      <a:r>
                        <a:rPr lang="it-IT" sz="1000" dirty="0"/>
                        <a:t>xavier</a:t>
                      </a:r>
                    </a:p>
                  </a:txBody>
                  <a:tcPr/>
                </a:tc>
                <a:tc>
                  <a:txBody>
                    <a:bodyPr/>
                    <a:lstStyle/>
                    <a:p>
                      <a:r>
                        <a:rPr lang="it-IT" sz="1000" dirty="0"/>
                        <a:t>2000</a:t>
                      </a:r>
                    </a:p>
                  </a:txBody>
                  <a:tcPr/>
                </a:tc>
                <a:tc>
                  <a:txBody>
                    <a:bodyPr/>
                    <a:lstStyle/>
                    <a:p>
                      <a:r>
                        <a:rPr lang="it-IT" sz="1000" dirty="0"/>
                        <a:t>20</a:t>
                      </a:r>
                    </a:p>
                  </a:txBody>
                  <a:tcPr/>
                </a:tc>
                <a:tc>
                  <a:txBody>
                    <a:bodyPr/>
                    <a:lstStyle/>
                    <a:p>
                      <a:r>
                        <a:rPr lang="it-IT" sz="1000" dirty="0"/>
                        <a:t>32</a:t>
                      </a:r>
                    </a:p>
                  </a:txBody>
                  <a:tcPr/>
                </a:tc>
                <a:tc>
                  <a:txBody>
                    <a:bodyPr/>
                    <a:lstStyle/>
                    <a:p>
                      <a:r>
                        <a:rPr lang="it-IT" sz="1000" dirty="0"/>
                        <a:t>2000</a:t>
                      </a:r>
                    </a:p>
                  </a:txBody>
                  <a:tcPr/>
                </a:tc>
                <a:tc>
                  <a:txBody>
                    <a:bodyPr/>
                    <a:lstStyle/>
                    <a:p>
                      <a:r>
                        <a:rPr lang="it-IT" sz="1000" dirty="0"/>
                        <a:t>0.24</a:t>
                      </a:r>
                    </a:p>
                  </a:txBody>
                  <a:tcPr/>
                </a:tc>
                <a:tc>
                  <a:txBody>
                    <a:bodyPr/>
                    <a:lstStyle/>
                    <a:p>
                      <a:r>
                        <a:rPr lang="it-IT" sz="1000" dirty="0"/>
                        <a:t>0.691</a:t>
                      </a:r>
                    </a:p>
                  </a:txBody>
                  <a:tcPr/>
                </a:tc>
                <a:tc>
                  <a:txBody>
                    <a:bodyPr/>
                    <a:lstStyle/>
                    <a:p>
                      <a:r>
                        <a:rPr lang="it-IT" sz="1000" dirty="0"/>
                        <a:t>0.26</a:t>
                      </a:r>
                    </a:p>
                  </a:txBody>
                  <a:tcPr/>
                </a:tc>
                <a:tc>
                  <a:txBody>
                    <a:bodyPr/>
                    <a:lstStyle/>
                    <a:p>
                      <a:r>
                        <a:rPr lang="it-IT" sz="1000" dirty="0">
                          <a:solidFill>
                            <a:schemeClr val="tx1"/>
                          </a:solidFill>
                        </a:rPr>
                        <a:t>0.777</a:t>
                      </a:r>
                    </a:p>
                  </a:txBody>
                  <a:tcPr/>
                </a:tc>
                <a:extLst>
                  <a:ext uri="{0D108BD9-81ED-4DB2-BD59-A6C34878D82A}">
                    <a16:rowId xmlns="" xmlns:a16="http://schemas.microsoft.com/office/drawing/2014/main" val="418523280"/>
                  </a:ext>
                </a:extLst>
              </a:tr>
              <a:tr h="300172">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b="0" i="0" u="none" strike="noStrike" cap="none" dirty="0">
                          <a:solidFill>
                            <a:schemeClr val="tx1"/>
                          </a:solidFill>
                          <a:effectLst/>
                          <a:latin typeface="+mn-lt"/>
                          <a:ea typeface="+mn-ea"/>
                          <a:cs typeface="+mn-cs"/>
                          <a:sym typeface="Arial"/>
                        </a:rPr>
                        <a:t>0.001</a:t>
                      </a:r>
                    </a:p>
                  </a:txBody>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b="0" i="0" u="none" strike="noStrike" cap="none" dirty="0">
                          <a:solidFill>
                            <a:schemeClr val="tx1"/>
                          </a:solidFill>
                          <a:effectLst/>
                          <a:latin typeface="+mn-lt"/>
                          <a:ea typeface="+mn-ea"/>
                          <a:cs typeface="+mn-cs"/>
                          <a:sym typeface="Arial"/>
                        </a:rPr>
                        <a:t>0.001</a:t>
                      </a:r>
                    </a:p>
                  </a:txBody>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b="0" i="0" u="none" strike="noStrike" cap="none" dirty="0">
                          <a:solidFill>
                            <a:schemeClr val="tx1"/>
                          </a:solidFill>
                          <a:effectLst/>
                          <a:latin typeface="+mn-lt"/>
                          <a:ea typeface="+mn-ea"/>
                          <a:cs typeface="+mn-cs"/>
                          <a:sym typeface="Arial"/>
                        </a:rPr>
                        <a:t>0</a:t>
                      </a:r>
                    </a:p>
                  </a:txBody>
                  <a:tcPr/>
                </a:tc>
                <a:tc>
                  <a:txBody>
                    <a:bodyPr/>
                    <a:lstStyle/>
                    <a:p>
                      <a:r>
                        <a:rPr lang="it-IT" sz="1000" dirty="0"/>
                        <a:t>0.9</a:t>
                      </a:r>
                    </a:p>
                  </a:txBody>
                  <a:tcPr/>
                </a:tc>
                <a:tc>
                  <a:txBody>
                    <a:bodyPr/>
                    <a:lstStyle/>
                    <a:p>
                      <a:r>
                        <a:rPr lang="it-IT" sz="1000" dirty="0"/>
                        <a:t>xavier</a:t>
                      </a:r>
                    </a:p>
                  </a:txBody>
                  <a:tcPr/>
                </a:tc>
                <a:tc>
                  <a:txBody>
                    <a:bodyPr/>
                    <a:lstStyle/>
                    <a:p>
                      <a:r>
                        <a:rPr lang="it-IT" sz="1000" dirty="0"/>
                        <a:t>2000</a:t>
                      </a:r>
                    </a:p>
                  </a:txBody>
                  <a:tcPr/>
                </a:tc>
                <a:tc>
                  <a:txBody>
                    <a:bodyPr/>
                    <a:lstStyle/>
                    <a:p>
                      <a:r>
                        <a:rPr lang="it-IT" sz="1000" dirty="0"/>
                        <a:t>20</a:t>
                      </a:r>
                    </a:p>
                  </a:txBody>
                  <a:tcPr/>
                </a:tc>
                <a:tc>
                  <a:txBody>
                    <a:bodyPr/>
                    <a:lstStyle/>
                    <a:p>
                      <a:r>
                        <a:rPr lang="it-IT" sz="1000" dirty="0"/>
                        <a:t>32</a:t>
                      </a:r>
                    </a:p>
                  </a:txBody>
                  <a:tcPr/>
                </a:tc>
                <a:tc>
                  <a:txBody>
                    <a:bodyPr/>
                    <a:lstStyle/>
                    <a:p>
                      <a:r>
                        <a:rPr lang="it-IT" sz="1000" dirty="0"/>
                        <a:t>2000</a:t>
                      </a:r>
                    </a:p>
                  </a:txBody>
                  <a:tcPr/>
                </a:tc>
                <a:tc>
                  <a:txBody>
                    <a:bodyPr/>
                    <a:lstStyle/>
                    <a:p>
                      <a:r>
                        <a:rPr lang="it-IT" sz="1000" dirty="0"/>
                        <a:t>0.23</a:t>
                      </a:r>
                    </a:p>
                  </a:txBody>
                  <a:tcPr/>
                </a:tc>
                <a:tc>
                  <a:txBody>
                    <a:bodyPr/>
                    <a:lstStyle/>
                    <a:p>
                      <a:r>
                        <a:rPr lang="it-IT" sz="1000" dirty="0"/>
                        <a:t>0.684</a:t>
                      </a:r>
                    </a:p>
                  </a:txBody>
                  <a:tcPr/>
                </a:tc>
                <a:tc>
                  <a:txBody>
                    <a:bodyPr/>
                    <a:lstStyle/>
                    <a:p>
                      <a:r>
                        <a:rPr lang="it-IT" sz="1000" dirty="0"/>
                        <a:t>0.28</a:t>
                      </a:r>
                    </a:p>
                  </a:txBody>
                  <a:tcPr/>
                </a:tc>
                <a:tc>
                  <a:txBody>
                    <a:bodyPr/>
                    <a:lstStyle/>
                    <a:p>
                      <a:r>
                        <a:rPr lang="it-IT" sz="1000" dirty="0">
                          <a:solidFill>
                            <a:schemeClr val="tx1"/>
                          </a:solidFill>
                        </a:rPr>
                        <a:t>0.774</a:t>
                      </a:r>
                    </a:p>
                  </a:txBody>
                  <a:tcPr/>
                </a:tc>
                <a:extLst>
                  <a:ext uri="{0D108BD9-81ED-4DB2-BD59-A6C34878D82A}">
                    <a16:rowId xmlns="" xmlns:a16="http://schemas.microsoft.com/office/drawing/2014/main" val="2734611851"/>
                  </a:ext>
                </a:extLst>
              </a:tr>
            </a:tbl>
          </a:graphicData>
        </a:graphic>
      </p:graphicFrame>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6204" y="2444065"/>
            <a:ext cx="2965835" cy="2254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72732" y="2489664"/>
            <a:ext cx="2907862" cy="2173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CasellaDiTesto 2">
            <a:extLst>
              <a:ext uri="{FF2B5EF4-FFF2-40B4-BE49-F238E27FC236}">
                <a16:creationId xmlns="" xmlns:a16="http://schemas.microsoft.com/office/drawing/2014/main" id="{F2F476C3-8961-71E1-E6F8-EA63E4C77D71}"/>
              </a:ext>
            </a:extLst>
          </p:cNvPr>
          <p:cNvSpPr txBox="1"/>
          <p:nvPr/>
        </p:nvSpPr>
        <p:spPr>
          <a:xfrm>
            <a:off x="375449" y="4620280"/>
            <a:ext cx="7884429" cy="307777"/>
          </a:xfrm>
          <a:prstGeom prst="rect">
            <a:avLst/>
          </a:prstGeom>
          <a:noFill/>
        </p:spPr>
        <p:txBody>
          <a:bodyPr wrap="square">
            <a:spAutoFit/>
          </a:bodyPr>
          <a:lstStyle/>
          <a:p>
            <a:pPr marL="0" lvl="0" indent="0" algn="l" rtl="0">
              <a:spcBef>
                <a:spcPts val="1200"/>
              </a:spcBef>
              <a:spcAft>
                <a:spcPts val="1200"/>
              </a:spcAft>
              <a:buNone/>
            </a:pPr>
            <a:r>
              <a:rPr lang="it-IT" dirty="0"/>
              <a:t>Figure </a:t>
            </a:r>
            <a:r>
              <a:rPr lang="it-IT" dirty="0" smtClean="0"/>
              <a:t>10. </a:t>
            </a:r>
            <a:r>
              <a:rPr lang="it-IT" dirty="0"/>
              <a:t>Plot of MEE </a:t>
            </a:r>
            <a:r>
              <a:rPr lang="it-IT" dirty="0" smtClean="0"/>
              <a:t>for </a:t>
            </a:r>
            <a:r>
              <a:rPr lang="it-IT" dirty="0"/>
              <a:t>ML </a:t>
            </a:r>
            <a:r>
              <a:rPr lang="it-IT" dirty="0" smtClean="0"/>
              <a:t>Cup, </a:t>
            </a:r>
            <a:r>
              <a:rPr lang="it-IT" dirty="0"/>
              <a:t>Architecture </a:t>
            </a:r>
            <a:r>
              <a:rPr lang="it-IT" dirty="0" smtClean="0"/>
              <a:t>6, two best results </a:t>
            </a:r>
            <a:r>
              <a:rPr lang="it-IT" dirty="0"/>
              <a:t>(Training VS Validation)</a:t>
            </a:r>
          </a:p>
        </p:txBody>
      </p:sp>
      <p:sp>
        <p:nvSpPr>
          <p:cNvPr id="4" name="CasellaDiTesto 3">
            <a:extLst>
              <a:ext uri="{FF2B5EF4-FFF2-40B4-BE49-F238E27FC236}">
                <a16:creationId xmlns="" xmlns:a16="http://schemas.microsoft.com/office/drawing/2014/main" id="{95537353-CA4C-26BB-8A92-5EB895F083DE}"/>
              </a:ext>
            </a:extLst>
          </p:cNvPr>
          <p:cNvSpPr txBox="1"/>
          <p:nvPr/>
        </p:nvSpPr>
        <p:spPr>
          <a:xfrm>
            <a:off x="1095615" y="971679"/>
            <a:ext cx="7376843" cy="307777"/>
          </a:xfrm>
          <a:prstGeom prst="rect">
            <a:avLst/>
          </a:prstGeom>
          <a:noFill/>
        </p:spPr>
        <p:txBody>
          <a:bodyPr wrap="square">
            <a:spAutoFit/>
          </a:bodyPr>
          <a:lstStyle/>
          <a:p>
            <a:r>
              <a:rPr lang="it-IT" sz="1400" dirty="0" err="1">
                <a:solidFill>
                  <a:schemeClr val="tx1"/>
                </a:solidFill>
              </a:rPr>
              <a:t>Table</a:t>
            </a:r>
            <a:r>
              <a:rPr lang="it-IT" sz="1400" dirty="0">
                <a:solidFill>
                  <a:schemeClr val="tx1"/>
                </a:solidFill>
              </a:rPr>
              <a:t> 7. </a:t>
            </a:r>
            <a:r>
              <a:rPr lang="it-IT" sz="1400" dirty="0" err="1">
                <a:solidFill>
                  <a:schemeClr val="tx1"/>
                </a:solidFill>
              </a:rPr>
              <a:t>Hyperparameters</a:t>
            </a:r>
            <a:r>
              <a:rPr lang="it-IT" sz="1400" dirty="0">
                <a:solidFill>
                  <a:schemeClr val="tx1"/>
                </a:solidFill>
              </a:rPr>
              <a:t> and TR/VAL </a:t>
            </a:r>
            <a:r>
              <a:rPr lang="it-IT" sz="1400" dirty="0" err="1">
                <a:solidFill>
                  <a:schemeClr val="tx1"/>
                </a:solidFill>
              </a:rPr>
              <a:t>error</a:t>
            </a:r>
            <a:r>
              <a:rPr lang="it-IT" sz="1400" dirty="0">
                <a:solidFill>
                  <a:schemeClr val="tx1"/>
                </a:solidFill>
              </a:rPr>
              <a:t> for best models with Architecture 6</a:t>
            </a:r>
            <a:endParaRPr lang="en-US" dirty="0"/>
          </a:p>
        </p:txBody>
      </p:sp>
    </p:spTree>
    <p:extLst>
      <p:ext uri="{BB962C8B-B14F-4D97-AF65-F5344CB8AC3E}">
        <p14:creationId xmlns:p14="http://schemas.microsoft.com/office/powerpoint/2010/main" val="76878338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 xmlns:a16="http://schemas.microsoft.com/office/drawing/2014/main" id="{DEE7DBFF-57E8-82C6-4E6A-91EDFE0E27FD}"/>
            </a:ext>
          </a:extLst>
        </p:cNvPr>
        <p:cNvGrpSpPr/>
        <p:nvPr/>
      </p:nvGrpSpPr>
      <p:grpSpPr>
        <a:xfrm>
          <a:off x="0" y="0"/>
          <a:ext cx="0" cy="0"/>
          <a:chOff x="0" y="0"/>
          <a:chExt cx="0" cy="0"/>
        </a:xfrm>
      </p:grpSpPr>
      <p:sp>
        <p:nvSpPr>
          <p:cNvPr id="109" name="Google Shape;109;p20">
            <a:extLst>
              <a:ext uri="{FF2B5EF4-FFF2-40B4-BE49-F238E27FC236}">
                <a16:creationId xmlns="" xmlns:a16="http://schemas.microsoft.com/office/drawing/2014/main" id="{1EF0049E-8B7F-2847-9C05-D583DEA3A3EB}"/>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lvl="0">
              <a:buSzPct val="39285"/>
            </a:pPr>
            <a:r>
              <a:rPr lang="it-IT" sz="2800" b="1" dirty="0"/>
              <a:t>Final Model </a:t>
            </a:r>
            <a:r>
              <a:rPr lang="it-IT" b="1" dirty="0"/>
              <a:t>- [12,24,3] / [ELU,Linear</a:t>
            </a:r>
            <a:r>
              <a:rPr lang="it-IT" b="1" dirty="0" smtClean="0"/>
              <a:t>] &amp; Cup Results </a:t>
            </a:r>
            <a:r>
              <a:rPr lang="it-IT" dirty="0"/>
              <a:t/>
            </a:r>
            <a:br>
              <a:rPr lang="it-IT" dirty="0"/>
            </a:br>
            <a:endParaRPr dirty="0"/>
          </a:p>
        </p:txBody>
      </p:sp>
      <p:sp>
        <p:nvSpPr>
          <p:cNvPr id="111" name="Google Shape;111;p20">
            <a:extLst>
              <a:ext uri="{FF2B5EF4-FFF2-40B4-BE49-F238E27FC236}">
                <a16:creationId xmlns="" xmlns:a16="http://schemas.microsoft.com/office/drawing/2014/main" id="{E30BD730-B736-BBCA-B0C2-E8940D66C25B}"/>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20</a:t>
            </a:fld>
            <a:endParaRPr/>
          </a:p>
        </p:txBody>
      </p:sp>
      <p:graphicFrame>
        <p:nvGraphicFramePr>
          <p:cNvPr id="4" name="Tabella 3">
            <a:extLst>
              <a:ext uri="{FF2B5EF4-FFF2-40B4-BE49-F238E27FC236}">
                <a16:creationId xmlns="" xmlns:a16="http://schemas.microsoft.com/office/drawing/2014/main" id="{DC61EA88-6BDB-B685-04EA-44B7A71B36DE}"/>
              </a:ext>
            </a:extLst>
          </p:cNvPr>
          <p:cNvGraphicFramePr>
            <a:graphicFrameLocks noGrp="1"/>
          </p:cNvGraphicFramePr>
          <p:nvPr>
            <p:extLst>
              <p:ext uri="{D42A27DB-BD31-4B8C-83A1-F6EECF244321}">
                <p14:modId xmlns:p14="http://schemas.microsoft.com/office/powerpoint/2010/main" val="1425126501"/>
              </p:ext>
            </p:extLst>
          </p:nvPr>
        </p:nvGraphicFramePr>
        <p:xfrm>
          <a:off x="648600" y="1288569"/>
          <a:ext cx="7846799" cy="899160"/>
        </p:xfrm>
        <a:graphic>
          <a:graphicData uri="http://schemas.openxmlformats.org/drawingml/2006/table">
            <a:tbl>
              <a:tblPr firstRow="1" bandRow="1">
                <a:tableStyleId>{5940675A-B579-460E-94D1-54222C63F5DA}</a:tableStyleId>
              </a:tblPr>
              <a:tblGrid>
                <a:gridCol w="523184">
                  <a:extLst>
                    <a:ext uri="{9D8B030D-6E8A-4147-A177-3AD203B41FA5}">
                      <a16:colId xmlns="" xmlns:a16="http://schemas.microsoft.com/office/drawing/2014/main" val="731556087"/>
                    </a:ext>
                  </a:extLst>
                </a:gridCol>
                <a:gridCol w="648049">
                  <a:extLst>
                    <a:ext uri="{9D8B030D-6E8A-4147-A177-3AD203B41FA5}">
                      <a16:colId xmlns="" xmlns:a16="http://schemas.microsoft.com/office/drawing/2014/main" val="2288799742"/>
                    </a:ext>
                  </a:extLst>
                </a:gridCol>
                <a:gridCol w="641806">
                  <a:extLst>
                    <a:ext uri="{9D8B030D-6E8A-4147-A177-3AD203B41FA5}">
                      <a16:colId xmlns="" xmlns:a16="http://schemas.microsoft.com/office/drawing/2014/main" val="416376318"/>
                    </a:ext>
                  </a:extLst>
                </a:gridCol>
                <a:gridCol w="423292">
                  <a:extLst>
                    <a:ext uri="{9D8B030D-6E8A-4147-A177-3AD203B41FA5}">
                      <a16:colId xmlns="" xmlns:a16="http://schemas.microsoft.com/office/drawing/2014/main" val="2127937263"/>
                    </a:ext>
                  </a:extLst>
                </a:gridCol>
                <a:gridCol w="816616">
                  <a:extLst>
                    <a:ext uri="{9D8B030D-6E8A-4147-A177-3AD203B41FA5}">
                      <a16:colId xmlns="" xmlns:a16="http://schemas.microsoft.com/office/drawing/2014/main" val="2095147630"/>
                    </a:ext>
                  </a:extLst>
                </a:gridCol>
                <a:gridCol w="616833">
                  <a:extLst>
                    <a:ext uri="{9D8B030D-6E8A-4147-A177-3AD203B41FA5}">
                      <a16:colId xmlns="" xmlns:a16="http://schemas.microsoft.com/office/drawing/2014/main" val="631079797"/>
                    </a:ext>
                  </a:extLst>
                </a:gridCol>
                <a:gridCol w="598103">
                  <a:extLst>
                    <a:ext uri="{9D8B030D-6E8A-4147-A177-3AD203B41FA5}">
                      <a16:colId xmlns="" xmlns:a16="http://schemas.microsoft.com/office/drawing/2014/main" val="308787855"/>
                    </a:ext>
                  </a:extLst>
                </a:gridCol>
                <a:gridCol w="523184">
                  <a:extLst>
                    <a:ext uri="{9D8B030D-6E8A-4147-A177-3AD203B41FA5}">
                      <a16:colId xmlns="" xmlns:a16="http://schemas.microsoft.com/office/drawing/2014/main" val="3508982912"/>
                    </a:ext>
                  </a:extLst>
                </a:gridCol>
                <a:gridCol w="488846">
                  <a:extLst>
                    <a:ext uri="{9D8B030D-6E8A-4147-A177-3AD203B41FA5}">
                      <a16:colId xmlns="" xmlns:a16="http://schemas.microsoft.com/office/drawing/2014/main" val="1481393494"/>
                    </a:ext>
                  </a:extLst>
                </a:gridCol>
                <a:gridCol w="865918">
                  <a:extLst>
                    <a:ext uri="{9D8B030D-6E8A-4147-A177-3AD203B41FA5}">
                      <a16:colId xmlns="" xmlns:a16="http://schemas.microsoft.com/office/drawing/2014/main" val="2116244874"/>
                    </a:ext>
                  </a:extLst>
                </a:gridCol>
                <a:gridCol w="865918">
                  <a:extLst>
                    <a:ext uri="{9D8B030D-6E8A-4147-A177-3AD203B41FA5}">
                      <a16:colId xmlns="" xmlns:a16="http://schemas.microsoft.com/office/drawing/2014/main" val="2496640819"/>
                    </a:ext>
                  </a:extLst>
                </a:gridCol>
                <a:gridCol w="835050">
                  <a:extLst>
                    <a:ext uri="{9D8B030D-6E8A-4147-A177-3AD203B41FA5}">
                      <a16:colId xmlns="" xmlns:a16="http://schemas.microsoft.com/office/drawing/2014/main" val="1055177474"/>
                    </a:ext>
                  </a:extLst>
                </a:gridCol>
              </a:tblGrid>
              <a:tr h="489563">
                <a:tc>
                  <a:txBody>
                    <a:bodyPr/>
                    <a:lstStyle/>
                    <a:p>
                      <a:r>
                        <a:rPr lang="it-IT" sz="900" b="1" dirty="0"/>
                        <a:t>Eta0</a:t>
                      </a:r>
                    </a:p>
                  </a:txBody>
                  <a:tcPr>
                    <a:solidFill>
                      <a:schemeClr val="tx2"/>
                    </a:solidFill>
                  </a:tcPr>
                </a:tc>
                <a:tc>
                  <a:txBody>
                    <a:bodyPr/>
                    <a:lstStyle/>
                    <a:p>
                      <a:r>
                        <a:rPr lang="it-IT" sz="900" b="1" dirty="0" err="1"/>
                        <a:t>EtaFinal</a:t>
                      </a:r>
                      <a:endParaRPr lang="it-IT" sz="900" b="1" dirty="0"/>
                    </a:p>
                  </a:txBody>
                  <a:tcP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1" dirty="0"/>
                        <a:t>Lambda</a:t>
                      </a:r>
                    </a:p>
                    <a:p>
                      <a:endParaRPr lang="it-IT" sz="900" b="1" dirty="0"/>
                    </a:p>
                  </a:txBody>
                  <a:tcPr>
                    <a:solidFill>
                      <a:schemeClr val="tx2"/>
                    </a:solidFill>
                  </a:tcPr>
                </a:tc>
                <a:tc>
                  <a:txBody>
                    <a:bodyPr/>
                    <a:lstStyle/>
                    <a:p>
                      <a:r>
                        <a:rPr lang="it-IT" sz="900" b="1" dirty="0"/>
                        <a:t>Alfa</a:t>
                      </a:r>
                    </a:p>
                  </a:txBody>
                  <a:tcPr>
                    <a:solidFill>
                      <a:schemeClr val="tx2"/>
                    </a:solidFill>
                  </a:tcPr>
                </a:tc>
                <a:tc>
                  <a:txBody>
                    <a:bodyPr/>
                    <a:lstStyle/>
                    <a:p>
                      <a:r>
                        <a:rPr lang="it-IT" sz="900" b="1" dirty="0" err="1"/>
                        <a:t>Weight_Init</a:t>
                      </a:r>
                      <a:endParaRPr lang="it-IT" sz="900" b="1" dirty="0"/>
                    </a:p>
                  </a:txBody>
                  <a:tcPr>
                    <a:solidFill>
                      <a:schemeClr val="tx2"/>
                    </a:solidFill>
                  </a:tcPr>
                </a:tc>
                <a:tc>
                  <a:txBody>
                    <a:bodyPr/>
                    <a:lstStyle/>
                    <a:p>
                      <a:r>
                        <a:rPr lang="it-IT" sz="900" b="1" dirty="0" err="1"/>
                        <a:t>Epochs</a:t>
                      </a:r>
                      <a:endParaRPr lang="it-IT" sz="900" b="1" dirty="0"/>
                    </a:p>
                  </a:txBody>
                  <a:tcPr>
                    <a:solidFill>
                      <a:schemeClr val="tx2"/>
                    </a:solidFill>
                  </a:tcPr>
                </a:tc>
                <a:tc>
                  <a:txBody>
                    <a:bodyPr/>
                    <a:lstStyle/>
                    <a:p>
                      <a:r>
                        <a:rPr lang="it-IT" sz="900" b="1" dirty="0" err="1"/>
                        <a:t>Restart</a:t>
                      </a:r>
                      <a:endParaRPr lang="it-IT" sz="900" b="1" dirty="0"/>
                    </a:p>
                  </a:txBody>
                  <a:tcPr>
                    <a:solidFill>
                      <a:schemeClr val="tx2"/>
                    </a:solidFill>
                  </a:tcPr>
                </a:tc>
                <a:tc>
                  <a:txBody>
                    <a:bodyPr/>
                    <a:lstStyle/>
                    <a:p>
                      <a:r>
                        <a:rPr lang="it-IT" sz="900" b="1" dirty="0"/>
                        <a:t>Batch</a:t>
                      </a:r>
                    </a:p>
                  </a:txBody>
                  <a:tcPr>
                    <a:solidFill>
                      <a:schemeClr val="tx2"/>
                    </a:solidFill>
                  </a:tcPr>
                </a:tc>
                <a:tc>
                  <a:txBody>
                    <a:bodyPr/>
                    <a:lstStyle/>
                    <a:p>
                      <a:r>
                        <a:rPr lang="it-IT" sz="900" b="1" dirty="0"/>
                        <a:t>Tau</a:t>
                      </a:r>
                    </a:p>
                  </a:txBody>
                  <a:tcPr>
                    <a:solidFill>
                      <a:schemeClr val="tx2"/>
                    </a:solidFill>
                  </a:tcPr>
                </a:tc>
                <a:tc>
                  <a:txBody>
                    <a:bodyPr/>
                    <a:lstStyle/>
                    <a:p>
                      <a:r>
                        <a:rPr lang="it-IT" sz="900" b="1" dirty="0"/>
                        <a:t>TR_Error (MEE)</a:t>
                      </a:r>
                    </a:p>
                  </a:txBody>
                  <a:tcP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1" dirty="0"/>
                        <a:t>VL_Error (MEE)</a:t>
                      </a:r>
                    </a:p>
                    <a:p>
                      <a:endParaRPr lang="it-IT" sz="900" b="1" dirty="0"/>
                    </a:p>
                  </a:txBody>
                  <a:tcP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1" dirty="0"/>
                        <a:t>TS_Error</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it-IT" sz="900" b="1" dirty="0"/>
                        <a:t>(MEE)</a:t>
                      </a:r>
                    </a:p>
                    <a:p>
                      <a:endParaRPr lang="it-IT" sz="900" b="1" dirty="0"/>
                    </a:p>
                  </a:txBody>
                  <a:tcPr>
                    <a:solidFill>
                      <a:schemeClr val="tx2"/>
                    </a:solidFill>
                  </a:tcPr>
                </a:tc>
                <a:extLst>
                  <a:ext uri="{0D108BD9-81ED-4DB2-BD59-A6C34878D82A}">
                    <a16:rowId xmlns="" xmlns:a16="http://schemas.microsoft.com/office/drawing/2014/main" val="1201224141"/>
                  </a:ext>
                </a:extLst>
              </a:tr>
              <a:tr h="300172">
                <a:tc>
                  <a:txBody>
                    <a:bodyPr/>
                    <a:lstStyle/>
                    <a:p>
                      <a:r>
                        <a:rPr lang="it-IT" sz="1000" dirty="0">
                          <a:solidFill>
                            <a:schemeClr val="tx1"/>
                          </a:solidFill>
                        </a:rPr>
                        <a:t>0.01</a:t>
                      </a:r>
                    </a:p>
                  </a:txBody>
                  <a:tcPr/>
                </a:tc>
                <a:tc>
                  <a:txBody>
                    <a:bodyPr/>
                    <a:lstStyle/>
                    <a:p>
                      <a:r>
                        <a:rPr lang="it-IT" sz="1000" dirty="0">
                          <a:solidFill>
                            <a:schemeClr val="tx1"/>
                          </a:solidFill>
                        </a:rPr>
                        <a:t>0.01</a:t>
                      </a:r>
                    </a:p>
                  </a:txBody>
                  <a:tcPr/>
                </a:tc>
                <a:tc>
                  <a:txBody>
                    <a:bodyPr/>
                    <a:lstStyle/>
                    <a:p>
                      <a:r>
                        <a:rPr lang="it-IT" sz="1000" dirty="0">
                          <a:solidFill>
                            <a:schemeClr val="tx1"/>
                          </a:solidFill>
                        </a:rPr>
                        <a:t>0.0001</a:t>
                      </a:r>
                    </a:p>
                  </a:txBody>
                  <a:tcPr/>
                </a:tc>
                <a:tc>
                  <a:txBody>
                    <a:bodyPr/>
                    <a:lstStyle/>
                    <a:p>
                      <a:r>
                        <a:rPr lang="it-IT" sz="1000" dirty="0">
                          <a:solidFill>
                            <a:schemeClr val="tx1"/>
                          </a:solidFill>
                        </a:rPr>
                        <a:t>0.5</a:t>
                      </a:r>
                    </a:p>
                  </a:txBody>
                  <a:tcPr/>
                </a:tc>
                <a:tc>
                  <a:txBody>
                    <a:bodyPr/>
                    <a:lstStyle/>
                    <a:p>
                      <a:r>
                        <a:rPr lang="it-IT" sz="1000" dirty="0" err="1">
                          <a:solidFill>
                            <a:schemeClr val="tx1"/>
                          </a:solidFill>
                        </a:rPr>
                        <a:t>xavier</a:t>
                      </a:r>
                      <a:endParaRPr lang="it-IT" sz="1000" dirty="0">
                        <a:solidFill>
                          <a:schemeClr val="tx1"/>
                        </a:solidFill>
                      </a:endParaRPr>
                    </a:p>
                  </a:txBody>
                  <a:tcPr/>
                </a:tc>
                <a:tc>
                  <a:txBody>
                    <a:bodyPr/>
                    <a:lstStyle/>
                    <a:p>
                      <a:r>
                        <a:rPr lang="it-IT" sz="1000" dirty="0">
                          <a:solidFill>
                            <a:schemeClr val="tx1"/>
                          </a:solidFill>
                        </a:rPr>
                        <a:t>1000</a:t>
                      </a:r>
                    </a:p>
                  </a:txBody>
                  <a:tcPr/>
                </a:tc>
                <a:tc>
                  <a:txBody>
                    <a:bodyPr/>
                    <a:lstStyle/>
                    <a:p>
                      <a:r>
                        <a:rPr lang="it-IT" sz="1000" dirty="0">
                          <a:solidFill>
                            <a:schemeClr val="tx1"/>
                          </a:solidFill>
                        </a:rPr>
                        <a:t>20</a:t>
                      </a:r>
                    </a:p>
                  </a:txBody>
                  <a:tcPr/>
                </a:tc>
                <a:tc>
                  <a:txBody>
                    <a:bodyPr/>
                    <a:lstStyle/>
                    <a:p>
                      <a:r>
                        <a:rPr lang="it-IT" sz="1000" dirty="0">
                          <a:solidFill>
                            <a:schemeClr val="tx1"/>
                          </a:solidFill>
                        </a:rPr>
                        <a:t>None</a:t>
                      </a:r>
                    </a:p>
                  </a:txBody>
                  <a:tcPr/>
                </a:tc>
                <a:tc>
                  <a:txBody>
                    <a:bodyPr/>
                    <a:lstStyle/>
                    <a:p>
                      <a:r>
                        <a:rPr lang="it-IT" sz="1000" dirty="0">
                          <a:solidFill>
                            <a:schemeClr val="tx1"/>
                          </a:solidFill>
                        </a:rPr>
                        <a:t>1000</a:t>
                      </a:r>
                    </a:p>
                  </a:txBody>
                  <a:tcPr/>
                </a:tc>
                <a:tc>
                  <a:txBody>
                    <a:bodyPr/>
                    <a:lstStyle/>
                    <a:p>
                      <a:r>
                        <a:rPr lang="it-IT" sz="1000" dirty="0">
                          <a:solidFill>
                            <a:schemeClr val="tx1"/>
                          </a:solidFill>
                        </a:rPr>
                        <a:t>0.24</a:t>
                      </a:r>
                    </a:p>
                  </a:txBody>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dirty="0">
                          <a:solidFill>
                            <a:schemeClr val="tx1"/>
                          </a:solidFill>
                        </a:rPr>
                        <a:t>0.788</a:t>
                      </a:r>
                      <a:endParaRPr lang="it-IT" sz="1000" dirty="0">
                        <a:solidFill>
                          <a:schemeClr val="tx1"/>
                        </a:solidFill>
                      </a:endParaRPr>
                    </a:p>
                    <a:p>
                      <a:endParaRPr lang="it-IT" sz="1000" dirty="0">
                        <a:solidFill>
                          <a:schemeClr val="tx1"/>
                        </a:solidFill>
                      </a:endParaRPr>
                    </a:p>
                  </a:txBody>
                  <a:tcPr/>
                </a:tc>
                <a:tc>
                  <a:txBody>
                    <a:bodyPr/>
                    <a:lstStyle/>
                    <a:p>
                      <a:r>
                        <a:rPr lang="it-IT" sz="1000" dirty="0">
                          <a:solidFill>
                            <a:schemeClr val="tx1"/>
                          </a:solidFill>
                        </a:rPr>
                        <a:t>0.79</a:t>
                      </a:r>
                    </a:p>
                  </a:txBody>
                  <a:tcPr/>
                </a:tc>
                <a:extLst>
                  <a:ext uri="{0D108BD9-81ED-4DB2-BD59-A6C34878D82A}">
                    <a16:rowId xmlns="" xmlns:a16="http://schemas.microsoft.com/office/drawing/2014/main" val="418523280"/>
                  </a:ext>
                </a:extLst>
              </a:tr>
            </a:tbl>
          </a:graphicData>
        </a:graphic>
      </p:graphicFrame>
      <p:sp>
        <p:nvSpPr>
          <p:cNvPr id="3" name="Segnaposto testo 2">
            <a:extLst>
              <a:ext uri="{FF2B5EF4-FFF2-40B4-BE49-F238E27FC236}">
                <a16:creationId xmlns="" xmlns:a16="http://schemas.microsoft.com/office/drawing/2014/main" id="{4DAD5197-3C4D-CA13-EF30-C84A0B6D79E5}"/>
              </a:ext>
            </a:extLst>
          </p:cNvPr>
          <p:cNvSpPr>
            <a:spLocks noGrp="1"/>
          </p:cNvSpPr>
          <p:nvPr>
            <p:ph type="body" idx="1"/>
          </p:nvPr>
        </p:nvSpPr>
        <p:spPr>
          <a:xfrm>
            <a:off x="311700" y="2302064"/>
            <a:ext cx="8435108" cy="1191149"/>
          </a:xfrm>
        </p:spPr>
        <p:txBody>
          <a:bodyPr>
            <a:normAutofit/>
          </a:bodyPr>
          <a:lstStyle/>
          <a:p>
            <a:pPr marL="114300" indent="0">
              <a:buNone/>
            </a:pPr>
            <a:r>
              <a:rPr lang="it-IT" sz="1400" dirty="0">
                <a:solidFill>
                  <a:schemeClr val="tx1"/>
                </a:solidFill>
              </a:rPr>
              <a:t>The </a:t>
            </a:r>
            <a:r>
              <a:rPr lang="it-IT" sz="1400" dirty="0" err="1">
                <a:solidFill>
                  <a:schemeClr val="tx1"/>
                </a:solidFill>
              </a:rPr>
              <a:t>final</a:t>
            </a:r>
            <a:r>
              <a:rPr lang="it-IT" sz="1400" dirty="0">
                <a:solidFill>
                  <a:schemeClr val="tx1"/>
                </a:solidFill>
              </a:rPr>
              <a:t> model </a:t>
            </a:r>
            <a:r>
              <a:rPr lang="it-IT" sz="1400" dirty="0" err="1">
                <a:solidFill>
                  <a:schemeClr val="tx1"/>
                </a:solidFill>
              </a:rPr>
              <a:t>was</a:t>
            </a:r>
            <a:r>
              <a:rPr lang="it-IT" sz="1400" dirty="0">
                <a:solidFill>
                  <a:schemeClr val="tx1"/>
                </a:solidFill>
              </a:rPr>
              <a:t> </a:t>
            </a:r>
            <a:r>
              <a:rPr lang="it-IT" sz="1400" dirty="0" err="1">
                <a:solidFill>
                  <a:schemeClr val="tx1"/>
                </a:solidFill>
              </a:rPr>
              <a:t>selected</a:t>
            </a:r>
            <a:r>
              <a:rPr lang="it-IT" sz="1400" dirty="0">
                <a:solidFill>
                  <a:schemeClr val="tx1"/>
                </a:solidFill>
              </a:rPr>
              <a:t> </a:t>
            </a:r>
            <a:r>
              <a:rPr lang="it-IT" sz="1400" dirty="0" err="1">
                <a:solidFill>
                  <a:schemeClr val="tx1"/>
                </a:solidFill>
              </a:rPr>
              <a:t>based</a:t>
            </a:r>
            <a:r>
              <a:rPr lang="it-IT" sz="1400" dirty="0">
                <a:solidFill>
                  <a:schemeClr val="tx1"/>
                </a:solidFill>
              </a:rPr>
              <a:t> on </a:t>
            </a:r>
            <a:r>
              <a:rPr lang="it-IT" sz="1400" dirty="0" err="1">
                <a:solidFill>
                  <a:schemeClr val="tx1"/>
                </a:solidFill>
              </a:rPr>
              <a:t>achieving</a:t>
            </a:r>
            <a:r>
              <a:rPr lang="it-IT" sz="1400" dirty="0">
                <a:solidFill>
                  <a:schemeClr val="tx1"/>
                </a:solidFill>
              </a:rPr>
              <a:t> the </a:t>
            </a:r>
            <a:r>
              <a:rPr lang="it-IT" sz="1400" b="1" dirty="0" err="1">
                <a:solidFill>
                  <a:schemeClr val="tx1"/>
                </a:solidFill>
              </a:rPr>
              <a:t>lowest</a:t>
            </a:r>
            <a:r>
              <a:rPr lang="it-IT" sz="1400" b="1" dirty="0">
                <a:solidFill>
                  <a:schemeClr val="tx1"/>
                </a:solidFill>
              </a:rPr>
              <a:t> </a:t>
            </a:r>
            <a:r>
              <a:rPr lang="it-IT" sz="1400" b="1" dirty="0" err="1">
                <a:solidFill>
                  <a:schemeClr val="tx1"/>
                </a:solidFill>
              </a:rPr>
              <a:t>validation</a:t>
            </a:r>
            <a:r>
              <a:rPr lang="it-IT" sz="1400" b="1" dirty="0">
                <a:solidFill>
                  <a:schemeClr val="tx1"/>
                </a:solidFill>
              </a:rPr>
              <a:t> </a:t>
            </a:r>
            <a:r>
              <a:rPr lang="it-IT" sz="1400" b="1" dirty="0" err="1">
                <a:solidFill>
                  <a:schemeClr val="tx1"/>
                </a:solidFill>
              </a:rPr>
              <a:t>error</a:t>
            </a:r>
            <a:r>
              <a:rPr lang="it-IT" sz="1400" b="1" dirty="0">
                <a:solidFill>
                  <a:schemeClr val="tx1"/>
                </a:solidFill>
              </a:rPr>
              <a:t> </a:t>
            </a:r>
            <a:r>
              <a:rPr lang="it-IT" sz="1400" b="1" dirty="0" err="1">
                <a:solidFill>
                  <a:schemeClr val="tx1"/>
                </a:solidFill>
              </a:rPr>
              <a:t>combined</a:t>
            </a:r>
            <a:r>
              <a:rPr lang="it-IT" sz="1400" b="1" dirty="0">
                <a:solidFill>
                  <a:schemeClr val="tx1"/>
                </a:solidFill>
              </a:rPr>
              <a:t> with a </a:t>
            </a:r>
            <a:r>
              <a:rPr lang="it-IT" sz="1400" b="1" dirty="0" err="1">
                <a:solidFill>
                  <a:schemeClr val="tx1"/>
                </a:solidFill>
              </a:rPr>
              <a:t>stable</a:t>
            </a:r>
            <a:r>
              <a:rPr lang="it-IT" sz="1400" b="1" dirty="0">
                <a:solidFill>
                  <a:schemeClr val="tx1"/>
                </a:solidFill>
              </a:rPr>
              <a:t> learning curve</a:t>
            </a:r>
            <a:r>
              <a:rPr lang="it-IT" sz="1400" dirty="0">
                <a:solidFill>
                  <a:schemeClr val="tx1"/>
                </a:solidFill>
              </a:rPr>
              <a:t>. While </a:t>
            </a:r>
            <a:r>
              <a:rPr lang="it-IT" sz="1400" dirty="0" smtClean="0">
                <a:solidFill>
                  <a:schemeClr val="tx1"/>
                </a:solidFill>
              </a:rPr>
              <a:t> </a:t>
            </a:r>
            <a:r>
              <a:rPr lang="it-IT" sz="1400" dirty="0">
                <a:solidFill>
                  <a:schemeClr val="tx1"/>
                </a:solidFill>
              </a:rPr>
              <a:t>more complex </a:t>
            </a:r>
            <a:r>
              <a:rPr lang="it-IT" sz="1400" dirty="0" smtClean="0">
                <a:solidFill>
                  <a:schemeClr val="tx1"/>
                </a:solidFill>
              </a:rPr>
              <a:t>models </a:t>
            </a:r>
            <a:r>
              <a:rPr lang="it-IT" sz="1400" dirty="0">
                <a:solidFill>
                  <a:schemeClr val="tx1"/>
                </a:solidFill>
              </a:rPr>
              <a:t>showed a slightly better validation error, it came at the cost of an unstable learning curve. Given the </a:t>
            </a:r>
            <a:r>
              <a:rPr lang="it-IT" sz="1400" dirty="0" err="1">
                <a:solidFill>
                  <a:schemeClr val="tx1"/>
                </a:solidFill>
              </a:rPr>
              <a:t>negligible</a:t>
            </a:r>
            <a:r>
              <a:rPr lang="it-IT" sz="1400" dirty="0">
                <a:solidFill>
                  <a:schemeClr val="tx1"/>
                </a:solidFill>
              </a:rPr>
              <a:t> </a:t>
            </a:r>
            <a:r>
              <a:rPr lang="it-IT" sz="1400" dirty="0" err="1">
                <a:solidFill>
                  <a:schemeClr val="tx1"/>
                </a:solidFill>
              </a:rPr>
              <a:t>improvement</a:t>
            </a:r>
            <a:r>
              <a:rPr lang="it-IT" sz="1400" dirty="0">
                <a:solidFill>
                  <a:schemeClr val="tx1"/>
                </a:solidFill>
              </a:rPr>
              <a:t> in performance, </a:t>
            </a:r>
            <a:r>
              <a:rPr lang="it-IT" sz="1400" dirty="0" err="1">
                <a:solidFill>
                  <a:schemeClr val="tx1"/>
                </a:solidFill>
              </a:rPr>
              <a:t>we</a:t>
            </a:r>
            <a:r>
              <a:rPr lang="it-IT" sz="1400" dirty="0">
                <a:solidFill>
                  <a:schemeClr val="tx1"/>
                </a:solidFill>
              </a:rPr>
              <a:t> </a:t>
            </a:r>
            <a:r>
              <a:rPr lang="it-IT" sz="1400" dirty="0" err="1">
                <a:solidFill>
                  <a:schemeClr val="tx1"/>
                </a:solidFill>
              </a:rPr>
              <a:t>opted</a:t>
            </a:r>
            <a:r>
              <a:rPr lang="it-IT" sz="1400" dirty="0">
                <a:solidFill>
                  <a:schemeClr val="tx1"/>
                </a:solidFill>
              </a:rPr>
              <a:t> for the </a:t>
            </a:r>
            <a:r>
              <a:rPr lang="it-IT" sz="1400" dirty="0" err="1">
                <a:solidFill>
                  <a:schemeClr val="tx1"/>
                </a:solidFill>
              </a:rPr>
              <a:t>simpler</a:t>
            </a:r>
            <a:r>
              <a:rPr lang="it-IT" sz="1400" dirty="0">
                <a:solidFill>
                  <a:schemeClr val="tx1"/>
                </a:solidFill>
              </a:rPr>
              <a:t> model.</a:t>
            </a:r>
          </a:p>
          <a:p>
            <a:pPr marL="114300" indent="0">
              <a:spcBef>
                <a:spcPts val="1200"/>
              </a:spcBef>
              <a:buClr>
                <a:schemeClr val="dk1"/>
              </a:buClr>
              <a:buNone/>
            </a:pPr>
            <a:endParaRPr lang="it-IT" sz="1500" dirty="0">
              <a:solidFill>
                <a:schemeClr val="tx1"/>
              </a:solidFill>
            </a:endParaRPr>
          </a:p>
          <a:p>
            <a:pPr marL="114300" indent="0">
              <a:spcBef>
                <a:spcPts val="1200"/>
              </a:spcBef>
              <a:buClr>
                <a:schemeClr val="dk1"/>
              </a:buClr>
              <a:buNone/>
            </a:pPr>
            <a:endParaRPr lang="it-IT" sz="1400" dirty="0">
              <a:solidFill>
                <a:schemeClr val="tx1"/>
              </a:solidFill>
            </a:endParaRPr>
          </a:p>
        </p:txBody>
      </p:sp>
      <p:sp>
        <p:nvSpPr>
          <p:cNvPr id="5" name="CasellaDiTesto 4">
            <a:extLst>
              <a:ext uri="{FF2B5EF4-FFF2-40B4-BE49-F238E27FC236}">
                <a16:creationId xmlns="" xmlns:a16="http://schemas.microsoft.com/office/drawing/2014/main" id="{50337C2B-3551-18EE-EB0E-AB078F60F3F2}"/>
              </a:ext>
            </a:extLst>
          </p:cNvPr>
          <p:cNvSpPr txBox="1"/>
          <p:nvPr/>
        </p:nvSpPr>
        <p:spPr>
          <a:xfrm>
            <a:off x="409438" y="3425826"/>
            <a:ext cx="8239632" cy="800219"/>
          </a:xfrm>
          <a:prstGeom prst="rect">
            <a:avLst/>
          </a:prstGeom>
          <a:noFill/>
        </p:spPr>
        <p:txBody>
          <a:bodyPr wrap="square">
            <a:spAutoFit/>
          </a:bodyPr>
          <a:lstStyle/>
          <a:p>
            <a:r>
              <a:rPr lang="it-IT" sz="1800" b="1" dirty="0"/>
              <a:t>Risk </a:t>
            </a:r>
            <a:r>
              <a:rPr lang="it-IT" sz="1800" b="1" dirty="0" err="1"/>
              <a:t>Assessment</a:t>
            </a:r>
            <a:r>
              <a:rPr lang="it-IT" sz="1800" b="1" dirty="0"/>
              <a:t>:</a:t>
            </a:r>
            <a:r>
              <a:rPr lang="it-IT" sz="1400" dirty="0"/>
              <a:t/>
            </a:r>
            <a:br>
              <a:rPr lang="it-IT" sz="1400" dirty="0"/>
            </a:br>
            <a:r>
              <a:rPr lang="it-IT" sz="1400" dirty="0"/>
              <a:t>The </a:t>
            </a:r>
            <a:r>
              <a:rPr lang="it-IT" sz="1400" b="1" dirty="0" err="1"/>
              <a:t>estimated</a:t>
            </a:r>
            <a:r>
              <a:rPr lang="it-IT" sz="1400" b="1" dirty="0"/>
              <a:t> </a:t>
            </a:r>
            <a:r>
              <a:rPr lang="it-IT" sz="1400" b="1" dirty="0" err="1"/>
              <a:t>error</a:t>
            </a:r>
            <a:r>
              <a:rPr lang="it-IT" sz="1400" dirty="0"/>
              <a:t> on the </a:t>
            </a:r>
            <a:r>
              <a:rPr lang="it-IT" sz="1400" b="1" dirty="0" err="1"/>
              <a:t>internal</a:t>
            </a:r>
            <a:r>
              <a:rPr lang="it-IT" sz="1400" b="1" dirty="0"/>
              <a:t> test set </a:t>
            </a:r>
            <a:r>
              <a:rPr lang="it-IT" sz="1400" dirty="0" err="1"/>
              <a:t>is</a:t>
            </a:r>
            <a:r>
              <a:rPr lang="it-IT" sz="1400" dirty="0"/>
              <a:t> </a:t>
            </a:r>
            <a:r>
              <a:rPr lang="it-IT" sz="1400" dirty="0" err="1"/>
              <a:t>as</a:t>
            </a:r>
            <a:r>
              <a:rPr lang="it-IT" sz="1400" dirty="0"/>
              <a:t> follows:</a:t>
            </a:r>
          </a:p>
          <a:p>
            <a:r>
              <a:rPr lang="it-IT" sz="1400" b="1" dirty="0"/>
              <a:t>Mean Euclidean Error (MEE): </a:t>
            </a:r>
            <a:r>
              <a:rPr lang="it-IT" sz="1400" b="1" dirty="0" smtClean="0"/>
              <a:t>0.79, Mean </a:t>
            </a:r>
            <a:r>
              <a:rPr lang="it-IT" sz="1400" b="1" dirty="0"/>
              <a:t>Squared Error (MSE): 0.33</a:t>
            </a:r>
          </a:p>
        </p:txBody>
      </p:sp>
      <p:sp>
        <p:nvSpPr>
          <p:cNvPr id="7" name="CasellaDiTesto 6">
            <a:extLst>
              <a:ext uri="{FF2B5EF4-FFF2-40B4-BE49-F238E27FC236}">
                <a16:creationId xmlns="" xmlns:a16="http://schemas.microsoft.com/office/drawing/2014/main" id="{D7B0B1FD-2A25-2882-384C-94A7E94847B1}"/>
              </a:ext>
            </a:extLst>
          </p:cNvPr>
          <p:cNvSpPr txBox="1"/>
          <p:nvPr/>
        </p:nvSpPr>
        <p:spPr>
          <a:xfrm>
            <a:off x="452183" y="4225820"/>
            <a:ext cx="8239632" cy="800219"/>
          </a:xfrm>
          <a:prstGeom prst="rect">
            <a:avLst/>
          </a:prstGeom>
          <a:noFill/>
        </p:spPr>
        <p:txBody>
          <a:bodyPr wrap="square">
            <a:spAutoFit/>
          </a:bodyPr>
          <a:lstStyle/>
          <a:p>
            <a:r>
              <a:rPr lang="it-IT" sz="1800" b="1" dirty="0"/>
              <a:t>Training Time</a:t>
            </a:r>
            <a:r>
              <a:rPr lang="it-IT" sz="1800" dirty="0"/>
              <a:t>:</a:t>
            </a:r>
            <a:r>
              <a:rPr lang="it-IT" sz="1400" dirty="0"/>
              <a:t/>
            </a:r>
            <a:br>
              <a:rPr lang="it-IT" sz="1400" dirty="0"/>
            </a:br>
            <a:r>
              <a:rPr lang="it-IT" sz="1400" dirty="0"/>
              <a:t>The final model's training time is estimated at </a:t>
            </a:r>
            <a:r>
              <a:rPr lang="it-IT" sz="1400" b="1" dirty="0"/>
              <a:t>200 seconds</a:t>
            </a:r>
            <a:r>
              <a:rPr lang="it-IT" sz="1400" dirty="0"/>
              <a:t>, using the following </a:t>
            </a:r>
            <a:r>
              <a:rPr lang="it-IT" sz="1400" b="1" dirty="0"/>
              <a:t>hardware </a:t>
            </a:r>
            <a:r>
              <a:rPr lang="it-IT" sz="1400" b="1" dirty="0" smtClean="0"/>
              <a:t>resources</a:t>
            </a:r>
            <a:r>
              <a:rPr lang="it-IT" sz="1400" dirty="0" smtClean="0"/>
              <a:t>:</a:t>
            </a:r>
          </a:p>
          <a:p>
            <a:r>
              <a:rPr lang="it-IT" sz="1400" b="1" dirty="0" smtClean="0"/>
              <a:t>8 </a:t>
            </a:r>
            <a:r>
              <a:rPr lang="it-IT" sz="1400" b="1" dirty="0"/>
              <a:t>GB RAM, Intel i5 11th Generation Quad-Core @ 2.40 GHz</a:t>
            </a:r>
          </a:p>
        </p:txBody>
      </p:sp>
      <p:sp>
        <p:nvSpPr>
          <p:cNvPr id="2" name="CasellaDiTesto 1">
            <a:extLst>
              <a:ext uri="{FF2B5EF4-FFF2-40B4-BE49-F238E27FC236}">
                <a16:creationId xmlns="" xmlns:a16="http://schemas.microsoft.com/office/drawing/2014/main" id="{F201A9D7-AB8F-B572-6EE4-6BEB0EBBE157}"/>
              </a:ext>
            </a:extLst>
          </p:cNvPr>
          <p:cNvSpPr txBox="1"/>
          <p:nvPr/>
        </p:nvSpPr>
        <p:spPr>
          <a:xfrm>
            <a:off x="1125802" y="953769"/>
            <a:ext cx="7376843" cy="307777"/>
          </a:xfrm>
          <a:prstGeom prst="rect">
            <a:avLst/>
          </a:prstGeom>
          <a:noFill/>
        </p:spPr>
        <p:txBody>
          <a:bodyPr wrap="square">
            <a:spAutoFit/>
          </a:bodyPr>
          <a:lstStyle/>
          <a:p>
            <a:r>
              <a:rPr lang="it-IT" sz="1400" dirty="0" err="1">
                <a:solidFill>
                  <a:schemeClr val="tx1"/>
                </a:solidFill>
              </a:rPr>
              <a:t>Table</a:t>
            </a:r>
            <a:r>
              <a:rPr lang="it-IT" sz="1400" dirty="0">
                <a:solidFill>
                  <a:schemeClr val="tx1"/>
                </a:solidFill>
              </a:rPr>
              <a:t> 8. Hyperparameters and </a:t>
            </a:r>
            <a:r>
              <a:rPr lang="it-IT" sz="1400" dirty="0" smtClean="0">
                <a:solidFill>
                  <a:schemeClr val="tx1"/>
                </a:solidFill>
              </a:rPr>
              <a:t>TR/VL/TS </a:t>
            </a:r>
            <a:r>
              <a:rPr lang="it-IT" sz="1400" dirty="0">
                <a:solidFill>
                  <a:schemeClr val="tx1"/>
                </a:solidFill>
              </a:rPr>
              <a:t>error for </a:t>
            </a:r>
            <a:r>
              <a:rPr lang="it-IT" sz="1400" dirty="0" smtClean="0">
                <a:solidFill>
                  <a:schemeClr val="tx1"/>
                </a:solidFill>
              </a:rPr>
              <a:t>selected </a:t>
            </a:r>
            <a:r>
              <a:rPr lang="it-IT" dirty="0" smtClean="0">
                <a:solidFill>
                  <a:schemeClr val="tx1"/>
                </a:solidFill>
              </a:rPr>
              <a:t>final </a:t>
            </a:r>
            <a:r>
              <a:rPr lang="it-IT" sz="1400" dirty="0">
                <a:solidFill>
                  <a:schemeClr val="tx1"/>
                </a:solidFill>
              </a:rPr>
              <a:t>model</a:t>
            </a:r>
            <a:endParaRPr lang="en-US" dirty="0"/>
          </a:p>
        </p:txBody>
      </p:sp>
    </p:spTree>
    <p:extLst>
      <p:ext uri="{BB962C8B-B14F-4D97-AF65-F5344CB8AC3E}">
        <p14:creationId xmlns:p14="http://schemas.microsoft.com/office/powerpoint/2010/main" val="122230801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it" b="1" dirty="0"/>
              <a:t>CUP Results</a:t>
            </a:r>
            <a:endParaRPr lang="en-US" b="1"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 smtClean="0"/>
              <a:t>21</a:t>
            </a:fld>
            <a:endParaRPr lang="it"/>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566" y="986340"/>
            <a:ext cx="4255253" cy="319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57183" y="1012330"/>
            <a:ext cx="4174280" cy="31439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CasellaDiTesto 2">
            <a:extLst>
              <a:ext uri="{FF2B5EF4-FFF2-40B4-BE49-F238E27FC236}">
                <a16:creationId xmlns="" xmlns:a16="http://schemas.microsoft.com/office/drawing/2014/main" id="{FFA5321A-5714-4790-5454-EA92E54582BD}"/>
              </a:ext>
            </a:extLst>
          </p:cNvPr>
          <p:cNvSpPr txBox="1"/>
          <p:nvPr/>
        </p:nvSpPr>
        <p:spPr>
          <a:xfrm>
            <a:off x="635841" y="4453769"/>
            <a:ext cx="7829928" cy="307777"/>
          </a:xfrm>
          <a:prstGeom prst="rect">
            <a:avLst/>
          </a:prstGeom>
          <a:noFill/>
        </p:spPr>
        <p:txBody>
          <a:bodyPr wrap="square">
            <a:spAutoFit/>
          </a:bodyPr>
          <a:lstStyle/>
          <a:p>
            <a:pPr marL="0" lvl="0" indent="0" algn="l" rtl="0">
              <a:spcBef>
                <a:spcPts val="1200"/>
              </a:spcBef>
              <a:spcAft>
                <a:spcPts val="1200"/>
              </a:spcAft>
              <a:buNone/>
            </a:pPr>
            <a:r>
              <a:rPr lang="it-IT" dirty="0"/>
              <a:t>Figure </a:t>
            </a:r>
            <a:r>
              <a:rPr lang="it-IT" dirty="0" smtClean="0"/>
              <a:t>11. </a:t>
            </a:r>
            <a:r>
              <a:rPr lang="it-IT" dirty="0"/>
              <a:t>Plot of MEE on Selection </a:t>
            </a:r>
            <a:r>
              <a:rPr lang="it-IT" dirty="0" smtClean="0"/>
              <a:t>Set </a:t>
            </a:r>
            <a:r>
              <a:rPr lang="it-IT" dirty="0"/>
              <a:t>and Test Set for ML Cup and MEE on final retraining</a:t>
            </a:r>
          </a:p>
        </p:txBody>
      </p:sp>
    </p:spTree>
    <p:extLst>
      <p:ext uri="{BB962C8B-B14F-4D97-AF65-F5344CB8AC3E}">
        <p14:creationId xmlns:p14="http://schemas.microsoft.com/office/powerpoint/2010/main" val="338564097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b="1" dirty="0"/>
              <a:t>Discussion &amp; Conclusions</a:t>
            </a:r>
            <a:endParaRPr b="1" dirty="0"/>
          </a:p>
        </p:txBody>
      </p:sp>
      <p:sp>
        <p:nvSpPr>
          <p:cNvPr id="124" name="Google Shape;124;p22"/>
          <p:cNvSpPr txBox="1">
            <a:spLocks noGrp="1"/>
          </p:cNvSpPr>
          <p:nvPr>
            <p:ph type="body" idx="1"/>
          </p:nvPr>
        </p:nvSpPr>
        <p:spPr>
          <a:xfrm>
            <a:off x="311700" y="1152475"/>
            <a:ext cx="8520600" cy="3861586"/>
          </a:xfrm>
          <a:prstGeom prst="rect">
            <a:avLst/>
          </a:prstGeom>
        </p:spPr>
        <p:txBody>
          <a:bodyPr spcFirstLastPara="1" wrap="square" lIns="91425" tIns="91425" rIns="91425" bIns="91425" anchor="t" anchorCtr="0">
            <a:normAutofit/>
          </a:bodyPr>
          <a:lstStyle/>
          <a:p>
            <a:pPr>
              <a:buFont typeface="Font di sistema regolare"/>
              <a:buChar char="-"/>
            </a:pPr>
            <a:r>
              <a:rPr lang="it-IT" sz="1400" dirty="0" smtClean="0">
                <a:solidFill>
                  <a:schemeClr val="tx1"/>
                </a:solidFill>
                <a:latin typeface="Arial" panose="020B0604020202020204" pitchFamily="34" charset="0"/>
                <a:cs typeface="Arial" panose="020B0604020202020204" pitchFamily="34" charset="0"/>
              </a:rPr>
              <a:t>In Monk tasks, </a:t>
            </a:r>
            <a:r>
              <a:rPr lang="en-US" sz="1400" dirty="0">
                <a:solidFill>
                  <a:schemeClr val="tx1"/>
                </a:solidFill>
              </a:rPr>
              <a:t>using </a:t>
            </a:r>
            <a:r>
              <a:rPr lang="en-US" sz="1400" b="1" dirty="0">
                <a:solidFill>
                  <a:schemeClr val="tx1"/>
                </a:solidFill>
              </a:rPr>
              <a:t>1-hot encoding </a:t>
            </a:r>
            <a:r>
              <a:rPr lang="en-US" sz="1400" b="1" dirty="0" smtClean="0">
                <a:solidFill>
                  <a:schemeClr val="tx1"/>
                </a:solidFill>
              </a:rPr>
              <a:t>for input variables \leads </a:t>
            </a:r>
            <a:r>
              <a:rPr lang="en-US" sz="1400" b="1" dirty="0">
                <a:solidFill>
                  <a:schemeClr val="tx1"/>
                </a:solidFill>
              </a:rPr>
              <a:t>to better </a:t>
            </a:r>
            <a:r>
              <a:rPr lang="en-US" sz="1400" b="1" dirty="0" smtClean="0">
                <a:solidFill>
                  <a:schemeClr val="tx1"/>
                </a:solidFill>
              </a:rPr>
              <a:t>results.</a:t>
            </a:r>
            <a:endParaRPr lang="it-IT" sz="1400" b="1" dirty="0" smtClean="0">
              <a:solidFill>
                <a:schemeClr val="tx1"/>
              </a:solidFill>
              <a:latin typeface="Arial" panose="020B0604020202020204" pitchFamily="34" charset="0"/>
              <a:cs typeface="Arial" panose="020B0604020202020204" pitchFamily="34" charset="0"/>
            </a:endParaRPr>
          </a:p>
          <a:p>
            <a:pPr>
              <a:buFont typeface="Font di sistema regolare"/>
              <a:buChar char="-"/>
            </a:pPr>
            <a:r>
              <a:rPr lang="it-IT" sz="1400" dirty="0" smtClean="0">
                <a:solidFill>
                  <a:schemeClr val="tx1"/>
                </a:solidFill>
                <a:latin typeface="Arial" panose="020B0604020202020204" pitchFamily="34" charset="0"/>
                <a:cs typeface="Arial" panose="020B0604020202020204" pitchFamily="34" charset="0"/>
              </a:rPr>
              <a:t>In </a:t>
            </a:r>
            <a:r>
              <a:rPr lang="it-IT" sz="1400" dirty="0">
                <a:solidFill>
                  <a:schemeClr val="tx1"/>
                </a:solidFill>
                <a:latin typeface="Arial" panose="020B0604020202020204" pitchFamily="34" charset="0"/>
                <a:cs typeface="Arial" panose="020B0604020202020204" pitchFamily="34" charset="0"/>
              </a:rPr>
              <a:t>the Monk3 dataset, </a:t>
            </a:r>
            <a:r>
              <a:rPr lang="it-IT" sz="1400" b="1" dirty="0">
                <a:solidFill>
                  <a:schemeClr val="tx1"/>
                </a:solidFill>
                <a:latin typeface="Arial" panose="020B0604020202020204" pitchFamily="34" charset="0"/>
                <a:cs typeface="Arial" panose="020B0604020202020204" pitchFamily="34" charset="0"/>
              </a:rPr>
              <a:t>models without regularization are prone to overfitting</a:t>
            </a:r>
            <a:r>
              <a:rPr lang="it-IT" sz="1400" dirty="0">
                <a:solidFill>
                  <a:schemeClr val="tx1"/>
                </a:solidFill>
                <a:latin typeface="Arial" panose="020B0604020202020204" pitchFamily="34" charset="0"/>
                <a:cs typeface="Arial" panose="020B0604020202020204" pitchFamily="34" charset="0"/>
              </a:rPr>
              <a:t>. </a:t>
            </a:r>
          </a:p>
          <a:p>
            <a:pPr>
              <a:buFont typeface="Font di sistema regolare"/>
              <a:buChar char="-"/>
            </a:pPr>
            <a:r>
              <a:rPr lang="it-IT" sz="1400" dirty="0" smtClean="0">
                <a:solidFill>
                  <a:schemeClr val="tx1"/>
                </a:solidFill>
                <a:latin typeface="Arial" panose="020B0604020202020204" pitchFamily="34" charset="0"/>
                <a:cs typeface="Arial" panose="020B0604020202020204" pitchFamily="34" charset="0"/>
              </a:rPr>
              <a:t>As shown, in </a:t>
            </a:r>
            <a:r>
              <a:rPr lang="it-IT" sz="1400" dirty="0">
                <a:solidFill>
                  <a:schemeClr val="tx1"/>
                </a:solidFill>
                <a:latin typeface="Arial" panose="020B0604020202020204" pitchFamily="34" charset="0"/>
                <a:cs typeface="Arial" panose="020B0604020202020204" pitchFamily="34" charset="0"/>
              </a:rPr>
              <a:t>the ML </a:t>
            </a:r>
            <a:r>
              <a:rPr lang="it-IT" sz="1400" dirty="0" smtClean="0">
                <a:solidFill>
                  <a:schemeClr val="tx1"/>
                </a:solidFill>
                <a:latin typeface="Arial" panose="020B0604020202020204" pitchFamily="34" charset="0"/>
                <a:cs typeface="Arial" panose="020B0604020202020204" pitchFamily="34" charset="0"/>
              </a:rPr>
              <a:t>CUP, </a:t>
            </a:r>
            <a:r>
              <a:rPr lang="it-IT" sz="1400" b="1" dirty="0">
                <a:solidFill>
                  <a:schemeClr val="tx1"/>
                </a:solidFill>
                <a:latin typeface="Arial" panose="020B0604020202020204" pitchFamily="34" charset="0"/>
                <a:cs typeface="Arial" panose="020B0604020202020204" pitchFamily="34" charset="0"/>
              </a:rPr>
              <a:t>more complex models do not necessarily yield better results and may also exhibit less stability. </a:t>
            </a:r>
          </a:p>
          <a:p>
            <a:pPr>
              <a:buFont typeface="Font di sistema regolare"/>
              <a:buChar char="-"/>
            </a:pPr>
            <a:r>
              <a:rPr lang="it-IT" sz="1400" dirty="0">
                <a:solidFill>
                  <a:schemeClr val="tx1"/>
                </a:solidFill>
                <a:latin typeface="Arial" panose="020B0604020202020204" pitchFamily="34" charset="0"/>
                <a:cs typeface="Arial" panose="020B0604020202020204" pitchFamily="34" charset="0"/>
              </a:rPr>
              <a:t>To </a:t>
            </a:r>
            <a:r>
              <a:rPr lang="it-IT" sz="1400" dirty="0" smtClean="0">
                <a:solidFill>
                  <a:schemeClr val="tx1"/>
                </a:solidFill>
                <a:latin typeface="Arial" panose="020B0604020202020204" pitchFamily="34" charset="0"/>
                <a:cs typeface="Arial" panose="020B0604020202020204" pitchFamily="34" charset="0"/>
              </a:rPr>
              <a:t>deal with the presence of local </a:t>
            </a:r>
            <a:r>
              <a:rPr lang="it-IT" sz="1400" dirty="0">
                <a:solidFill>
                  <a:schemeClr val="tx1"/>
                </a:solidFill>
                <a:latin typeface="Arial" panose="020B0604020202020204" pitchFamily="34" charset="0"/>
                <a:cs typeface="Arial" panose="020B0604020202020204" pitchFamily="34" charset="0"/>
              </a:rPr>
              <a:t>minima, </a:t>
            </a:r>
            <a:r>
              <a:rPr lang="it-IT" sz="1400" b="1" dirty="0">
                <a:solidFill>
                  <a:schemeClr val="tx1"/>
                </a:solidFill>
                <a:latin typeface="Arial" panose="020B0604020202020204" pitchFamily="34" charset="0"/>
                <a:cs typeface="Arial" panose="020B0604020202020204" pitchFamily="34" charset="0"/>
              </a:rPr>
              <a:t>performing multiple restarts is beneficial</a:t>
            </a:r>
            <a:r>
              <a:rPr lang="it-IT" sz="1400" dirty="0">
                <a:solidFill>
                  <a:schemeClr val="tx1"/>
                </a:solidFill>
                <a:latin typeface="Arial" panose="020B0604020202020204" pitchFamily="34" charset="0"/>
                <a:cs typeface="Arial" panose="020B0604020202020204" pitchFamily="34" charset="0"/>
              </a:rPr>
              <a:t>, and </a:t>
            </a:r>
            <a:r>
              <a:rPr lang="it-IT" sz="1400" b="1" dirty="0">
                <a:solidFill>
                  <a:schemeClr val="tx1"/>
                </a:solidFill>
                <a:latin typeface="Arial" panose="020B0604020202020204" pitchFamily="34" charset="0"/>
                <a:cs typeface="Arial" panose="020B0604020202020204" pitchFamily="34" charset="0"/>
              </a:rPr>
              <a:t>Xavier initialization generally provides better outcomes. </a:t>
            </a:r>
          </a:p>
          <a:p>
            <a:pPr>
              <a:buFont typeface="Font di sistema regolare"/>
              <a:buChar char="-"/>
            </a:pPr>
            <a:r>
              <a:rPr lang="it-IT" sz="1400" dirty="0" smtClean="0">
                <a:solidFill>
                  <a:schemeClr val="tx1"/>
                </a:solidFill>
                <a:latin typeface="Arial" panose="020B0604020202020204" pitchFamily="34" charset="0"/>
                <a:cs typeface="Arial" panose="020B0604020202020204" pitchFamily="34" charset="0"/>
              </a:rPr>
              <a:t>Especially in </a:t>
            </a:r>
            <a:r>
              <a:rPr lang="it-IT" sz="1400" dirty="0">
                <a:solidFill>
                  <a:schemeClr val="tx1"/>
                </a:solidFill>
                <a:latin typeface="Arial" panose="020B0604020202020204" pitchFamily="34" charset="0"/>
                <a:cs typeface="Arial" panose="020B0604020202020204" pitchFamily="34" charset="0"/>
              </a:rPr>
              <a:t>the ML </a:t>
            </a:r>
            <a:r>
              <a:rPr lang="it-IT" sz="1400" dirty="0" smtClean="0">
                <a:solidFill>
                  <a:schemeClr val="tx1"/>
                </a:solidFill>
                <a:latin typeface="Arial" panose="020B0604020202020204" pitchFamily="34" charset="0"/>
                <a:cs typeface="Arial" panose="020B0604020202020204" pitchFamily="34" charset="0"/>
              </a:rPr>
              <a:t>CUP, </a:t>
            </a:r>
            <a:r>
              <a:rPr lang="it-IT" sz="1400" dirty="0">
                <a:solidFill>
                  <a:schemeClr val="tx1"/>
                </a:solidFill>
                <a:latin typeface="Arial" panose="020B0604020202020204" pitchFamily="34" charset="0"/>
                <a:cs typeface="Arial" panose="020B0604020202020204" pitchFamily="34" charset="0"/>
              </a:rPr>
              <a:t>selecting an </a:t>
            </a:r>
            <a:r>
              <a:rPr lang="it-IT" sz="1400" b="1" dirty="0">
                <a:solidFill>
                  <a:schemeClr val="tx1"/>
                </a:solidFill>
                <a:latin typeface="Arial" panose="020B0604020202020204" pitchFamily="34" charset="0"/>
                <a:cs typeface="Arial" panose="020B0604020202020204" pitchFamily="34" charset="0"/>
              </a:rPr>
              <a:t>appropriate learning rate </a:t>
            </a:r>
            <a:r>
              <a:rPr lang="it-IT" sz="1400" dirty="0" smtClean="0">
                <a:solidFill>
                  <a:schemeClr val="tx1"/>
                </a:solidFill>
                <a:latin typeface="Arial" panose="020B0604020202020204" pitchFamily="34" charset="0"/>
                <a:cs typeface="Arial" panose="020B0604020202020204" pitchFamily="34" charset="0"/>
              </a:rPr>
              <a:t>is </a:t>
            </a:r>
            <a:r>
              <a:rPr lang="it-IT" sz="1400" dirty="0">
                <a:solidFill>
                  <a:schemeClr val="tx1"/>
                </a:solidFill>
                <a:latin typeface="Arial" panose="020B0604020202020204" pitchFamily="34" charset="0"/>
                <a:cs typeface="Arial" panose="020B0604020202020204" pitchFamily="34" charset="0"/>
              </a:rPr>
              <a:t>crucial for </a:t>
            </a:r>
            <a:r>
              <a:rPr lang="it-IT" sz="1400" dirty="0" smtClean="0">
                <a:solidFill>
                  <a:schemeClr val="tx1"/>
                </a:solidFill>
                <a:latin typeface="Arial" panose="020B0604020202020204" pitchFamily="34" charset="0"/>
                <a:cs typeface="Arial" panose="020B0604020202020204" pitchFamily="34" charset="0"/>
              </a:rPr>
              <a:t>convergence: </a:t>
            </a:r>
            <a:r>
              <a:rPr lang="en-US" sz="1400" b="1" dirty="0">
                <a:solidFill>
                  <a:schemeClr val="tx1"/>
                </a:solidFill>
              </a:rPr>
              <a:t>setting it too low convergence is </a:t>
            </a:r>
            <a:r>
              <a:rPr lang="en-US" sz="1400" b="1" dirty="0" smtClean="0">
                <a:solidFill>
                  <a:schemeClr val="tx1"/>
                </a:solidFill>
              </a:rPr>
              <a:t>slow, </a:t>
            </a:r>
            <a:r>
              <a:rPr lang="it-IT" sz="1400" b="1" dirty="0" smtClean="0">
                <a:solidFill>
                  <a:schemeClr val="tx1"/>
                </a:solidFill>
                <a:latin typeface="Arial" panose="020B0604020202020204" pitchFamily="34" charset="0"/>
                <a:cs typeface="Arial" panose="020B0604020202020204" pitchFamily="34" charset="0"/>
              </a:rPr>
              <a:t>setting </a:t>
            </a:r>
            <a:r>
              <a:rPr lang="it-IT" sz="1400" b="1" dirty="0">
                <a:solidFill>
                  <a:schemeClr val="tx1"/>
                </a:solidFill>
                <a:latin typeface="Arial" panose="020B0604020202020204" pitchFamily="34" charset="0"/>
                <a:cs typeface="Arial" panose="020B0604020202020204" pitchFamily="34" charset="0"/>
              </a:rPr>
              <a:t>it too high can lead to instability. </a:t>
            </a:r>
            <a:endParaRPr lang="it-IT" sz="1400" b="1" dirty="0" smtClean="0">
              <a:solidFill>
                <a:schemeClr val="tx1"/>
              </a:solidFill>
              <a:latin typeface="Arial" panose="020B0604020202020204" pitchFamily="34" charset="0"/>
              <a:cs typeface="Arial" panose="020B0604020202020204" pitchFamily="34" charset="0"/>
            </a:endParaRPr>
          </a:p>
          <a:p>
            <a:pPr>
              <a:buFont typeface="Font di sistema regolare"/>
              <a:buChar char="-"/>
            </a:pPr>
            <a:r>
              <a:rPr lang="it-IT" sz="1400" dirty="0" smtClean="0">
                <a:solidFill>
                  <a:schemeClr val="tx1"/>
                </a:solidFill>
                <a:latin typeface="Arial" panose="020B0604020202020204" pitchFamily="34" charset="0"/>
                <a:cs typeface="Arial" panose="020B0604020202020204" pitchFamily="34" charset="0"/>
              </a:rPr>
              <a:t>In MLCup, </a:t>
            </a:r>
            <a:r>
              <a:rPr lang="it-IT" sz="1400" b="1" dirty="0" smtClean="0">
                <a:solidFill>
                  <a:schemeClr val="tx1"/>
                </a:solidFill>
                <a:latin typeface="Arial" panose="020B0604020202020204" pitchFamily="34" charset="0"/>
                <a:cs typeface="Arial" panose="020B0604020202020204" pitchFamily="34" charset="0"/>
              </a:rPr>
              <a:t>ELU </a:t>
            </a:r>
            <a:r>
              <a:rPr lang="it-IT" sz="1400" dirty="0" smtClean="0">
                <a:solidFill>
                  <a:schemeClr val="tx1"/>
                </a:solidFill>
                <a:latin typeface="Arial" panose="020B0604020202020204" pitchFamily="34" charset="0"/>
                <a:cs typeface="Arial" panose="020B0604020202020204" pitchFamily="34" charset="0"/>
              </a:rPr>
              <a:t>as activation in hidden layers, generally brings to better results </a:t>
            </a:r>
            <a:endParaRPr lang="it-IT" sz="1400" b="1" dirty="0">
              <a:solidFill>
                <a:schemeClr val="tx1"/>
              </a:solidFill>
              <a:latin typeface="Arial" panose="020B0604020202020204" pitchFamily="34" charset="0"/>
              <a:cs typeface="Arial" panose="020B0604020202020204" pitchFamily="34" charset="0"/>
            </a:endParaRPr>
          </a:p>
          <a:p>
            <a:pPr>
              <a:buFont typeface="Font di sistema regolare"/>
              <a:buChar char="-"/>
            </a:pPr>
            <a:r>
              <a:rPr lang="it-IT" sz="1400" dirty="0">
                <a:solidFill>
                  <a:schemeClr val="tx1"/>
                </a:solidFill>
                <a:latin typeface="Arial" panose="020B0604020202020204" pitchFamily="34" charset="0"/>
                <a:cs typeface="Arial" panose="020B0604020202020204" pitchFamily="34" charset="0"/>
              </a:rPr>
              <a:t>Additionally, conducting </a:t>
            </a:r>
            <a:r>
              <a:rPr lang="it-IT" sz="1400" b="1" dirty="0">
                <a:solidFill>
                  <a:schemeClr val="tx1"/>
                </a:solidFill>
                <a:latin typeface="Arial" panose="020B0604020202020204" pitchFamily="34" charset="0"/>
                <a:cs typeface="Arial" panose="020B0604020202020204" pitchFamily="34" charset="0"/>
              </a:rPr>
              <a:t>multiple grid searches with different levels of </a:t>
            </a:r>
            <a:r>
              <a:rPr lang="it-IT" sz="1400" b="1" dirty="0" smtClean="0">
                <a:solidFill>
                  <a:schemeClr val="tx1"/>
                </a:solidFill>
                <a:latin typeface="Arial" panose="020B0604020202020204" pitchFamily="34" charset="0"/>
                <a:cs typeface="Arial" panose="020B0604020202020204" pitchFamily="34" charset="0"/>
              </a:rPr>
              <a:t>granularity, </a:t>
            </a:r>
            <a:r>
              <a:rPr lang="it-IT" sz="1400" dirty="0" smtClean="0">
                <a:solidFill>
                  <a:schemeClr val="tx1"/>
                </a:solidFill>
                <a:latin typeface="Arial" panose="020B0604020202020204" pitchFamily="34" charset="0"/>
                <a:cs typeface="Arial" panose="020B0604020202020204" pitchFamily="34" charset="0"/>
              </a:rPr>
              <a:t>from</a:t>
            </a:r>
            <a:r>
              <a:rPr lang="it-IT" sz="1400" b="1" dirty="0" smtClean="0">
                <a:solidFill>
                  <a:schemeClr val="tx1"/>
                </a:solidFill>
                <a:latin typeface="Arial" panose="020B0604020202020204" pitchFamily="34" charset="0"/>
                <a:cs typeface="Arial" panose="020B0604020202020204" pitchFamily="34" charset="0"/>
              </a:rPr>
              <a:t> </a:t>
            </a:r>
            <a:r>
              <a:rPr lang="it-IT" sz="1400" b="1" dirty="0">
                <a:solidFill>
                  <a:schemeClr val="tx1"/>
                </a:solidFill>
                <a:latin typeface="Arial" panose="020B0604020202020204" pitchFamily="34" charset="0"/>
                <a:cs typeface="Arial" panose="020B0604020202020204" pitchFamily="34" charset="0"/>
              </a:rPr>
              <a:t>coarse</a:t>
            </a:r>
            <a:r>
              <a:rPr lang="it-IT" sz="1400" dirty="0">
                <a:solidFill>
                  <a:schemeClr val="tx1"/>
                </a:solidFill>
                <a:latin typeface="Arial" panose="020B0604020202020204" pitchFamily="34" charset="0"/>
                <a:cs typeface="Arial" panose="020B0604020202020204" pitchFamily="34" charset="0"/>
              </a:rPr>
              <a:t> to </a:t>
            </a:r>
            <a:r>
              <a:rPr lang="it-IT" sz="1400" b="1" dirty="0" smtClean="0">
                <a:solidFill>
                  <a:schemeClr val="tx1"/>
                </a:solidFill>
                <a:latin typeface="Arial" panose="020B0604020202020204" pitchFamily="34" charset="0"/>
                <a:cs typeface="Arial" panose="020B0604020202020204" pitchFamily="34" charset="0"/>
              </a:rPr>
              <a:t>fine</a:t>
            </a:r>
            <a:r>
              <a:rPr lang="it-IT" sz="1400" dirty="0" smtClean="0">
                <a:solidFill>
                  <a:schemeClr val="tx1"/>
                </a:solidFill>
                <a:latin typeface="Arial" panose="020B0604020202020204" pitchFamily="34" charset="0"/>
                <a:cs typeface="Arial" panose="020B0604020202020204" pitchFamily="34" charset="0"/>
              </a:rPr>
              <a:t>, can </a:t>
            </a:r>
            <a:r>
              <a:rPr lang="it-IT" sz="1400" dirty="0">
                <a:solidFill>
                  <a:schemeClr val="tx1"/>
                </a:solidFill>
                <a:latin typeface="Arial" panose="020B0604020202020204" pitchFamily="34" charset="0"/>
                <a:cs typeface="Arial" panose="020B0604020202020204" pitchFamily="34" charset="0"/>
              </a:rPr>
              <a:t>significantly expedite the search process while focusing on the optimal parameters</a:t>
            </a:r>
            <a:r>
              <a:rPr lang="it-IT" sz="1400" dirty="0" smtClean="0">
                <a:solidFill>
                  <a:schemeClr val="tx1"/>
                </a:solidFill>
                <a:latin typeface="Arial" panose="020B0604020202020204" pitchFamily="34" charset="0"/>
                <a:cs typeface="Arial" panose="020B0604020202020204" pitchFamily="34" charset="0"/>
              </a:rPr>
              <a:t>.</a:t>
            </a:r>
          </a:p>
          <a:p>
            <a:pPr marL="114300" lvl="0" indent="0">
              <a:buNone/>
            </a:pPr>
            <a:endParaRPr lang="it" sz="1400" dirty="0" smtClean="0">
              <a:solidFill>
                <a:schemeClr val="dk1"/>
              </a:solidFill>
            </a:endParaRPr>
          </a:p>
          <a:p>
            <a:pPr marL="114300" lvl="0" indent="0">
              <a:buNone/>
            </a:pPr>
            <a:r>
              <a:rPr lang="it" sz="1400" dirty="0" smtClean="0">
                <a:solidFill>
                  <a:schemeClr val="dk1"/>
                </a:solidFill>
              </a:rPr>
              <a:t>Blind </a:t>
            </a:r>
            <a:r>
              <a:rPr lang="it" sz="1400" dirty="0">
                <a:solidFill>
                  <a:schemeClr val="dk1"/>
                </a:solidFill>
              </a:rPr>
              <a:t>Test Results File: </a:t>
            </a:r>
            <a:r>
              <a:rPr lang="it" sz="1400" b="1" dirty="0">
                <a:solidFill>
                  <a:schemeClr val="dk1"/>
                </a:solidFill>
              </a:rPr>
              <a:t>LTR_team_ML-CUP24-TS.csv</a:t>
            </a:r>
            <a:r>
              <a:rPr lang="it" sz="1400" dirty="0">
                <a:solidFill>
                  <a:schemeClr val="dk1"/>
                </a:solidFill>
              </a:rPr>
              <a:t> </a:t>
            </a:r>
            <a:endParaRPr lang="it" sz="1400" dirty="0" smtClean="0">
              <a:solidFill>
                <a:schemeClr val="dk1"/>
              </a:solidFill>
            </a:endParaRPr>
          </a:p>
          <a:p>
            <a:pPr marL="114300" indent="0">
              <a:buNone/>
            </a:pPr>
            <a:r>
              <a:rPr lang="en-US" sz="1400" dirty="0" smtClean="0">
                <a:solidFill>
                  <a:schemeClr val="dk1"/>
                </a:solidFill>
              </a:rPr>
              <a:t>Team nickname</a:t>
            </a:r>
            <a:r>
              <a:rPr lang="en-US" sz="1400" dirty="0">
                <a:solidFill>
                  <a:schemeClr val="dk1"/>
                </a:solidFill>
              </a:rPr>
              <a:t>: </a:t>
            </a:r>
            <a:r>
              <a:rPr lang="en-US" sz="1400" b="1" dirty="0" smtClean="0">
                <a:solidFill>
                  <a:schemeClr val="dk1"/>
                </a:solidFill>
              </a:rPr>
              <a:t>LTR team</a:t>
            </a:r>
            <a:endParaRPr lang="en-US" sz="1400" b="1" dirty="0">
              <a:solidFill>
                <a:schemeClr val="dk1"/>
              </a:solidFill>
            </a:endParaRPr>
          </a:p>
          <a:p>
            <a:pPr marL="114300" lvl="0" indent="0">
              <a:buNone/>
            </a:pPr>
            <a:endParaRPr lang="it" sz="1400" dirty="0">
              <a:solidFill>
                <a:schemeClr val="dk1"/>
              </a:solidFill>
            </a:endParaRPr>
          </a:p>
          <a:p>
            <a:pPr marL="114300" indent="0">
              <a:buNone/>
            </a:pPr>
            <a:endParaRPr lang="it-IT" sz="1400" dirty="0" smtClean="0">
              <a:solidFill>
                <a:schemeClr val="tx1"/>
              </a:solidFill>
              <a:latin typeface="Arial" panose="020B0604020202020204" pitchFamily="34" charset="0"/>
              <a:cs typeface="Arial" panose="020B0604020202020204" pitchFamily="34" charset="0"/>
            </a:endParaRPr>
          </a:p>
          <a:p>
            <a:pPr>
              <a:buFont typeface="Font di sistema regolare"/>
              <a:buChar char="-"/>
            </a:pPr>
            <a:endParaRPr lang="it-IT" sz="1400" dirty="0" smtClean="0">
              <a:solidFill>
                <a:schemeClr val="tx1"/>
              </a:solidFill>
              <a:latin typeface="Arial" panose="020B0604020202020204" pitchFamily="34" charset="0"/>
              <a:cs typeface="Arial" panose="020B0604020202020204" pitchFamily="34" charset="0"/>
            </a:endParaRPr>
          </a:p>
          <a:p>
            <a:pPr marL="0" lvl="0" indent="0" algn="l" rtl="0">
              <a:spcBef>
                <a:spcPts val="0"/>
              </a:spcBef>
              <a:spcAft>
                <a:spcPts val="0"/>
              </a:spcAft>
              <a:buNone/>
            </a:pPr>
            <a:endParaRPr sz="1400" dirty="0">
              <a:solidFill>
                <a:schemeClr val="tx1"/>
              </a:solidFill>
              <a:latin typeface="Arial" panose="020B0604020202020204" pitchFamily="34" charset="0"/>
              <a:ea typeface="Calibri"/>
              <a:cs typeface="Arial" panose="020B0604020202020204" pitchFamily="34" charset="0"/>
              <a:sym typeface="Calibri"/>
            </a:endParaRPr>
          </a:p>
          <a:p>
            <a:pPr marL="0" lvl="0" indent="0" algn="l" rtl="0">
              <a:spcBef>
                <a:spcPts val="0"/>
              </a:spcBef>
              <a:spcAft>
                <a:spcPts val="1200"/>
              </a:spcAft>
              <a:buNone/>
            </a:pPr>
            <a:endParaRPr sz="1400" dirty="0">
              <a:solidFill>
                <a:schemeClr val="tx1"/>
              </a:solidFill>
              <a:latin typeface="Arial" panose="020B0604020202020204" pitchFamily="34" charset="0"/>
              <a:ea typeface="Calibri"/>
              <a:cs typeface="Arial" panose="020B0604020202020204" pitchFamily="34" charset="0"/>
              <a:sym typeface="Calibri"/>
            </a:endParaRPr>
          </a:p>
        </p:txBody>
      </p:sp>
      <p:sp>
        <p:nvSpPr>
          <p:cNvPr id="125" name="Google Shape;125;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22</a:t>
            </a:fld>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1459</TotalTime>
  <Words>2045</Words>
  <Application>Microsoft Office PowerPoint</Application>
  <PresentationFormat>On-screen Show (16:9)</PresentationFormat>
  <Paragraphs>450</Paragraphs>
  <Slides>22</Slides>
  <Notes>18</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Simple Light</vt:lpstr>
      <vt:lpstr>ML 2024 Project   </vt:lpstr>
      <vt:lpstr>Introduction and objectives</vt:lpstr>
      <vt:lpstr>Method</vt:lpstr>
      <vt:lpstr>Method</vt:lpstr>
      <vt:lpstr>Method</vt:lpstr>
      <vt:lpstr>Method</vt:lpstr>
      <vt:lpstr>Monk Results </vt:lpstr>
      <vt:lpstr>Monk Results – Monk1</vt:lpstr>
      <vt:lpstr>Monk Results – Monk2</vt:lpstr>
      <vt:lpstr>Monk Results – Monk3 no regularization</vt:lpstr>
      <vt:lpstr>Monk Results – Monk 3 with regularization </vt:lpstr>
      <vt:lpstr>CUP Validation schema: data splitting</vt:lpstr>
      <vt:lpstr>CUP Validation schema: model selection</vt:lpstr>
      <vt:lpstr>Architecture 1: [12,4,3] / [ELU,Linear] </vt:lpstr>
      <vt:lpstr>Architecture 2: [12,8,3] / [ELU,Linear]  </vt:lpstr>
      <vt:lpstr>Architecture 3: [12,24,3] / [ELU,Linear]  </vt:lpstr>
      <vt:lpstr>Architecture 4: [12,7,5,3] / [ELU,ELU,Linear] </vt:lpstr>
      <vt:lpstr>Architecture 5: [12,24,24,3] / [ELU,ELU,Linear]</vt:lpstr>
      <vt:lpstr>Architecture 6: [12,24,24,24,3] / [ELU,ELU,ELU,Linear] </vt:lpstr>
      <vt:lpstr>Final Model - [12,24,3] / [ELU,Linear] &amp; Cup Results  </vt:lpstr>
      <vt:lpstr>CUP Results</vt:lpstr>
      <vt:lpstr>Discussion &amp; Conclusions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 2023 Project  Slides demo (V0.1)</dc:title>
  <dc:creator>Massimiliano Lepori</dc:creator>
  <cp:lastModifiedBy>Massimiliano Lepori</cp:lastModifiedBy>
  <cp:revision>112</cp:revision>
  <dcterms:modified xsi:type="dcterms:W3CDTF">2025-01-20T13:13:18Z</dcterms:modified>
</cp:coreProperties>
</file>